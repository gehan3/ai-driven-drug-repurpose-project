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3" r:id="rId3"/>
    <p:sldId id="270" r:id="rId4"/>
    <p:sldId id="322" r:id="rId5"/>
    <p:sldId id="315" r:id="rId6"/>
    <p:sldId id="316" r:id="rId7"/>
    <p:sldId id="275" r:id="rId8"/>
    <p:sldId id="256" r:id="rId9"/>
    <p:sldId id="279" r:id="rId10"/>
    <p:sldId id="276" r:id="rId11"/>
    <p:sldId id="280" r:id="rId12"/>
    <p:sldId id="306" r:id="rId13"/>
    <p:sldId id="281" r:id="rId14"/>
    <p:sldId id="307" r:id="rId15"/>
    <p:sldId id="308" r:id="rId16"/>
    <p:sldId id="282" r:id="rId17"/>
    <p:sldId id="277" r:id="rId18"/>
    <p:sldId id="284" r:id="rId19"/>
    <p:sldId id="285" r:id="rId20"/>
    <p:sldId id="323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302" r:id="rId29"/>
    <p:sldId id="295" r:id="rId30"/>
    <p:sldId id="303" r:id="rId31"/>
    <p:sldId id="304" r:id="rId32"/>
    <p:sldId id="296" r:id="rId33"/>
    <p:sldId id="297" r:id="rId34"/>
    <p:sldId id="298" r:id="rId35"/>
    <p:sldId id="310" r:id="rId36"/>
    <p:sldId id="311" r:id="rId37"/>
    <p:sldId id="309" r:id="rId38"/>
    <p:sldId id="299" r:id="rId39"/>
    <p:sldId id="301" r:id="rId40"/>
    <p:sldId id="312" r:id="rId41"/>
    <p:sldId id="318" r:id="rId42"/>
    <p:sldId id="313" r:id="rId43"/>
    <p:sldId id="263" r:id="rId44"/>
    <p:sldId id="321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B3E1BE"/>
    <a:srgbClr val="00B89D"/>
    <a:srgbClr val="054B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08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Pairs</c:v>
                </c:pt>
              </c:strCache>
            </c:strRef>
          </c:tx>
          <c:dPt>
            <c:idx val="0"/>
            <c:bubble3D val="0"/>
            <c:spPr>
              <a:solidFill>
                <a:srgbClr val="0B7D7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F40-43D2-B0CE-72DF6DC16A0F}"/>
              </c:ext>
            </c:extLst>
          </c:dPt>
          <c:dPt>
            <c:idx val="1"/>
            <c:bubble3D val="0"/>
            <c:spPr>
              <a:solidFill>
                <a:srgbClr val="E0F7F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F40-43D2-B0CE-72DF6DC16A0F}"/>
              </c:ext>
            </c:extLst>
          </c:dPt>
          <c:cat>
            <c:strRef>
              <c:f>Sheet1!$A$2:$A$3</c:f>
              <c:strCache>
                <c:ptCount val="2"/>
                <c:pt idx="0">
                  <c:v>Known treatments</c:v>
                </c:pt>
                <c:pt idx="1">
                  <c:v>Unknown / unobserved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755</c:v>
                </c:pt>
                <c:pt idx="1">
                  <c:v>208413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F40-43D2-B0CE-72DF6DC16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Sources</c:v>
                </c:pt>
              </c:strCache>
            </c:strRef>
          </c:tx>
          <c:dPt>
            <c:idx val="0"/>
            <c:bubble3D val="0"/>
            <c:spPr>
              <a:solidFill>
                <a:srgbClr val="0B7D7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9E2-4C54-9F61-E7172FDE0747}"/>
              </c:ext>
            </c:extLst>
          </c:dPt>
          <c:dPt>
            <c:idx val="1"/>
            <c:bubble3D val="0"/>
            <c:spPr>
              <a:solidFill>
                <a:srgbClr val="BEEBE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9E2-4C54-9F61-E7172FDE0747}"/>
              </c:ext>
            </c:extLst>
          </c:dPt>
          <c:dPt>
            <c:idx val="2"/>
            <c:bubble3D val="0"/>
            <c:spPr>
              <a:solidFill>
                <a:srgbClr val="52CFB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9E2-4C54-9F61-E7172FDE0747}"/>
              </c:ext>
            </c:extLst>
          </c:dPt>
          <c:cat>
            <c:strRef>
              <c:f>Sheet1!$A$2:$A$4</c:f>
              <c:strCache>
                <c:ptCount val="3"/>
                <c:pt idx="0">
                  <c:v>US gov / open</c:v>
                </c:pt>
                <c:pt idx="1">
                  <c:v>Permissive license</c:v>
                </c:pt>
                <c:pt idx="2">
                  <c:v>No license / restricted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E2-4C54-9F61-E7172FDE07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Model AUROC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4B7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8EC-46AD-B6A7-7F02E011DFA7}"/>
              </c:ext>
            </c:extLst>
          </c:dPt>
          <c:dPt>
            <c:idx val="1"/>
            <c:invertIfNegative val="1"/>
            <c:bubble3D val="0"/>
            <c:spPr>
              <a:solidFill>
                <a:srgbClr val="14B7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8EC-46AD-B6A7-7F02E011DFA7}"/>
              </c:ext>
            </c:extLst>
          </c:dPt>
          <c:dPt>
            <c:idx val="2"/>
            <c:invertIfNegative val="1"/>
            <c:bubble3D val="0"/>
            <c:spPr>
              <a:solidFill>
                <a:srgbClr val="14B7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8EC-46AD-B6A7-7F02E011DFA7}"/>
              </c:ext>
            </c:extLst>
          </c:dPt>
          <c:dPt>
            <c:idx val="3"/>
            <c:invertIfNegative val="1"/>
            <c:bubble3D val="0"/>
            <c:spPr>
              <a:solidFill>
                <a:srgbClr val="14B7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8EC-46AD-B6A7-7F02E011DFA7}"/>
              </c:ext>
            </c:extLst>
          </c:dPt>
          <c:cat>
            <c:strRef>
              <c:f>Sheet1!$A$2:$A$5</c:f>
              <c:strCache>
                <c:ptCount val="4"/>
                <c:pt idx="0">
                  <c:v>Training
indications</c:v>
                </c:pt>
                <c:pt idx="1">
                  <c:v>Held-out
indications</c:v>
                </c:pt>
                <c:pt idx="2">
                  <c:v>Literature
validation</c:v>
                </c:pt>
                <c:pt idx="3">
                  <c:v>Clinical
trials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97.4</c:v>
                </c:pt>
                <c:pt idx="1">
                  <c:v>90.6</c:v>
                </c:pt>
                <c:pt idx="2">
                  <c:v>83.2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8EC-46AD-B6A7-7F02E011DF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6A4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78EC-46AD-B6A7-7F02E011DFA7}"/>
              </c:ext>
            </c:extLst>
          </c:dPt>
          <c:dPt>
            <c:idx val="1"/>
            <c:invertIfNegative val="1"/>
            <c:bubble3D val="0"/>
            <c:spPr>
              <a:solidFill>
                <a:srgbClr val="96A4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78EC-46AD-B6A7-7F02E011DFA7}"/>
              </c:ext>
            </c:extLst>
          </c:dPt>
          <c:dPt>
            <c:idx val="2"/>
            <c:invertIfNegative val="1"/>
            <c:bubble3D val="0"/>
            <c:spPr>
              <a:solidFill>
                <a:srgbClr val="96A4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78EC-46AD-B6A7-7F02E011DFA7}"/>
              </c:ext>
            </c:extLst>
          </c:dPt>
          <c:dPt>
            <c:idx val="3"/>
            <c:invertIfNegative val="1"/>
            <c:bubble3D val="0"/>
            <c:spPr>
              <a:solidFill>
                <a:srgbClr val="96A4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78EC-46AD-B6A7-7F02E011DFA7}"/>
              </c:ext>
            </c:extLst>
          </c:dPt>
          <c:cat>
            <c:strRef>
              <c:f>Sheet1!$A$2:$A$5</c:f>
              <c:strCache>
                <c:ptCount val="4"/>
                <c:pt idx="0">
                  <c:v>Training
indications</c:v>
                </c:pt>
                <c:pt idx="1">
                  <c:v>Held-out
indications</c:v>
                </c:pt>
                <c:pt idx="2">
                  <c:v>Literature
validation</c:v>
                </c:pt>
                <c:pt idx="3">
                  <c:v>Clinical
trials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68.599999999999994</c:v>
                </c:pt>
                <c:pt idx="1">
                  <c:v>66.7</c:v>
                </c:pt>
                <c:pt idx="2">
                  <c:v>62.1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78EC-46AD-B6A7-7F02E011DF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EE8E9"/>
            </a:solidFill>
          </a:ln>
        </c:spPr>
        <c:txPr>
          <a:bodyPr/>
          <a:lstStyle/>
          <a:p>
            <a:pPr>
              <a:defRPr sz="800">
                <a:solidFill>
                  <a:srgbClr val="5E7076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DEE8E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EE8E9"/>
            </a:solidFill>
          </a:ln>
        </c:spPr>
        <c:crossAx val="-2068027336"/>
        <c:crosses val="autoZero"/>
        <c:crossBetween val="between"/>
        <c:majorUnit val="20"/>
      </c:valAx>
    </c:plotArea>
    <c:legend>
      <c:legendPos val="t"/>
      <c:overlay val="1"/>
      <c:txPr>
        <a:bodyPr/>
        <a:lstStyle/>
        <a:p>
          <a:pPr>
            <a:defRPr sz="850">
              <a:solidFill>
                <a:srgbClr val="5E7076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Predictions</c:v>
                </c:pt>
              </c:strCache>
            </c:strRef>
          </c:tx>
          <c:dPt>
            <c:idx val="0"/>
            <c:bubble3D val="0"/>
            <c:spPr>
              <a:solidFill>
                <a:srgbClr val="0B7D7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B96-4FD3-9626-C7CA5C6C8AB9}"/>
              </c:ext>
            </c:extLst>
          </c:dPt>
          <c:dPt>
            <c:idx val="1"/>
            <c:bubble3D val="0"/>
            <c:spPr>
              <a:solidFill>
                <a:srgbClr val="CDD8D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B96-4FD3-9626-C7CA5C6C8AB9}"/>
              </c:ext>
            </c:extLst>
          </c:dPt>
          <c:cat>
            <c:strRef>
              <c:f>Sheet1!$A$2:$A$3</c:f>
              <c:strCache>
                <c:ptCount val="2"/>
                <c:pt idx="0">
                  <c:v>Ictogenic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</c:v>
                </c:pt>
                <c:pt idx="1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96-4FD3-9626-C7CA5C6C8A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17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28.3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29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29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33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24575,'0'5'0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33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24575,'0'5'0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34.2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24575,'0'5'0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34.6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24575,'0'5'0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35.2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24575,'0'5'0,"0"5"0,4 2 0,2-2-8191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2.3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3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24575,'0'5'0,"0"5"0,0 6 0,0 5 0,0 3 0,0 2 0,0 1 0,0 1 0,0 0 0,0-1 0,0-4-8191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49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24575,'1'16'0,"0"0"0,2 0 0,5 21 0,5 37 0,1 21 0,-9-66 0,-1 0 0,1 31 0,-6 19-1365,1-56-5461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20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23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23.5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23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24575,'0'5'0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0:57.2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5:51:09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24575,'0'5'0,"0"5"0,0 6 0,0 5 0,0 3 0,0 2 0,0 2 0,0-1 0,0 1 0,0-1 0,0-4-8191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9" Type="http://schemas.openxmlformats.org/officeDocument/2006/relationships/image" Target="../media/image54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42" Type="http://schemas.openxmlformats.org/officeDocument/2006/relationships/image" Target="../media/image57.png"/><Relationship Id="rId47" Type="http://schemas.openxmlformats.org/officeDocument/2006/relationships/image" Target="../media/image6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31.png"/><Relationship Id="rId29" Type="http://schemas.openxmlformats.org/officeDocument/2006/relationships/image" Target="../media/image44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40" Type="http://schemas.openxmlformats.org/officeDocument/2006/relationships/image" Target="../media/image55.png"/><Relationship Id="rId45" Type="http://schemas.openxmlformats.org/officeDocument/2006/relationships/image" Target="../media/image60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49" Type="http://schemas.openxmlformats.org/officeDocument/2006/relationships/image" Target="../media/image12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4" Type="http://schemas.openxmlformats.org/officeDocument/2006/relationships/image" Target="../media/image59.png"/><Relationship Id="rId4" Type="http://schemas.openxmlformats.org/officeDocument/2006/relationships/image" Target="../media/image6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43" Type="http://schemas.openxmlformats.org/officeDocument/2006/relationships/image" Target="../media/image58.png"/><Relationship Id="rId48" Type="http://schemas.openxmlformats.org/officeDocument/2006/relationships/image" Target="../media/image63.png"/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image" Target="../media/image53.png"/><Relationship Id="rId46" Type="http://schemas.openxmlformats.org/officeDocument/2006/relationships/image" Target="../media/image61.png"/><Relationship Id="rId20" Type="http://schemas.openxmlformats.org/officeDocument/2006/relationships/image" Target="../media/image35.png"/><Relationship Id="rId41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12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1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26" Type="http://schemas.openxmlformats.org/officeDocument/2006/relationships/image" Target="../media/image98.png"/><Relationship Id="rId3" Type="http://schemas.openxmlformats.org/officeDocument/2006/relationships/image" Target="../media/image2.png"/><Relationship Id="rId21" Type="http://schemas.openxmlformats.org/officeDocument/2006/relationships/image" Target="../media/image94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5" Type="http://schemas.openxmlformats.org/officeDocument/2006/relationships/image" Target="../media/image12.png"/><Relationship Id="rId2" Type="http://schemas.openxmlformats.org/officeDocument/2006/relationships/image" Target="../media/image1.png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24" Type="http://schemas.openxmlformats.org/officeDocument/2006/relationships/image" Target="../media/image97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23" Type="http://schemas.openxmlformats.org/officeDocument/2006/relationships/image" Target="../media/image96.png"/><Relationship Id="rId10" Type="http://schemas.openxmlformats.org/officeDocument/2006/relationships/image" Target="../media/image83.png"/><Relationship Id="rId19" Type="http://schemas.openxmlformats.org/officeDocument/2006/relationships/image" Target="../media/image92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Relationship Id="rId22" Type="http://schemas.openxmlformats.org/officeDocument/2006/relationships/image" Target="../media/image9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3" Type="http://schemas.openxmlformats.org/officeDocument/2006/relationships/image" Target="../media/image2.png"/><Relationship Id="rId21" Type="http://schemas.openxmlformats.org/officeDocument/2006/relationships/image" Target="../media/image114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2" Type="http://schemas.openxmlformats.org/officeDocument/2006/relationships/image" Target="../media/image1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29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24" Type="http://schemas.openxmlformats.org/officeDocument/2006/relationships/image" Target="../media/image117.png"/><Relationship Id="rId5" Type="http://schemas.openxmlformats.org/officeDocument/2006/relationships/image" Target="../media/image12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31" Type="http://schemas.openxmlformats.org/officeDocument/2006/relationships/image" Target="../media/image124.png"/><Relationship Id="rId4" Type="http://schemas.openxmlformats.org/officeDocument/2006/relationships/image" Target="../media/image7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Relationship Id="rId30" Type="http://schemas.openxmlformats.org/officeDocument/2006/relationships/image" Target="../media/image1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3" Type="http://schemas.openxmlformats.org/officeDocument/2006/relationships/image" Target="../media/image2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" Type="http://schemas.openxmlformats.org/officeDocument/2006/relationships/image" Target="../media/image1.png"/><Relationship Id="rId16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10" Type="http://schemas.openxmlformats.org/officeDocument/2006/relationships/image" Target="../media/image130.png"/><Relationship Id="rId19" Type="http://schemas.openxmlformats.org/officeDocument/2006/relationships/image" Target="../media/image139.png"/><Relationship Id="rId4" Type="http://schemas.openxmlformats.org/officeDocument/2006/relationships/image" Target="../media/image12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144.png"/><Relationship Id="rId18" Type="http://schemas.openxmlformats.org/officeDocument/2006/relationships/image" Target="../media/image88.png"/><Relationship Id="rId26" Type="http://schemas.openxmlformats.org/officeDocument/2006/relationships/image" Target="../media/image154.png"/><Relationship Id="rId3" Type="http://schemas.openxmlformats.org/officeDocument/2006/relationships/image" Target="../media/image77.png"/><Relationship Id="rId21" Type="http://schemas.openxmlformats.org/officeDocument/2006/relationships/image" Target="../media/image149.png"/><Relationship Id="rId7" Type="http://schemas.openxmlformats.org/officeDocument/2006/relationships/image" Target="../media/image140.png"/><Relationship Id="rId12" Type="http://schemas.openxmlformats.org/officeDocument/2006/relationships/image" Target="../media/image143.png"/><Relationship Id="rId17" Type="http://schemas.openxmlformats.org/officeDocument/2006/relationships/image" Target="../media/image87.png"/><Relationship Id="rId25" Type="http://schemas.openxmlformats.org/officeDocument/2006/relationships/image" Target="../media/image153.png"/><Relationship Id="rId2" Type="http://schemas.openxmlformats.org/officeDocument/2006/relationships/image" Target="../media/image1.png"/><Relationship Id="rId16" Type="http://schemas.openxmlformats.org/officeDocument/2006/relationships/image" Target="../media/image86.png"/><Relationship Id="rId20" Type="http://schemas.openxmlformats.org/officeDocument/2006/relationships/image" Target="../media/image148.png"/><Relationship Id="rId29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1.png"/><Relationship Id="rId24" Type="http://schemas.openxmlformats.org/officeDocument/2006/relationships/image" Target="../media/image152.png"/><Relationship Id="rId5" Type="http://schemas.openxmlformats.org/officeDocument/2006/relationships/image" Target="../media/image79.png"/><Relationship Id="rId15" Type="http://schemas.openxmlformats.org/officeDocument/2006/relationships/image" Target="../media/image146.png"/><Relationship Id="rId23" Type="http://schemas.openxmlformats.org/officeDocument/2006/relationships/image" Target="../media/image151.png"/><Relationship Id="rId28" Type="http://schemas.openxmlformats.org/officeDocument/2006/relationships/image" Target="../media/image156.png"/><Relationship Id="rId10" Type="http://schemas.openxmlformats.org/officeDocument/2006/relationships/image" Target="../media/image142.png"/><Relationship Id="rId19" Type="http://schemas.openxmlformats.org/officeDocument/2006/relationships/image" Target="../media/image147.png"/><Relationship Id="rId4" Type="http://schemas.openxmlformats.org/officeDocument/2006/relationships/image" Target="../media/image78.png"/><Relationship Id="rId9" Type="http://schemas.openxmlformats.org/officeDocument/2006/relationships/image" Target="../media/image141.png"/><Relationship Id="rId14" Type="http://schemas.openxmlformats.org/officeDocument/2006/relationships/image" Target="../media/image145.png"/><Relationship Id="rId22" Type="http://schemas.openxmlformats.org/officeDocument/2006/relationships/image" Target="../media/image150.png"/><Relationship Id="rId27" Type="http://schemas.openxmlformats.org/officeDocument/2006/relationships/image" Target="../media/image155.png"/><Relationship Id="rId30" Type="http://schemas.openxmlformats.org/officeDocument/2006/relationships/image" Target="../media/image1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0.png"/><Relationship Id="rId4" Type="http://schemas.openxmlformats.org/officeDocument/2006/relationships/image" Target="../media/image15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175.png"/><Relationship Id="rId26" Type="http://schemas.openxmlformats.org/officeDocument/2006/relationships/image" Target="../media/image183.png"/><Relationship Id="rId39" Type="http://schemas.openxmlformats.org/officeDocument/2006/relationships/image" Target="../media/image196.png"/><Relationship Id="rId21" Type="http://schemas.openxmlformats.org/officeDocument/2006/relationships/image" Target="../media/image178.png"/><Relationship Id="rId34" Type="http://schemas.openxmlformats.org/officeDocument/2006/relationships/image" Target="../media/image191.png"/><Relationship Id="rId42" Type="http://schemas.openxmlformats.org/officeDocument/2006/relationships/image" Target="../media/image199.png"/><Relationship Id="rId47" Type="http://schemas.openxmlformats.org/officeDocument/2006/relationships/image" Target="../media/image204.png"/><Relationship Id="rId50" Type="http://schemas.openxmlformats.org/officeDocument/2006/relationships/image" Target="../media/image207.png"/><Relationship Id="rId7" Type="http://schemas.openxmlformats.org/officeDocument/2006/relationships/image" Target="../media/image164.png"/><Relationship Id="rId2" Type="http://schemas.openxmlformats.org/officeDocument/2006/relationships/image" Target="../media/image1.png"/><Relationship Id="rId16" Type="http://schemas.openxmlformats.org/officeDocument/2006/relationships/image" Target="../media/image173.png"/><Relationship Id="rId29" Type="http://schemas.openxmlformats.org/officeDocument/2006/relationships/image" Target="../media/image186.png"/><Relationship Id="rId11" Type="http://schemas.openxmlformats.org/officeDocument/2006/relationships/image" Target="../media/image168.png"/><Relationship Id="rId24" Type="http://schemas.openxmlformats.org/officeDocument/2006/relationships/image" Target="../media/image181.png"/><Relationship Id="rId32" Type="http://schemas.openxmlformats.org/officeDocument/2006/relationships/image" Target="../media/image189.png"/><Relationship Id="rId37" Type="http://schemas.openxmlformats.org/officeDocument/2006/relationships/image" Target="../media/image194.png"/><Relationship Id="rId40" Type="http://schemas.openxmlformats.org/officeDocument/2006/relationships/image" Target="../media/image197.png"/><Relationship Id="rId45" Type="http://schemas.openxmlformats.org/officeDocument/2006/relationships/image" Target="../media/image202.png"/><Relationship Id="rId5" Type="http://schemas.openxmlformats.org/officeDocument/2006/relationships/image" Target="../media/image162.png"/><Relationship Id="rId15" Type="http://schemas.openxmlformats.org/officeDocument/2006/relationships/image" Target="../media/image172.png"/><Relationship Id="rId23" Type="http://schemas.openxmlformats.org/officeDocument/2006/relationships/image" Target="../media/image180.png"/><Relationship Id="rId28" Type="http://schemas.openxmlformats.org/officeDocument/2006/relationships/image" Target="../media/image185.png"/><Relationship Id="rId36" Type="http://schemas.openxmlformats.org/officeDocument/2006/relationships/image" Target="../media/image193.png"/><Relationship Id="rId49" Type="http://schemas.openxmlformats.org/officeDocument/2006/relationships/image" Target="../media/image206.png"/><Relationship Id="rId10" Type="http://schemas.openxmlformats.org/officeDocument/2006/relationships/image" Target="../media/image167.png"/><Relationship Id="rId19" Type="http://schemas.openxmlformats.org/officeDocument/2006/relationships/image" Target="../media/image176.png"/><Relationship Id="rId31" Type="http://schemas.openxmlformats.org/officeDocument/2006/relationships/image" Target="../media/image188.png"/><Relationship Id="rId44" Type="http://schemas.openxmlformats.org/officeDocument/2006/relationships/image" Target="../media/image201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Relationship Id="rId14" Type="http://schemas.openxmlformats.org/officeDocument/2006/relationships/image" Target="../media/image171.png"/><Relationship Id="rId22" Type="http://schemas.openxmlformats.org/officeDocument/2006/relationships/image" Target="../media/image179.png"/><Relationship Id="rId27" Type="http://schemas.openxmlformats.org/officeDocument/2006/relationships/image" Target="../media/image184.png"/><Relationship Id="rId30" Type="http://schemas.openxmlformats.org/officeDocument/2006/relationships/image" Target="../media/image187.png"/><Relationship Id="rId35" Type="http://schemas.openxmlformats.org/officeDocument/2006/relationships/image" Target="../media/image192.png"/><Relationship Id="rId43" Type="http://schemas.openxmlformats.org/officeDocument/2006/relationships/image" Target="../media/image200.png"/><Relationship Id="rId48" Type="http://schemas.openxmlformats.org/officeDocument/2006/relationships/image" Target="../media/image205.png"/><Relationship Id="rId8" Type="http://schemas.openxmlformats.org/officeDocument/2006/relationships/image" Target="../media/image165.png"/><Relationship Id="rId3" Type="http://schemas.openxmlformats.org/officeDocument/2006/relationships/image" Target="../media/image12.png"/><Relationship Id="rId12" Type="http://schemas.openxmlformats.org/officeDocument/2006/relationships/image" Target="../media/image169.png"/><Relationship Id="rId17" Type="http://schemas.openxmlformats.org/officeDocument/2006/relationships/image" Target="../media/image174.png"/><Relationship Id="rId25" Type="http://schemas.openxmlformats.org/officeDocument/2006/relationships/image" Target="../media/image182.png"/><Relationship Id="rId33" Type="http://schemas.openxmlformats.org/officeDocument/2006/relationships/image" Target="../media/image190.png"/><Relationship Id="rId38" Type="http://schemas.openxmlformats.org/officeDocument/2006/relationships/image" Target="../media/image195.png"/><Relationship Id="rId46" Type="http://schemas.openxmlformats.org/officeDocument/2006/relationships/image" Target="../media/image203.png"/><Relationship Id="rId20" Type="http://schemas.openxmlformats.org/officeDocument/2006/relationships/image" Target="../media/image177.png"/><Relationship Id="rId41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image" Target="../media/image12.png"/><Relationship Id="rId7" Type="http://schemas.openxmlformats.org/officeDocument/2006/relationships/image" Target="../media/image211.png"/><Relationship Id="rId12" Type="http://schemas.openxmlformats.org/officeDocument/2006/relationships/image" Target="../media/image2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5" Type="http://schemas.openxmlformats.org/officeDocument/2006/relationships/image" Target="../media/image209.png"/><Relationship Id="rId10" Type="http://schemas.openxmlformats.org/officeDocument/2006/relationships/image" Target="../media/image214.png"/><Relationship Id="rId4" Type="http://schemas.openxmlformats.org/officeDocument/2006/relationships/image" Target="../media/image208.png"/><Relationship Id="rId9" Type="http://schemas.openxmlformats.org/officeDocument/2006/relationships/image" Target="../media/image21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3" Type="http://schemas.openxmlformats.org/officeDocument/2006/relationships/image" Target="../media/image12.png"/><Relationship Id="rId7" Type="http://schemas.openxmlformats.org/officeDocument/2006/relationships/image" Target="../media/image2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3" Type="http://schemas.openxmlformats.org/officeDocument/2006/relationships/image" Target="../media/image12.png"/><Relationship Id="rId7" Type="http://schemas.openxmlformats.org/officeDocument/2006/relationships/image" Target="../media/image2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4.png"/><Relationship Id="rId5" Type="http://schemas.openxmlformats.org/officeDocument/2006/relationships/image" Target="../media/image223.png"/><Relationship Id="rId10" Type="http://schemas.openxmlformats.org/officeDocument/2006/relationships/image" Target="../media/image228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12.png"/><Relationship Id="rId7" Type="http://schemas.openxmlformats.org/officeDocument/2006/relationships/image" Target="../media/image2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9.png"/><Relationship Id="rId5" Type="http://schemas.openxmlformats.org/officeDocument/2006/relationships/image" Target="../media/image223.png"/><Relationship Id="rId10" Type="http://schemas.openxmlformats.org/officeDocument/2006/relationships/image" Target="../media/image233.png"/><Relationship Id="rId4" Type="http://schemas.openxmlformats.org/officeDocument/2006/relationships/image" Target="../media/image222.png"/><Relationship Id="rId9" Type="http://schemas.openxmlformats.org/officeDocument/2006/relationships/image" Target="../media/image23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image" Target="../media/image12.png"/><Relationship Id="rId7" Type="http://schemas.openxmlformats.org/officeDocument/2006/relationships/image" Target="../media/image237.png"/><Relationship Id="rId12" Type="http://schemas.openxmlformats.org/officeDocument/2006/relationships/image" Target="../media/image2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5" Type="http://schemas.openxmlformats.org/officeDocument/2006/relationships/image" Target="../media/image235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image" Target="../media/image12.png"/><Relationship Id="rId7" Type="http://schemas.openxmlformats.org/officeDocument/2006/relationships/image" Target="../media/image2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10" Type="http://schemas.openxmlformats.org/officeDocument/2006/relationships/image" Target="../media/image249.png"/><Relationship Id="rId4" Type="http://schemas.openxmlformats.org/officeDocument/2006/relationships/image" Target="../media/image243.png"/><Relationship Id="rId9" Type="http://schemas.openxmlformats.org/officeDocument/2006/relationships/image" Target="../media/image2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3" Type="http://schemas.openxmlformats.org/officeDocument/2006/relationships/image" Target="../media/image12.png"/><Relationship Id="rId7" Type="http://schemas.openxmlformats.org/officeDocument/2006/relationships/image" Target="../media/image253.png"/><Relationship Id="rId12" Type="http://schemas.openxmlformats.org/officeDocument/2006/relationships/image" Target="../media/image2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2.png"/><Relationship Id="rId11" Type="http://schemas.openxmlformats.org/officeDocument/2006/relationships/image" Target="../media/image257.png"/><Relationship Id="rId5" Type="http://schemas.openxmlformats.org/officeDocument/2006/relationships/image" Target="../media/image251.png"/><Relationship Id="rId10" Type="http://schemas.openxmlformats.org/officeDocument/2006/relationships/image" Target="../media/image256.png"/><Relationship Id="rId4" Type="http://schemas.openxmlformats.org/officeDocument/2006/relationships/image" Target="../media/image250.png"/><Relationship Id="rId9" Type="http://schemas.openxmlformats.org/officeDocument/2006/relationships/image" Target="../media/image25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13" Type="http://schemas.openxmlformats.org/officeDocument/2006/relationships/customXml" Target="../ink/ink4.xml"/><Relationship Id="rId18" Type="http://schemas.openxmlformats.org/officeDocument/2006/relationships/customXml" Target="../ink/ink9.xml"/><Relationship Id="rId26" Type="http://schemas.openxmlformats.org/officeDocument/2006/relationships/customXml" Target="../ink/ink14.xml"/><Relationship Id="rId3" Type="http://schemas.openxmlformats.org/officeDocument/2006/relationships/image" Target="../media/image12.png"/><Relationship Id="rId21" Type="http://schemas.openxmlformats.org/officeDocument/2006/relationships/customXml" Target="../ink/ink11.xml"/><Relationship Id="rId7" Type="http://schemas.openxmlformats.org/officeDocument/2006/relationships/image" Target="../media/image262.png"/><Relationship Id="rId12" Type="http://schemas.openxmlformats.org/officeDocument/2006/relationships/customXml" Target="../ink/ink3.xml"/><Relationship Id="rId17" Type="http://schemas.openxmlformats.org/officeDocument/2006/relationships/customXml" Target="../ink/ink8.xml"/><Relationship Id="rId25" Type="http://schemas.openxmlformats.org/officeDocument/2006/relationships/customXml" Target="../ink/ink13.xml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0" Type="http://schemas.openxmlformats.org/officeDocument/2006/relationships/customXml" Target="../ink/ink10.xml"/><Relationship Id="rId29" Type="http://schemas.openxmlformats.org/officeDocument/2006/relationships/customXml" Target="../ink/ink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1.png"/><Relationship Id="rId11" Type="http://schemas.openxmlformats.org/officeDocument/2006/relationships/customXml" Target="../ink/ink2.xml"/><Relationship Id="rId24" Type="http://schemas.openxmlformats.org/officeDocument/2006/relationships/image" Target="../media/image273.png"/><Relationship Id="rId5" Type="http://schemas.openxmlformats.org/officeDocument/2006/relationships/image" Target="../media/image260.png"/><Relationship Id="rId15" Type="http://schemas.openxmlformats.org/officeDocument/2006/relationships/customXml" Target="../ink/ink6.xml"/><Relationship Id="rId23" Type="http://schemas.openxmlformats.org/officeDocument/2006/relationships/customXml" Target="../ink/ink12.xml"/><Relationship Id="rId28" Type="http://schemas.openxmlformats.org/officeDocument/2006/relationships/customXml" Target="../ink/ink16.xml"/><Relationship Id="rId10" Type="http://schemas.openxmlformats.org/officeDocument/2006/relationships/image" Target="../media/image2700.png"/><Relationship Id="rId19" Type="http://schemas.openxmlformats.org/officeDocument/2006/relationships/image" Target="../media/image271.png"/><Relationship Id="rId4" Type="http://schemas.openxmlformats.org/officeDocument/2006/relationships/image" Target="../media/image259.png"/><Relationship Id="rId9" Type="http://schemas.openxmlformats.org/officeDocument/2006/relationships/customXml" Target="../ink/ink1.xml"/><Relationship Id="rId14" Type="http://schemas.openxmlformats.org/officeDocument/2006/relationships/customXml" Target="../ink/ink5.xml"/><Relationship Id="rId22" Type="http://schemas.openxmlformats.org/officeDocument/2006/relationships/image" Target="../media/image272.png"/><Relationship Id="rId27" Type="http://schemas.openxmlformats.org/officeDocument/2006/relationships/customXml" Target="../ink/ink15.xml"/><Relationship Id="rId30" Type="http://schemas.openxmlformats.org/officeDocument/2006/relationships/image" Target="../media/image26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3" Type="http://schemas.openxmlformats.org/officeDocument/2006/relationships/image" Target="../media/image12.png"/><Relationship Id="rId7" Type="http://schemas.openxmlformats.org/officeDocument/2006/relationships/image" Target="../media/image268.png"/><Relationship Id="rId12" Type="http://schemas.openxmlformats.org/officeDocument/2006/relationships/image" Target="../media/image27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7.png"/><Relationship Id="rId11" Type="http://schemas.openxmlformats.org/officeDocument/2006/relationships/image" Target="../media/image272.png"/><Relationship Id="rId5" Type="http://schemas.openxmlformats.org/officeDocument/2006/relationships/image" Target="../media/image266.png"/><Relationship Id="rId10" Type="http://schemas.openxmlformats.org/officeDocument/2006/relationships/customXml" Target="../ink/ink18.xml"/><Relationship Id="rId4" Type="http://schemas.openxmlformats.org/officeDocument/2006/relationships/image" Target="../media/image265.png"/><Relationship Id="rId9" Type="http://schemas.openxmlformats.org/officeDocument/2006/relationships/image" Target="../media/image27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3" Type="http://schemas.openxmlformats.org/officeDocument/2006/relationships/image" Target="../media/image12.png"/><Relationship Id="rId7" Type="http://schemas.openxmlformats.org/officeDocument/2006/relationships/image" Target="../media/image2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4.png"/><Relationship Id="rId5" Type="http://schemas.openxmlformats.org/officeDocument/2006/relationships/image" Target="../media/image244.png"/><Relationship Id="rId4" Type="http://schemas.openxmlformats.org/officeDocument/2006/relationships/image" Target="../media/image243.png"/><Relationship Id="rId9" Type="http://schemas.openxmlformats.org/officeDocument/2006/relationships/image" Target="../media/image27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3" Type="http://schemas.openxmlformats.org/officeDocument/2006/relationships/image" Target="../media/image12.png"/><Relationship Id="rId7" Type="http://schemas.openxmlformats.org/officeDocument/2006/relationships/image" Target="../media/image2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9.png"/><Relationship Id="rId5" Type="http://schemas.openxmlformats.org/officeDocument/2006/relationships/image" Target="../media/image278.png"/><Relationship Id="rId4" Type="http://schemas.openxmlformats.org/officeDocument/2006/relationships/image" Target="../media/image243.png"/><Relationship Id="rId9" Type="http://schemas.openxmlformats.org/officeDocument/2006/relationships/image" Target="../media/image28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3" Type="http://schemas.openxmlformats.org/officeDocument/2006/relationships/image" Target="../media/image12.png"/><Relationship Id="rId7" Type="http://schemas.openxmlformats.org/officeDocument/2006/relationships/image" Target="../media/image2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5.png"/><Relationship Id="rId5" Type="http://schemas.openxmlformats.org/officeDocument/2006/relationships/image" Target="../media/image284.png"/><Relationship Id="rId4" Type="http://schemas.openxmlformats.org/officeDocument/2006/relationships/image" Target="../media/image283.png"/><Relationship Id="rId9" Type="http://schemas.openxmlformats.org/officeDocument/2006/relationships/image" Target="../media/image28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0.png"/><Relationship Id="rId4" Type="http://schemas.openxmlformats.org/officeDocument/2006/relationships/image" Target="../media/image28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3.png"/><Relationship Id="rId4" Type="http://schemas.openxmlformats.org/officeDocument/2006/relationships/image" Target="../media/image29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png"/><Relationship Id="rId3" Type="http://schemas.openxmlformats.org/officeDocument/2006/relationships/image" Target="../media/image12.png"/><Relationship Id="rId7" Type="http://schemas.openxmlformats.org/officeDocument/2006/relationships/image" Target="../media/image2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6.png"/><Relationship Id="rId5" Type="http://schemas.openxmlformats.org/officeDocument/2006/relationships/image" Target="../media/image295.png"/><Relationship Id="rId4" Type="http://schemas.openxmlformats.org/officeDocument/2006/relationships/image" Target="../media/image294.png"/><Relationship Id="rId9" Type="http://schemas.openxmlformats.org/officeDocument/2006/relationships/image" Target="../media/image29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12.png"/><Relationship Id="rId7" Type="http://schemas.openxmlformats.org/officeDocument/2006/relationships/image" Target="../media/image303.png"/><Relationship Id="rId12" Type="http://schemas.openxmlformats.org/officeDocument/2006/relationships/image" Target="../media/image3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2.png"/><Relationship Id="rId11" Type="http://schemas.openxmlformats.org/officeDocument/2006/relationships/image" Target="../media/image306.png"/><Relationship Id="rId5" Type="http://schemas.openxmlformats.org/officeDocument/2006/relationships/image" Target="../media/image301.png"/><Relationship Id="rId10" Type="http://schemas.openxmlformats.org/officeDocument/2006/relationships/image" Target="../media/image305.png"/><Relationship Id="rId4" Type="http://schemas.openxmlformats.org/officeDocument/2006/relationships/image" Target="../media/image300.png"/><Relationship Id="rId9" Type="http://schemas.openxmlformats.org/officeDocument/2006/relationships/image" Target="../media/image30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12" Type="http://schemas.openxmlformats.org/officeDocument/2006/relationships/image" Target="../media/image30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4.png"/><Relationship Id="rId11" Type="http://schemas.openxmlformats.org/officeDocument/2006/relationships/image" Target="../media/image237.png"/><Relationship Id="rId5" Type="http://schemas.openxmlformats.org/officeDocument/2006/relationships/image" Target="../media/image211.png"/><Relationship Id="rId10" Type="http://schemas.openxmlformats.org/officeDocument/2006/relationships/image" Target="../media/image257.png"/><Relationship Id="rId4" Type="http://schemas.openxmlformats.org/officeDocument/2006/relationships/image" Target="../media/image300.png"/><Relationship Id="rId9" Type="http://schemas.openxmlformats.org/officeDocument/2006/relationships/image" Target="../media/image2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6.png"/><Relationship Id="rId18" Type="http://schemas.openxmlformats.org/officeDocument/2006/relationships/image" Target="../media/image321.png"/><Relationship Id="rId26" Type="http://schemas.openxmlformats.org/officeDocument/2006/relationships/image" Target="../media/image329.png"/><Relationship Id="rId3" Type="http://schemas.openxmlformats.org/officeDocument/2006/relationships/image" Target="../media/image2.png"/><Relationship Id="rId21" Type="http://schemas.openxmlformats.org/officeDocument/2006/relationships/image" Target="../media/image324.png"/><Relationship Id="rId34" Type="http://schemas.openxmlformats.org/officeDocument/2006/relationships/image" Target="../media/image337.png"/><Relationship Id="rId7" Type="http://schemas.openxmlformats.org/officeDocument/2006/relationships/image" Target="../media/image310.png"/><Relationship Id="rId12" Type="http://schemas.openxmlformats.org/officeDocument/2006/relationships/image" Target="../media/image315.png"/><Relationship Id="rId17" Type="http://schemas.openxmlformats.org/officeDocument/2006/relationships/image" Target="../media/image320.png"/><Relationship Id="rId25" Type="http://schemas.openxmlformats.org/officeDocument/2006/relationships/image" Target="../media/image328.png"/><Relationship Id="rId33" Type="http://schemas.openxmlformats.org/officeDocument/2006/relationships/image" Target="../media/image336.png"/><Relationship Id="rId2" Type="http://schemas.openxmlformats.org/officeDocument/2006/relationships/image" Target="../media/image1.png"/><Relationship Id="rId16" Type="http://schemas.openxmlformats.org/officeDocument/2006/relationships/image" Target="../media/image319.png"/><Relationship Id="rId20" Type="http://schemas.openxmlformats.org/officeDocument/2006/relationships/image" Target="../media/image323.png"/><Relationship Id="rId29" Type="http://schemas.openxmlformats.org/officeDocument/2006/relationships/image" Target="../media/image3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9.png"/><Relationship Id="rId11" Type="http://schemas.openxmlformats.org/officeDocument/2006/relationships/image" Target="../media/image314.png"/><Relationship Id="rId24" Type="http://schemas.openxmlformats.org/officeDocument/2006/relationships/image" Target="../media/image327.png"/><Relationship Id="rId32" Type="http://schemas.openxmlformats.org/officeDocument/2006/relationships/image" Target="../media/image335.png"/><Relationship Id="rId5" Type="http://schemas.openxmlformats.org/officeDocument/2006/relationships/image" Target="../media/image308.png"/><Relationship Id="rId15" Type="http://schemas.openxmlformats.org/officeDocument/2006/relationships/image" Target="../media/image318.png"/><Relationship Id="rId23" Type="http://schemas.openxmlformats.org/officeDocument/2006/relationships/image" Target="../media/image326.png"/><Relationship Id="rId28" Type="http://schemas.openxmlformats.org/officeDocument/2006/relationships/image" Target="../media/image331.png"/><Relationship Id="rId10" Type="http://schemas.openxmlformats.org/officeDocument/2006/relationships/image" Target="../media/image313.png"/><Relationship Id="rId19" Type="http://schemas.openxmlformats.org/officeDocument/2006/relationships/image" Target="../media/image322.png"/><Relationship Id="rId31" Type="http://schemas.openxmlformats.org/officeDocument/2006/relationships/image" Target="../media/image334.png"/><Relationship Id="rId4" Type="http://schemas.openxmlformats.org/officeDocument/2006/relationships/image" Target="../media/image12.png"/><Relationship Id="rId9" Type="http://schemas.openxmlformats.org/officeDocument/2006/relationships/image" Target="../media/image312.png"/><Relationship Id="rId14" Type="http://schemas.openxmlformats.org/officeDocument/2006/relationships/image" Target="../media/image317.png"/><Relationship Id="rId22" Type="http://schemas.openxmlformats.org/officeDocument/2006/relationships/image" Target="../media/image325.png"/><Relationship Id="rId27" Type="http://schemas.openxmlformats.org/officeDocument/2006/relationships/image" Target="../media/image330.png"/><Relationship Id="rId30" Type="http://schemas.openxmlformats.org/officeDocument/2006/relationships/image" Target="../media/image333.png"/><Relationship Id="rId8" Type="http://schemas.openxmlformats.org/officeDocument/2006/relationships/image" Target="../media/image3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D52D-980B-705B-D8B1-788B994D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517F23C-01C4-F628-E800-910B1328D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EE38F3B3-47B3-16B8-168B-0887F1EDA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C8F6456-8203-C1A9-9070-8A2D6CD0B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7" y="0"/>
            <a:ext cx="121354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2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AEE23-80EB-A436-EC27-93007190F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FCB66F84-13BA-A07F-57D3-0B8DCFBB1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A0022B9B-7C02-2A9C-ADA4-3D4B6C021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005" y="0"/>
            <a:ext cx="12298929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D9346C3-DD5F-0C6D-22C5-270101546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084"/>
            <a:ext cx="3530500" cy="48179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C6401D-4CA5-BC99-3292-72781A97CF0D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29373-7950-4612-53A6-8D3FC50927A1}"/>
              </a:ext>
            </a:extLst>
          </p:cNvPr>
          <p:cNvSpPr txBox="1"/>
          <p:nvPr/>
        </p:nvSpPr>
        <p:spPr>
          <a:xfrm>
            <a:off x="768558" y="2270815"/>
            <a:ext cx="3266766" cy="3388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"/>
              </a:rPr>
              <a:t>Introduction</a:t>
            </a: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Problem Definition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Motivation &amp; Objectives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Implementation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Architecture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Methodology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Results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Future Work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References</a:t>
            </a:r>
            <a:endParaRPr lang="en-US" sz="1650" b="1" dirty="0">
              <a:solidFill>
                <a:srgbClr val="0B3C37"/>
              </a:solidFill>
              <a:latin typeface="Plus Jakarta Sans"/>
              <a:sym typeface="Apto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8FD65-4A39-CDFE-6157-7EB69421231C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24DBCABD-264D-CE58-383B-FAC0AF7EA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74" y="3124316"/>
            <a:ext cx="2792981" cy="14097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AB0115C-6B77-6128-0434-2676C484BA69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7F9313-AEF3-7A51-7278-CD1005494B2F}"/>
              </a:ext>
            </a:extLst>
          </p:cNvPr>
          <p:cNvSpPr txBox="1"/>
          <p:nvPr/>
        </p:nvSpPr>
        <p:spPr>
          <a:xfrm>
            <a:off x="628650" y="390869"/>
            <a:ext cx="1543050" cy="1131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Plus Jakarta Sans"/>
                <a:sym typeface="Aptos Bold"/>
              </a:rPr>
              <a:t>Agenda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78F6B18-7934-0C4C-3711-22EC265E9886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5A4E67-C6E2-D2AA-744B-7DC9D2DEDE88}"/>
              </a:ext>
            </a:extLst>
          </p:cNvPr>
          <p:cNvSpPr txBox="1"/>
          <p:nvPr/>
        </p:nvSpPr>
        <p:spPr>
          <a:xfrm>
            <a:off x="4578414" y="3665922"/>
            <a:ext cx="194266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"/>
              </a:rPr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86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D8AA-75A4-51F2-EBAE-2870F737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CDB04FD-2B15-71DD-817A-89DA6AB27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6F35AC4-0F77-C9AC-98A7-038DF35E2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" y="-8335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F29EAA10-D271-BA4E-D955-8D9707DF5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84" y="1384101"/>
            <a:ext cx="3530500" cy="2731293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3B93F7D3-D537-9DEF-C281-48A57AAD3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153" y="1384101"/>
            <a:ext cx="3530649" cy="2731293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D3E8EBDC-1B3A-6784-146F-0BF3E36D2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157" y="1384100"/>
            <a:ext cx="3530500" cy="27312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36261B-FE09-23C6-2C60-E19CD3EB7034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D1832-BBD2-0F18-0896-C349095284EB}"/>
              </a:ext>
            </a:extLst>
          </p:cNvPr>
          <p:cNvSpPr txBox="1"/>
          <p:nvPr/>
        </p:nvSpPr>
        <p:spPr>
          <a:xfrm>
            <a:off x="782204" y="2145596"/>
            <a:ext cx="3046943" cy="286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2399"/>
              </a:lnSpc>
              <a:spcBef>
                <a:spcPct val="0"/>
              </a:spcBef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 Bold"/>
              </a:rPr>
              <a:t>Drug Repurposing Concept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086748-F9E5-16FA-2518-808421140D54}"/>
              </a:ext>
            </a:extLst>
          </p:cNvPr>
          <p:cNvSpPr txBox="1"/>
          <p:nvPr/>
        </p:nvSpPr>
        <p:spPr>
          <a:xfrm>
            <a:off x="738716" y="2556779"/>
            <a:ext cx="2901850" cy="1381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rtl="1">
              <a:spcBef>
                <a:spcPct val="0"/>
              </a:spcBef>
            </a:pPr>
            <a:r>
              <a:rPr lang="en-US" sz="1275" dirty="0">
                <a:solidFill>
                  <a:srgbClr val="334155"/>
                </a:solidFill>
                <a:latin typeface="Inter"/>
                <a:sym typeface="Aptos"/>
              </a:rPr>
              <a:t>Drug repurposing aims to discover new therapeutic uses for existing drugs while traditional drug development</a:t>
            </a:r>
          </a:p>
          <a:p>
            <a:pPr rtl="1">
              <a:spcBef>
                <a:spcPct val="0"/>
              </a:spcBef>
            </a:pPr>
            <a:r>
              <a:rPr lang="en-US" sz="1275" dirty="0">
                <a:solidFill>
                  <a:srgbClr val="334155"/>
                </a:solidFill>
                <a:latin typeface="Inter"/>
                <a:sym typeface="Aptos"/>
              </a:rPr>
              <a:t>reducing the cost, time, and risks of</a:t>
            </a:r>
          </a:p>
          <a:p>
            <a:pPr rtl="1">
              <a:lnSpc>
                <a:spcPct val="150000"/>
              </a:lnSpc>
              <a:spcBef>
                <a:spcPct val="0"/>
              </a:spcBef>
            </a:pPr>
            <a:endParaRPr lang="en-US" sz="1275" dirty="0">
              <a:solidFill>
                <a:srgbClr val="334155"/>
              </a:solidFill>
              <a:latin typeface="Inter"/>
              <a:sym typeface="Aptos"/>
            </a:endParaRPr>
          </a:p>
          <a:p>
            <a:pPr rtl="1">
              <a:lnSpc>
                <a:spcPts val="2659"/>
              </a:lnSpc>
              <a:spcBef>
                <a:spcPct val="0"/>
              </a:spcBef>
            </a:pPr>
            <a:endParaRPr lang="en-US" sz="1275" dirty="0">
              <a:solidFill>
                <a:srgbClr val="334155"/>
              </a:solidFill>
              <a:latin typeface="Inter"/>
              <a:sym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CCFAB-03F4-672D-AB3F-54C8888E1A53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9D623E1F-8675-9F7E-FF58-8E2DF00147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7275" y="1570543"/>
            <a:ext cx="495300" cy="4953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F77351-F8BC-6A67-12E9-39AD71AEA493}"/>
              </a:ext>
            </a:extLst>
          </p:cNvPr>
          <p:cNvSpPr txBox="1"/>
          <p:nvPr/>
        </p:nvSpPr>
        <p:spPr>
          <a:xfrm>
            <a:off x="4352680" y="2100371"/>
            <a:ext cx="3047099" cy="286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99"/>
              </a:lnSpc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 Bold"/>
              </a:rPr>
              <a:t>Role of Artificial Intelligence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38748-6948-7472-3F3B-9451448E64DB}"/>
              </a:ext>
            </a:extLst>
          </p:cNvPr>
          <p:cNvSpPr txBox="1"/>
          <p:nvPr/>
        </p:nvSpPr>
        <p:spPr>
          <a:xfrm>
            <a:off x="4340125" y="2495562"/>
            <a:ext cx="2901999" cy="804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rtl="1">
              <a:spcBef>
                <a:spcPct val="0"/>
              </a:spcBef>
            </a:pPr>
            <a:r>
              <a:rPr lang="en-US" sz="1275" dirty="0">
                <a:solidFill>
                  <a:srgbClr val="334155"/>
                </a:solidFill>
                <a:latin typeface="Inter"/>
                <a:sym typeface="Aptos"/>
              </a:rPr>
              <a:t>AI and deep learning techniques help</a:t>
            </a:r>
            <a:r>
              <a:rPr lang="ar-EG" sz="1275" dirty="0">
                <a:solidFill>
                  <a:srgbClr val="334155"/>
                </a:solidFill>
                <a:latin typeface="Inter"/>
                <a:sym typeface="Aptos"/>
              </a:rPr>
              <a:t> </a:t>
            </a:r>
          </a:p>
          <a:p>
            <a:pPr lvl="0" rtl="1">
              <a:spcBef>
                <a:spcPct val="0"/>
              </a:spcBef>
            </a:pPr>
            <a:r>
              <a:rPr lang="en-US" sz="1275" dirty="0">
                <a:solidFill>
                  <a:srgbClr val="334155"/>
                </a:solidFill>
                <a:latin typeface="Inter"/>
                <a:sym typeface="Aptos"/>
              </a:rPr>
              <a:t>analyze large-scale biomedical data</a:t>
            </a:r>
            <a:r>
              <a:rPr lang="ar-EG" sz="1275" dirty="0">
                <a:solidFill>
                  <a:srgbClr val="334155"/>
                </a:solidFill>
                <a:latin typeface="Inter"/>
                <a:sym typeface="Aptos"/>
              </a:rPr>
              <a:t> </a:t>
            </a:r>
          </a:p>
          <a:p>
            <a:pPr lvl="0" rtl="1">
              <a:spcBef>
                <a:spcPct val="0"/>
              </a:spcBef>
            </a:pPr>
            <a:r>
              <a:rPr lang="en-US" sz="1275" dirty="0">
                <a:solidFill>
                  <a:srgbClr val="334155"/>
                </a:solidFill>
                <a:latin typeface="Inter"/>
                <a:sym typeface="Aptos"/>
              </a:rPr>
              <a:t>and predict potential drug–disease</a:t>
            </a:r>
          </a:p>
          <a:p>
            <a:pPr lvl="0" rtl="1">
              <a:spcBef>
                <a:spcPct val="0"/>
              </a:spcBef>
            </a:pPr>
            <a:r>
              <a:rPr lang="ar-EG" sz="1275" dirty="0">
                <a:solidFill>
                  <a:srgbClr val="334155"/>
                </a:solidFill>
                <a:latin typeface="Inter"/>
                <a:sym typeface="Aptos"/>
              </a:rPr>
              <a:t> </a:t>
            </a:r>
            <a:r>
              <a:rPr lang="en-US" sz="1275" dirty="0">
                <a:solidFill>
                  <a:srgbClr val="334155"/>
                </a:solidFill>
                <a:latin typeface="Inter"/>
                <a:sym typeface="Aptos"/>
              </a:rPr>
              <a:t>relationships efficiently</a:t>
            </a:r>
            <a:r>
              <a:rPr lang="en-US" sz="1400" spc="-56" dirty="0">
                <a:solidFill>
                  <a:srgbClr val="1B1B1B"/>
                </a:solidFill>
                <a:latin typeface="Aptos"/>
                <a:sym typeface="Aptos"/>
                <a:rtl/>
              </a:rPr>
              <a:t>.</a:t>
            </a:r>
            <a:endParaRPr lang="ar-EG" sz="1400" spc="-56" dirty="0">
              <a:solidFill>
                <a:srgbClr val="1B1B1B"/>
              </a:solidFill>
              <a:latin typeface="Aptos"/>
              <a:ea typeface="Aptos"/>
              <a:cs typeface="Aptos"/>
              <a:sym typeface="Aptos"/>
              <a:rtl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8B8A03-1451-00BF-A7A1-894529838FEC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67436-8ED1-C48D-69A8-2AD08CB5866C}"/>
              </a:ext>
            </a:extLst>
          </p:cNvPr>
          <p:cNvSpPr txBox="1"/>
          <p:nvPr/>
        </p:nvSpPr>
        <p:spPr>
          <a:xfrm>
            <a:off x="8131847" y="2112241"/>
            <a:ext cx="3046943" cy="289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2399"/>
              </a:lnSpc>
              <a:spcBef>
                <a:spcPct val="0"/>
              </a:spcBef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 Bold"/>
              </a:rPr>
              <a:t>Using Knowledge Graphs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F32673-3D83-722E-1CF6-E7EE7B5AF3A0}"/>
              </a:ext>
            </a:extLst>
          </p:cNvPr>
          <p:cNvSpPr txBox="1"/>
          <p:nvPr/>
        </p:nvSpPr>
        <p:spPr>
          <a:xfrm>
            <a:off x="8163361" y="2516683"/>
            <a:ext cx="2901850" cy="804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rtl="1">
              <a:spcBef>
                <a:spcPct val="0"/>
              </a:spcBef>
            </a:pPr>
            <a:r>
              <a:rPr lang="en-US" sz="1275" dirty="0">
                <a:solidFill>
                  <a:srgbClr val="334155"/>
                </a:solidFill>
                <a:latin typeface="Inter"/>
                <a:sym typeface="Aptos"/>
              </a:rPr>
              <a:t>The project utilizes biomedical datasets</a:t>
            </a:r>
          </a:p>
          <a:p>
            <a:pPr rtl="1">
              <a:spcBef>
                <a:spcPct val="0"/>
              </a:spcBef>
            </a:pPr>
            <a:r>
              <a:rPr lang="ar-EG" sz="1275" dirty="0">
                <a:solidFill>
                  <a:srgbClr val="334155"/>
                </a:solidFill>
                <a:latin typeface="Inter"/>
                <a:sym typeface="Aptos"/>
              </a:rPr>
              <a:t> </a:t>
            </a:r>
            <a:r>
              <a:rPr lang="en-US" sz="1275" dirty="0">
                <a:solidFill>
                  <a:srgbClr val="334155"/>
                </a:solidFill>
                <a:latin typeface="Inter"/>
                <a:sym typeface="Aptos"/>
              </a:rPr>
              <a:t>as </a:t>
            </a:r>
            <a:r>
              <a:rPr lang="en-US" sz="1275" dirty="0" err="1">
                <a:solidFill>
                  <a:srgbClr val="334155"/>
                </a:solidFill>
                <a:latin typeface="Inter"/>
                <a:sym typeface="Aptos"/>
              </a:rPr>
              <a:t>Hetionet</a:t>
            </a:r>
            <a:r>
              <a:rPr lang="en-US" sz="1275" dirty="0">
                <a:solidFill>
                  <a:srgbClr val="334155"/>
                </a:solidFill>
                <a:latin typeface="Inter"/>
                <a:sym typeface="Aptos"/>
              </a:rPr>
              <a:t> Data to model complex biological relationships</a:t>
            </a:r>
          </a:p>
          <a:p>
            <a:pPr rtl="1">
              <a:spcBef>
                <a:spcPct val="0"/>
              </a:spcBef>
            </a:pPr>
            <a:endParaRPr lang="en-US" sz="1400" spc="-56" dirty="0">
              <a:solidFill>
                <a:srgbClr val="1B1B1B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F0C9AB18-A6EC-C139-A7D1-EE8895AD6E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6523" y="1703893"/>
            <a:ext cx="296430" cy="2286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6EF0446-099D-DCC4-7129-E270131B534D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26616BAD-5DF6-4C85-6B15-537485A7C2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6126" y="1582413"/>
            <a:ext cx="495300" cy="49530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824D5BA7-940B-E50A-BDEB-55D86C7712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1518" y="1703893"/>
            <a:ext cx="257175" cy="22860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98E2576E-521B-0B37-DA12-7FBD7DAAF2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63" y="1567196"/>
            <a:ext cx="495300" cy="49530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098785CF-592B-5E99-D6B4-8EC410FF71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500" y="1696553"/>
            <a:ext cx="200025" cy="228600"/>
          </a:xfrm>
          <a:prstGeom prst="rect">
            <a:avLst/>
          </a:prstGeom>
        </p:spPr>
      </p:pic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DBC9A6D4-B0A4-1DB1-8D24-1527AB0338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DA1BA85F-2407-7FF6-8918-CB3C9C8D453C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84DB3BC-35C4-3B94-D3B6-D51976DC98E2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5E055B2-4656-C253-BE2F-5920376369EC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85994BD-5E4E-EEA8-9DF1-DF78E3137E98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8A18E1B-570A-B091-9C6A-7134679C527C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F71A6F5-DA68-F57A-3A87-C40103A93E8E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BED1FAD-3354-80D7-0374-D09364EB6950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41C73FE-AAD5-918C-2608-378453472764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DF11020-46A7-08F6-F139-1EC11D976D63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7E70603A-DE26-EA33-CC26-E3EEE9FB9B1B}"/>
              </a:ext>
            </a:extLst>
          </p:cNvPr>
          <p:cNvSpPr/>
          <p:nvPr/>
        </p:nvSpPr>
        <p:spPr>
          <a:xfrm>
            <a:off x="687356" y="395031"/>
            <a:ext cx="91440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92E025F-4366-90B5-2902-BE44ED48A9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073" y="4359489"/>
            <a:ext cx="12052214" cy="22719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1864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A271-1F49-6BDE-21EC-D642911A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61E32071-20B9-CFAB-6F77-34DD50304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7935EA3B-53A3-AF59-846A-198223044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005" y="0"/>
            <a:ext cx="12298929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3AB5616-9185-3528-EF16-25EE40C7A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084"/>
            <a:ext cx="3530500" cy="48179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736BCB-4827-A6AF-49E6-B66F2BD69EC8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AC788-501E-6CCA-C4EC-4D8826297D7E}"/>
              </a:ext>
            </a:extLst>
          </p:cNvPr>
          <p:cNvSpPr txBox="1"/>
          <p:nvPr/>
        </p:nvSpPr>
        <p:spPr>
          <a:xfrm>
            <a:off x="768558" y="2270815"/>
            <a:ext cx="3266766" cy="3388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"/>
              </a:rPr>
              <a:t>Introduction</a:t>
            </a: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Problem Definition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Motivation &amp; Objectives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Implementation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Architecture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Methodology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Results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Future Work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References</a:t>
            </a:r>
            <a:endParaRPr lang="en-US" sz="1650" b="1" dirty="0">
              <a:solidFill>
                <a:srgbClr val="0B3C37"/>
              </a:solidFill>
              <a:latin typeface="Plus Jakarta Sans"/>
              <a:sym typeface="Apto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3D239-CF3B-D8BD-5617-DDDEFCA08159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37EB4431-5705-9914-4217-DEF0F522E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74" y="3124316"/>
            <a:ext cx="2792981" cy="14097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7FE63B7-2A6C-B711-0C07-CA0330605BA4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40DAA0-6CC5-9126-7222-62452C7E3217}"/>
              </a:ext>
            </a:extLst>
          </p:cNvPr>
          <p:cNvSpPr txBox="1"/>
          <p:nvPr/>
        </p:nvSpPr>
        <p:spPr>
          <a:xfrm>
            <a:off x="628650" y="390869"/>
            <a:ext cx="1543050" cy="1131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Plus Jakarta Sans"/>
                <a:sym typeface="Aptos Bold"/>
              </a:rPr>
              <a:t>Agenda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7356CF4-C592-E58D-22D5-DFED8D3BB14E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4CAEA-758B-45BA-DECD-87D34667720C}"/>
              </a:ext>
            </a:extLst>
          </p:cNvPr>
          <p:cNvSpPr txBox="1"/>
          <p:nvPr/>
        </p:nvSpPr>
        <p:spPr>
          <a:xfrm>
            <a:off x="4578414" y="3665922"/>
            <a:ext cx="194266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Problem Definition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56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0F03CBD7-7DB9-D79E-3E18-EC98EF1BB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1208" y="75438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353B"/>
                </a:solidFill>
                <a:latin typeface="Aptos Display"/>
              </a:defRPr>
            </a:pPr>
            <a:r>
              <a:rPr dirty="0"/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1239234"/>
            <a:ext cx="961948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E7076"/>
                </a:solidFill>
                <a:latin typeface="Aptos"/>
              </a:defRPr>
            </a:pPr>
            <a:r>
              <a:rPr dirty="0"/>
              <a:t>Why drug–disease prediction remains challenging in real-world biomedical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83272" y="1042638"/>
            <a:ext cx="1508760" cy="347472"/>
          </a:xfrm>
          <a:prstGeom prst="roundRect">
            <a:avLst/>
          </a:prstGeom>
          <a:solidFill>
            <a:srgbClr val="E0F7F4"/>
          </a:solidFill>
          <a:ln>
            <a:solidFill>
              <a:srgbClr val="14B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B7D76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8028" y="1869401"/>
            <a:ext cx="32552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1353B"/>
                </a:solidFill>
                <a:latin typeface="Aptos"/>
              </a:defRPr>
            </a:pPr>
            <a:r>
              <a:rPr dirty="0"/>
              <a:t>1  Data incompleteness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78308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4003" y="1814455"/>
            <a:ext cx="32552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1353B"/>
                </a:solidFill>
                <a:latin typeface="Aptos"/>
              </a:defRPr>
            </a:pPr>
            <a:r>
              <a:rPr dirty="0"/>
              <a:t>2  Data heterogeneity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0728" y="1788160"/>
            <a:ext cx="3657600" cy="4445755"/>
          </a:xfrm>
          <a:prstGeom prst="roundRect">
            <a:avLst/>
          </a:prstGeom>
          <a:solidFill>
            <a:srgbClr val="FFFFFF"/>
          </a:solidFill>
          <a:ln>
            <a:solidFill>
              <a:srgbClr val="DE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2187" y="1900696"/>
            <a:ext cx="32552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1353B"/>
                </a:solidFill>
                <a:latin typeface="Aptos"/>
              </a:defRPr>
            </a:pPr>
            <a:r>
              <a:rPr dirty="0"/>
              <a:t>3  Model interpretability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1078992" y="1965960"/>
          <a:ext cx="25146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60120" y="4663440"/>
            <a:ext cx="2743200" cy="658368"/>
          </a:xfrm>
          <a:prstGeom prst="roundRect">
            <a:avLst/>
          </a:prstGeom>
          <a:solidFill>
            <a:srgbClr val="EE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0B7D76"/>
                </a:solidFill>
                <a:latin typeface="Aptos Display"/>
              </a:rPr>
              <a:t>755</a:t>
            </a:r>
            <a:r>
              <a:rPr sz="850">
                <a:solidFill>
                  <a:srgbClr val="5E7076"/>
                </a:solidFill>
                <a:latin typeface="Aptos"/>
              </a:rPr>
              <a:t>
known treatments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4373D"/>
                </a:solidFill>
                <a:latin typeface="Aptos"/>
              </a:defRPr>
            </a:pPr>
            <a:r>
              <a:t>209,168 compound–disease pairs → &lt; 0.4% known treatments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773168" y="1965960"/>
          <a:ext cx="25146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Oval 18"/>
          <p:cNvSpPr/>
          <p:nvPr/>
        </p:nvSpPr>
        <p:spPr>
          <a:xfrm>
            <a:off x="4681728" y="4498848"/>
            <a:ext cx="109728" cy="109728"/>
          </a:xfrm>
          <a:prstGeom prst="ellipse">
            <a:avLst/>
          </a:prstGeom>
          <a:solidFill>
            <a:srgbClr val="0B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4471416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4373D"/>
                </a:solidFill>
                <a:latin typeface="Aptos"/>
              </a:defRPr>
            </a:pPr>
            <a:r>
              <a:t>5  US gov / open</a:t>
            </a:r>
          </a:p>
        </p:txBody>
      </p:sp>
      <p:sp>
        <p:nvSpPr>
          <p:cNvPr id="21" name="Oval 20"/>
          <p:cNvSpPr/>
          <p:nvPr/>
        </p:nvSpPr>
        <p:spPr>
          <a:xfrm>
            <a:off x="4681728" y="4846320"/>
            <a:ext cx="109728" cy="109728"/>
          </a:xfrm>
          <a:prstGeom prst="ellipse">
            <a:avLst/>
          </a:prstGeom>
          <a:solidFill>
            <a:srgbClr val="BE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4608" y="481888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4373D"/>
                </a:solidFill>
                <a:latin typeface="Aptos"/>
              </a:defRPr>
            </a:pPr>
            <a:r>
              <a:t>15  Permissive license</a:t>
            </a:r>
          </a:p>
        </p:txBody>
      </p:sp>
      <p:sp>
        <p:nvSpPr>
          <p:cNvPr id="23" name="Oval 22"/>
          <p:cNvSpPr/>
          <p:nvPr/>
        </p:nvSpPr>
        <p:spPr>
          <a:xfrm>
            <a:off x="4681728" y="5193792"/>
            <a:ext cx="109728" cy="109728"/>
          </a:xfrm>
          <a:prstGeom prst="ellipse">
            <a:avLst/>
          </a:prstGeom>
          <a:solidFill>
            <a:srgbClr val="52C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4608" y="5166359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4373D"/>
                </a:solidFill>
                <a:latin typeface="Aptos"/>
              </a:defRPr>
            </a:pPr>
            <a:r>
              <a:t>9  No license /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65099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4373D"/>
                </a:solidFill>
                <a:latin typeface="Aptos"/>
              </a:defRPr>
            </a:pPr>
            <a:r>
              <a:t>29 public resources with different licensing 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5" y="2417457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E7076"/>
                </a:solidFill>
                <a:latin typeface="Aptos"/>
              </a:defRPr>
            </a:pPr>
            <a:r>
              <a:t>Metapaths evaluated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94777" y="2685911"/>
            <a:ext cx="2852928" cy="438912"/>
          </a:xfrm>
          <a:prstGeom prst="roundRect">
            <a:avLst/>
          </a:prstGeom>
          <a:solidFill>
            <a:srgbClr val="EE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94777" y="2685911"/>
            <a:ext cx="2852928" cy="391552"/>
          </a:xfrm>
          <a:prstGeom prst="roundRect">
            <a:avLst/>
          </a:prstGeom>
          <a:solidFill>
            <a:srgbClr val="74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67929" y="274077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1,206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5" y="320548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E7076"/>
                </a:solidFill>
                <a:latin typeface="Aptos"/>
              </a:defRPr>
            </a:pPr>
            <a:r>
              <a:t>Significant but unused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85633" y="3479801"/>
            <a:ext cx="2852928" cy="391552"/>
          </a:xfrm>
          <a:prstGeom prst="roundRect">
            <a:avLst/>
          </a:prstGeom>
          <a:solidFill>
            <a:srgbClr val="EE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485633" y="3479801"/>
            <a:ext cx="1597639" cy="391552"/>
          </a:xfrm>
          <a:prstGeom prst="roundRect">
            <a:avLst/>
          </a:prstGeom>
          <a:solidFill>
            <a:srgbClr val="0B7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58785" y="353466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678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5" y="419303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5E7076"/>
                </a:solidFill>
                <a:latin typeface="Aptos"/>
              </a:defRPr>
            </a:pPr>
            <a:r>
              <a:t>Final model 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85633" y="4467353"/>
            <a:ext cx="2852928" cy="391552"/>
          </a:xfrm>
          <a:prstGeom prst="roundRect">
            <a:avLst/>
          </a:prstGeom>
          <a:solidFill>
            <a:srgbClr val="EE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485633" y="4467353"/>
            <a:ext cx="342351" cy="391552"/>
          </a:xfrm>
          <a:prstGeom prst="roundRect">
            <a:avLst/>
          </a:prstGeom>
          <a:solidFill>
            <a:srgbClr val="14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58785" y="452221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3029" y="5509260"/>
            <a:ext cx="3470822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4373D"/>
                </a:solidFill>
                <a:latin typeface="Aptos"/>
              </a:defRPr>
            </a:pPr>
            <a:r>
              <a:rPr b="1" dirty="0"/>
              <a:t>Only 31 features survived statistical selection —</a:t>
            </a:r>
            <a:br>
              <a:rPr lang="ar-EG" b="1" dirty="0"/>
            </a:br>
            <a:r>
              <a:rPr b="1" dirty="0"/>
              <a:t> limiting transparency into why a drug is predicted effective.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4848B"/>
                </a:solidFill>
                <a:latin typeface="Aptos"/>
              </a:defRPr>
            </a:pPr>
            <a:r>
              <a:t>Drug Repurposing using Biomedical Knowledge Graphs</a:t>
            </a:r>
          </a:p>
        </p:txBody>
      </p:sp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3E049B93-2B3A-C2B5-2451-98445F6D8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" y="5080"/>
            <a:ext cx="12192000" cy="6858000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706CE6DC-E3B6-3904-5C6B-F6E1E9DF3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673" y="198591"/>
            <a:ext cx="11001375" cy="4191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2985BE0-7E2C-C469-7ADB-B7BB65B13447}"/>
              </a:ext>
            </a:extLst>
          </p:cNvPr>
          <p:cNvSpPr txBox="1"/>
          <p:nvPr/>
        </p:nvSpPr>
        <p:spPr>
          <a:xfrm>
            <a:off x="810698" y="322416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93E9CE-9941-2CA8-6EBA-40A77195CFA9}"/>
              </a:ext>
            </a:extLst>
          </p:cNvPr>
          <p:cNvSpPr txBox="1"/>
          <p:nvPr/>
        </p:nvSpPr>
        <p:spPr>
          <a:xfrm>
            <a:off x="1925123" y="322416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4167DF-381E-E3C5-43DD-D26D22AE6B65}"/>
              </a:ext>
            </a:extLst>
          </p:cNvPr>
          <p:cNvSpPr txBox="1"/>
          <p:nvPr/>
        </p:nvSpPr>
        <p:spPr>
          <a:xfrm>
            <a:off x="3391973" y="322416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503DD4-7AB1-2BCE-5D3F-4683BAB503C4}"/>
              </a:ext>
            </a:extLst>
          </p:cNvPr>
          <p:cNvSpPr txBox="1"/>
          <p:nvPr/>
        </p:nvSpPr>
        <p:spPr>
          <a:xfrm>
            <a:off x="6497123" y="322416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487BA0-1FBD-7E17-EE75-4FFE9F34F0DB}"/>
              </a:ext>
            </a:extLst>
          </p:cNvPr>
          <p:cNvSpPr txBox="1"/>
          <p:nvPr/>
        </p:nvSpPr>
        <p:spPr>
          <a:xfrm>
            <a:off x="7621073" y="322416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1B7001-11B1-EECD-C5EF-874D85D74870}"/>
              </a:ext>
            </a:extLst>
          </p:cNvPr>
          <p:cNvSpPr txBox="1"/>
          <p:nvPr/>
        </p:nvSpPr>
        <p:spPr>
          <a:xfrm>
            <a:off x="8783123" y="322416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E6C2F2-42B7-56AB-BFC7-9EBFDDB363F1}"/>
              </a:ext>
            </a:extLst>
          </p:cNvPr>
          <p:cNvSpPr txBox="1"/>
          <p:nvPr/>
        </p:nvSpPr>
        <p:spPr>
          <a:xfrm>
            <a:off x="9592748" y="322416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CDBAC2-4C0A-63B9-C4CA-E176E730FCF3}"/>
              </a:ext>
            </a:extLst>
          </p:cNvPr>
          <p:cNvSpPr txBox="1"/>
          <p:nvPr/>
        </p:nvSpPr>
        <p:spPr>
          <a:xfrm>
            <a:off x="10688123" y="322416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662E1FF-793C-FFD4-356E-6D611439AE7E}"/>
              </a:ext>
            </a:extLst>
          </p:cNvPr>
          <p:cNvSpPr/>
          <p:nvPr/>
        </p:nvSpPr>
        <p:spPr>
          <a:xfrm>
            <a:off x="1724038" y="265999"/>
            <a:ext cx="1383245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127B6E-2855-42FB-5561-2E806E14813C}"/>
              </a:ext>
            </a:extLst>
          </p:cNvPr>
          <p:cNvSpPr txBox="1"/>
          <p:nvPr/>
        </p:nvSpPr>
        <p:spPr>
          <a:xfrm>
            <a:off x="5028023" y="267743"/>
            <a:ext cx="616541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2D75B0F5-E404-6612-90CD-E1BDAAD3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66294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353B"/>
                </a:solidFill>
                <a:latin typeface="Aptos Display"/>
              </a:defRPr>
            </a:pPr>
            <a:r>
              <a:t>Validation &amp; Clinical Risk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49808" y="1092708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7076"/>
                </a:solidFill>
                <a:latin typeface="Aptos"/>
              </a:defRPr>
            </a:pPr>
            <a:r>
              <a:rPr dirty="0"/>
              <a:t>Strong training performance does not guarantee safe generalization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69951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E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90472"/>
            <a:ext cx="65928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1353B"/>
                </a:solidFill>
                <a:latin typeface="Aptos"/>
              </a:defRPr>
            </a:pPr>
            <a:r>
              <a:t>Generalizability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47672"/>
            <a:ext cx="6592824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24373D"/>
                </a:solidFill>
                <a:latin typeface="Aptos"/>
              </a:defRPr>
            </a:pPr>
            <a:r>
              <a:t>AUROC falls as evaluation moves from training data to literature and clinical-trial evidence.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2194560"/>
          <a:ext cx="63550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914400" y="5669280"/>
            <a:ext cx="6217920" cy="457200"/>
          </a:xfrm>
          <a:prstGeom prst="roundRect">
            <a:avLst/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1353B"/>
                </a:solidFill>
                <a:latin typeface="Aptos"/>
              </a:defRPr>
            </a:pPr>
            <a:r>
              <a:t>97.4% → 70.0% AUROC  |  Clear generalization gap across validation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325880"/>
            <a:ext cx="38862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E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8" y="1490472"/>
            <a:ext cx="34838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1353B"/>
                </a:solidFill>
                <a:latin typeface="Aptos"/>
              </a:defRPr>
            </a:pPr>
            <a:r>
              <a:t>Clinical risk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1947672"/>
            <a:ext cx="3578224" cy="4060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24373D"/>
                </a:solidFill>
                <a:latin typeface="Aptos"/>
              </a:defRPr>
            </a:pPr>
            <a:r>
              <a:rPr dirty="0"/>
              <a:t>Among the top 100 epilepsy predictions, </a:t>
            </a:r>
            <a:br>
              <a:rPr lang="ar-EG" dirty="0"/>
            </a:br>
            <a:r>
              <a:rPr dirty="0"/>
              <a:t>77 were classified as </a:t>
            </a:r>
            <a:r>
              <a:rPr dirty="0" err="1"/>
              <a:t>ictogenic</a:t>
            </a:r>
            <a:r>
              <a:rPr dirty="0"/>
              <a:t> — a potential safety concern.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651008"/>
              </p:ext>
            </p:extLst>
          </p:nvPr>
        </p:nvGraphicFramePr>
        <p:xfrm>
          <a:off x="8320116" y="2697480"/>
          <a:ext cx="26060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914476" y="3767328"/>
            <a:ext cx="14173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1353B"/>
                </a:solidFill>
                <a:latin typeface="Aptos Display"/>
              </a:defRPr>
            </a:pPr>
            <a:r>
              <a:rPr dirty="0"/>
              <a:t>77%</a:t>
            </a:r>
          </a:p>
          <a:p>
            <a:pPr algn="ctr">
              <a:defRPr sz="850">
                <a:solidFill>
                  <a:srgbClr val="5E7076"/>
                </a:solidFill>
                <a:latin typeface="Aptos"/>
              </a:defRPr>
            </a:pPr>
            <a:r>
              <a:rPr dirty="0" err="1"/>
              <a:t>ictogenic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8183879" y="5074920"/>
            <a:ext cx="3063240" cy="868680"/>
          </a:xfrm>
          <a:prstGeom prst="roundRect">
            <a:avLst/>
          </a:prstGeom>
          <a:solidFill>
            <a:srgbClr val="FDF3F3"/>
          </a:solidFill>
          <a:ln>
            <a:solidFill>
              <a:srgbClr val="EC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C45050"/>
                </a:solidFill>
                <a:latin typeface="Aptos"/>
              </a:defRPr>
            </a:pPr>
            <a:r>
              <a:rPr dirty="0"/>
              <a:t>Key issue</a:t>
            </a:r>
          </a:p>
          <a:p>
            <a:pPr>
              <a:defRPr sz="850">
                <a:solidFill>
                  <a:srgbClr val="24373D"/>
                </a:solidFill>
                <a:latin typeface="Aptos"/>
              </a:defRPr>
            </a:pPr>
            <a:r>
              <a:rPr dirty="0"/>
              <a:t>The model may not reliably distinguish agonists from antagonists when the knowledge graph is incomplete.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4848B"/>
                </a:solidFill>
                <a:latin typeface="Aptos"/>
              </a:defRPr>
            </a:pPr>
            <a:r>
              <a:t>Drug Repurposing using Biomedical Knowledge Graphs</a:t>
            </a: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8DDB3012-DA4A-F037-3552-5CDF91CCE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3350"/>
            <a:ext cx="12192000" cy="6858000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9CDDEE78-7D2F-278C-795F-27CC2CA83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673" y="198591"/>
            <a:ext cx="11001375" cy="4191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F3364B-BD4E-E865-9865-3932F27049BD}"/>
              </a:ext>
            </a:extLst>
          </p:cNvPr>
          <p:cNvSpPr txBox="1"/>
          <p:nvPr/>
        </p:nvSpPr>
        <p:spPr>
          <a:xfrm>
            <a:off x="810698" y="322416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BAE8C7-9B81-A8C7-776D-CF1950FD1E0D}"/>
              </a:ext>
            </a:extLst>
          </p:cNvPr>
          <p:cNvSpPr txBox="1"/>
          <p:nvPr/>
        </p:nvSpPr>
        <p:spPr>
          <a:xfrm>
            <a:off x="1925123" y="322416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D5EF9C-73DD-00AA-0DF5-337F1F9E6B96}"/>
              </a:ext>
            </a:extLst>
          </p:cNvPr>
          <p:cNvSpPr txBox="1"/>
          <p:nvPr/>
        </p:nvSpPr>
        <p:spPr>
          <a:xfrm>
            <a:off x="3391973" y="322416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CD9177-FAC6-B02B-159E-295F97134F31}"/>
              </a:ext>
            </a:extLst>
          </p:cNvPr>
          <p:cNvSpPr txBox="1"/>
          <p:nvPr/>
        </p:nvSpPr>
        <p:spPr>
          <a:xfrm>
            <a:off x="6497123" y="322416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6EA89F-263F-2629-DFE1-B331EFB224D8}"/>
              </a:ext>
            </a:extLst>
          </p:cNvPr>
          <p:cNvSpPr txBox="1"/>
          <p:nvPr/>
        </p:nvSpPr>
        <p:spPr>
          <a:xfrm>
            <a:off x="7621073" y="322416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18A20A-1535-5254-ECCC-592A2097CD22}"/>
              </a:ext>
            </a:extLst>
          </p:cNvPr>
          <p:cNvSpPr txBox="1"/>
          <p:nvPr/>
        </p:nvSpPr>
        <p:spPr>
          <a:xfrm>
            <a:off x="8783123" y="322416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55A95D-B0C7-AB5F-821C-5857A95E27DD}"/>
              </a:ext>
            </a:extLst>
          </p:cNvPr>
          <p:cNvSpPr txBox="1"/>
          <p:nvPr/>
        </p:nvSpPr>
        <p:spPr>
          <a:xfrm>
            <a:off x="9592748" y="322416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F09449-FAE9-5DBA-C49A-3BBD9C11225C}"/>
              </a:ext>
            </a:extLst>
          </p:cNvPr>
          <p:cNvSpPr txBox="1"/>
          <p:nvPr/>
        </p:nvSpPr>
        <p:spPr>
          <a:xfrm>
            <a:off x="10688123" y="322416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DCE9DE0-86FC-84FB-E238-DE88134B684E}"/>
              </a:ext>
            </a:extLst>
          </p:cNvPr>
          <p:cNvSpPr/>
          <p:nvPr/>
        </p:nvSpPr>
        <p:spPr>
          <a:xfrm>
            <a:off x="1695771" y="255245"/>
            <a:ext cx="1383245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37CF2-8426-8776-ED4D-FAAA65419CA1}"/>
              </a:ext>
            </a:extLst>
          </p:cNvPr>
          <p:cNvSpPr txBox="1"/>
          <p:nvPr/>
        </p:nvSpPr>
        <p:spPr>
          <a:xfrm>
            <a:off x="4977367" y="286954"/>
            <a:ext cx="6106562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666F9-4D94-8CD4-5F57-C8A505AC7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4A3F373E-48B7-B22A-D03E-7D4961DD5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5A9C018-AAA4-99ED-C49F-FA5435C73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005" y="0"/>
            <a:ext cx="12298929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0C394FDC-7CB0-178C-18C1-C46689D8A5D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556084"/>
            <a:ext cx="3530500" cy="48179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B834F3-69DE-CD5A-7394-7C0FF9F4E4A8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F201C-EF9B-EC8D-7BD3-E02FE111B636}"/>
              </a:ext>
            </a:extLst>
          </p:cNvPr>
          <p:cNvSpPr txBox="1"/>
          <p:nvPr/>
        </p:nvSpPr>
        <p:spPr>
          <a:xfrm>
            <a:off x="768558" y="2270815"/>
            <a:ext cx="3266766" cy="3388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"/>
              </a:rPr>
              <a:t>Introduction</a:t>
            </a: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Problem Definition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Motivation &amp; Objectives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Implementation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Architecture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Methodology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Results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Future Work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References</a:t>
            </a:r>
            <a:endParaRPr lang="en-US" sz="1650" b="1" dirty="0">
              <a:solidFill>
                <a:srgbClr val="0B3C37"/>
              </a:solidFill>
              <a:latin typeface="Plus Jakarta Sans"/>
              <a:sym typeface="Apto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10F749-40AC-1BBB-8F7D-75271622E6D1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F0961F26-AF9B-8158-A0F5-BE7BA0A3D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74" y="3100386"/>
            <a:ext cx="2792981" cy="14097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B62ECE2-BA9C-7A22-4FE0-2AC8C977DC1A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EAD60F-A9B6-EBDA-DCB5-E655BD615E53}"/>
              </a:ext>
            </a:extLst>
          </p:cNvPr>
          <p:cNvSpPr txBox="1"/>
          <p:nvPr/>
        </p:nvSpPr>
        <p:spPr>
          <a:xfrm>
            <a:off x="628650" y="390869"/>
            <a:ext cx="1543050" cy="1131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Plus Jakarta Sans"/>
                <a:sym typeface="Aptos Bold"/>
              </a:rPr>
              <a:t>Agenda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5FFD3D9-696D-0B89-560B-C0500CED7426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88E491-9C98-A748-6971-B9BE7D1944EF}"/>
              </a:ext>
            </a:extLst>
          </p:cNvPr>
          <p:cNvSpPr txBox="1"/>
          <p:nvPr/>
        </p:nvSpPr>
        <p:spPr>
          <a:xfrm>
            <a:off x="3858342" y="3430134"/>
            <a:ext cx="3155886" cy="75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1462" lvl="1">
              <a:lnSpc>
                <a:spcPct val="150000"/>
              </a:lnSpc>
              <a:spcBef>
                <a:spcPct val="0"/>
              </a:spcBef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Motivation &amp; Objectives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485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418798F0-8EBC-2721-BE51-5784CF88C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8368"/>
            <a:ext cx="5029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85148"/>
                </a:solidFill>
                <a:latin typeface="Aptos"/>
              </a:rPr>
              <a:t>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88136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505F63"/>
                </a:solidFill>
                <a:latin typeface="Aptos"/>
              </a:rPr>
              <a:t>Why Drug Repurposing? Why Now?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481328"/>
            <a:ext cx="685800" cy="32004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5760" y="1664208"/>
            <a:ext cx="3703320" cy="18562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30352" y="1773936"/>
            <a:ext cx="384048" cy="384048"/>
          </a:xfrm>
          <a:prstGeom prst="ellipse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1764792"/>
            <a:ext cx="384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1746504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5148"/>
                </a:solidFill>
                <a:latin typeface="Aptos"/>
              </a:rPr>
              <a:t>Eroom’s 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103120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30" b="1">
                <a:solidFill>
                  <a:srgbClr val="505F63"/>
                </a:solidFill>
                <a:latin typeface="Aptos"/>
              </a:rPr>
              <a:t>R&amp;D COST TO DEVELOP A NEW DRUG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163824"/>
            <a:ext cx="1554480" cy="9144"/>
          </a:xfrm>
          <a:prstGeom prst="rect">
            <a:avLst/>
          </a:prstGeom>
          <a:solidFill>
            <a:srgbClr val="50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2377440"/>
            <a:ext cx="9144" cy="786384"/>
          </a:xfrm>
          <a:prstGeom prst="rect">
            <a:avLst/>
          </a:prstGeom>
          <a:solidFill>
            <a:srgbClr val="50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94944" y="3055112"/>
            <a:ext cx="128016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3033776"/>
            <a:ext cx="128016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50976" y="3012440"/>
            <a:ext cx="128015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78992" y="2991104"/>
            <a:ext cx="128016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07008" y="2966212"/>
            <a:ext cx="128015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335024" y="2937764"/>
            <a:ext cx="128016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463040" y="2898648"/>
            <a:ext cx="128016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591056" y="2848864"/>
            <a:ext cx="128015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719072" y="2784856"/>
            <a:ext cx="128015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847088" y="2706624"/>
            <a:ext cx="128016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75104" y="2585719"/>
            <a:ext cx="128015" cy="22860"/>
          </a:xfrm>
          <a:prstGeom prst="rect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" y="3218688"/>
            <a:ext cx="1554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20" b="0">
                <a:solidFill>
                  <a:srgbClr val="505F63"/>
                </a:solidFill>
                <a:latin typeface="Aptos"/>
              </a:rPr>
              <a:t>1970                                      2020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8" y="2139696"/>
            <a:ext cx="1426464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60" b="1">
                <a:solidFill>
                  <a:srgbClr val="085148"/>
                </a:solidFill>
                <a:latin typeface="Aptos"/>
              </a:rPr>
              <a:t>The Inverse of Moore’s Law:
Drug development costs
double every 9 years.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04288" y="2898648"/>
            <a:ext cx="1417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0" b="1">
                <a:solidFill>
                  <a:srgbClr val="505F63"/>
                </a:solidFill>
                <a:latin typeface="Aptos"/>
              </a:rPr>
              <a:t>Key Challenge:
R&amp;D cost is skyrocketing.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1664208"/>
            <a:ext cx="3429000" cy="18562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389120" y="1773936"/>
            <a:ext cx="384048" cy="384048"/>
          </a:xfrm>
          <a:prstGeom prst="ellipse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0" y="1764792"/>
            <a:ext cx="384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82896" y="1746504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5148"/>
                </a:solidFill>
                <a:latin typeface="Aptos"/>
              </a:rPr>
              <a:t>The Impossible Equation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00600" y="2331720"/>
            <a:ext cx="1600200" cy="32004"/>
          </a:xfrm>
          <a:prstGeom prst="rect">
            <a:avLst/>
          </a:prstGeom>
          <a:solidFill>
            <a:srgbClr val="085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86984" y="2103120"/>
            <a:ext cx="32004" cy="457200"/>
          </a:xfrm>
          <a:prstGeom prst="rect">
            <a:avLst/>
          </a:prstGeom>
          <a:solidFill>
            <a:srgbClr val="085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681728" y="1993392"/>
            <a:ext cx="347472" cy="347472"/>
          </a:xfrm>
          <a:prstGeom prst="ellipse">
            <a:avLst/>
          </a:prstGeom>
          <a:solidFill>
            <a:srgbClr val="DEF5F2"/>
          </a:solidFill>
          <a:ln>
            <a:solidFill>
              <a:srgbClr val="14A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17136" y="265176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1">
                <a:solidFill>
                  <a:srgbClr val="505F63"/>
                </a:solidFill>
                <a:latin typeface="Aptos"/>
              </a:rPr>
              <a:t>~15 YEARS</a:t>
            </a:r>
          </a:p>
        </p:txBody>
      </p:sp>
      <p:sp>
        <p:nvSpPr>
          <p:cNvPr id="44" name="Oval 43"/>
          <p:cNvSpPr/>
          <p:nvPr/>
        </p:nvSpPr>
        <p:spPr>
          <a:xfrm>
            <a:off x="6126480" y="1993392"/>
            <a:ext cx="347472" cy="347472"/>
          </a:xfrm>
          <a:prstGeom prst="ellipse">
            <a:avLst/>
          </a:prstGeom>
          <a:solidFill>
            <a:srgbClr val="DEF5F2"/>
          </a:solidFill>
          <a:ln>
            <a:solidFill>
              <a:srgbClr val="14A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61888" y="265176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1">
                <a:solidFill>
                  <a:srgbClr val="505F63"/>
                </a:solidFill>
                <a:latin typeface="Aptos"/>
              </a:rPr>
              <a:t>~$1.4B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9432" y="3017520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0">
                <a:solidFill>
                  <a:srgbClr val="505F63"/>
                </a:solidFill>
                <a:latin typeface="Aptos"/>
              </a:rPr>
              <a:t>High Cost &amp; Risk: long development time and high R&amp;D spend.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1664208"/>
            <a:ext cx="4023360" cy="18562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955279" y="1773936"/>
            <a:ext cx="384048" cy="384048"/>
          </a:xfrm>
          <a:prstGeom prst="ellipse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55279" y="1764792"/>
            <a:ext cx="384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1746504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5148"/>
                </a:solidFill>
                <a:latin typeface="Aptos"/>
              </a:rPr>
              <a:t>The Silent Tragedy</a:t>
            </a:r>
          </a:p>
        </p:txBody>
      </p:sp>
      <p:sp>
        <p:nvSpPr>
          <p:cNvPr id="51" name="Oval 50"/>
          <p:cNvSpPr/>
          <p:nvPr/>
        </p:nvSpPr>
        <p:spPr>
          <a:xfrm>
            <a:off x="8028431" y="2258568"/>
            <a:ext cx="658368" cy="658368"/>
          </a:xfrm>
          <a:prstGeom prst="ellipse">
            <a:avLst/>
          </a:prstGeom>
          <a:solidFill>
            <a:srgbClr val="DEF5F2"/>
          </a:solidFill>
          <a:ln>
            <a:solidFill>
              <a:srgbClr val="14A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23960" y="2240280"/>
            <a:ext cx="2514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05F63"/>
                </a:solidFill>
                <a:latin typeface="Aptos"/>
              </a:rPr>
              <a:t>7,000+ Rare Diseases
affect millions globally.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2788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80" b="1">
                <a:solidFill>
                  <a:srgbClr val="085148"/>
                </a:solidFill>
                <a:latin typeface="Aptos"/>
              </a:rPr>
              <a:t>95% have no FDA-approved treatment.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28431" y="3108960"/>
            <a:ext cx="3246120" cy="292608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83879" y="312724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>
                <a:solidFill>
                  <a:srgbClr val="085148"/>
                </a:solidFill>
                <a:latin typeface="Aptos"/>
              </a:rPr>
              <a:t>Solution: Drug repurposing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17320" y="3749039"/>
            <a:ext cx="3886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600200" y="3858768"/>
            <a:ext cx="384048" cy="384048"/>
          </a:xfrm>
          <a:prstGeom prst="ellipse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600200" y="3849624"/>
            <a:ext cx="384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03120" y="3822191"/>
            <a:ext cx="2834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85148"/>
                </a:solidFill>
                <a:latin typeface="Aptos"/>
              </a:rPr>
              <a:t>Serendipity vs. Methodology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00200" y="4222681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30" b="1" dirty="0">
                <a:solidFill>
                  <a:srgbClr val="085148"/>
                </a:solidFill>
                <a:latin typeface="Aptos"/>
              </a:rPr>
              <a:t>THE PAST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82327" y="4222681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30" b="1" dirty="0">
                <a:solidFill>
                  <a:srgbClr val="085148"/>
                </a:solidFill>
                <a:latin typeface="Aptos"/>
              </a:rPr>
              <a:t>THE PRESENT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0200" y="4406023"/>
            <a:ext cx="1355159" cy="51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 dirty="0">
                <a:solidFill>
                  <a:srgbClr val="505F63"/>
                </a:solidFill>
                <a:latin typeface="Aptos"/>
              </a:rPr>
              <a:t>Successes happened by accident.
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88436" y="4460330"/>
            <a:ext cx="1636776" cy="51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 dirty="0">
                <a:solidFill>
                  <a:srgbClr val="505F63"/>
                </a:solidFill>
                <a:latin typeface="Aptos"/>
              </a:rPr>
              <a:t>AI + Big Data enable systematic,
intentional drug discovery.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17520" y="4615873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dirty="0">
                <a:solidFill>
                  <a:srgbClr val="14A296"/>
                </a:solidFill>
                <a:latin typeface="Aptos"/>
              </a:rPr>
              <a:t>VS.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40680" y="3749039"/>
            <a:ext cx="6355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623560" y="3858768"/>
            <a:ext cx="384048" cy="384048"/>
          </a:xfrm>
          <a:prstGeom prst="ellipse">
            <a:avLst/>
          </a:prstGeom>
          <a:solidFill>
            <a:srgbClr val="14A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623560" y="3849624"/>
            <a:ext cx="38404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17336" y="3822191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85148"/>
                </a:solidFill>
                <a:latin typeface="Aptos"/>
              </a:rPr>
              <a:t>The Data Silo Dilemma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47297" y="4471415"/>
            <a:ext cx="49377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60" b="0" dirty="0">
                <a:solidFill>
                  <a:srgbClr val="505F63"/>
                </a:solidFill>
                <a:latin typeface="Aptos"/>
              </a:rPr>
              <a:t>90% of biomedical data is newly generated but isolated in silos.
Need: a unified framework to unlock medical breakthroughs and stop data waste.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14400" y="5715000"/>
            <a:ext cx="10378440" cy="50292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78992" y="576986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80" b="1">
                <a:solidFill>
                  <a:srgbClr val="085148"/>
                </a:solidFill>
                <a:latin typeface="Aptos"/>
              </a:rPr>
              <a:t>AI + Graph Networks + Unified Data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0520" y="5769864"/>
            <a:ext cx="6812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5F63"/>
                </a:solidFill>
                <a:latin typeface="Aptos"/>
              </a:rPr>
              <a:t>= A new paradigm for faster, smarter, and more equitable drug discovery.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889CB493-A62B-A4A3-6213-DE306AC07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2167128"/>
            <a:ext cx="1120520" cy="832104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D186215E-B06E-3D12-3EE6-2A5AA7347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59" y="4844194"/>
            <a:ext cx="1181100" cy="51668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7E41E100-51F3-7791-66CC-94FB3F5C9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4965862"/>
            <a:ext cx="1076325" cy="395013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4FD8762-B0B3-F452-78AA-73D734A193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871" y="3764739"/>
            <a:ext cx="1362075" cy="1600200"/>
          </a:xfrm>
          <a:prstGeom prst="rect">
            <a:avLst/>
          </a:prstGeom>
        </p:spPr>
      </p:pic>
      <p:pic>
        <p:nvPicPr>
          <p:cNvPr id="71" name="Picture 70" descr="image.png">
            <a:extLst>
              <a:ext uri="{FF2B5EF4-FFF2-40B4-BE49-F238E27FC236}">
                <a16:creationId xmlns:a16="http://schemas.microsoft.com/office/drawing/2014/main" id="{7C44A0B9-C7A9-F4AF-26E7-38D9857D32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" y="0"/>
            <a:ext cx="12192000" cy="6858000"/>
          </a:xfrm>
          <a:prstGeom prst="rect">
            <a:avLst/>
          </a:prstGeom>
        </p:spPr>
      </p:pic>
      <p:pic>
        <p:nvPicPr>
          <p:cNvPr id="80" name="Picture 79" descr="image.png">
            <a:extLst>
              <a:ext uri="{FF2B5EF4-FFF2-40B4-BE49-F238E27FC236}">
                <a16:creationId xmlns:a16="http://schemas.microsoft.com/office/drawing/2014/main" id="{4A5FE706-DD8B-302C-B46E-7D919D406E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673" y="198591"/>
            <a:ext cx="11001375" cy="41910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CEED2C83-75AE-6C9E-FA0A-00C36732D56E}"/>
              </a:ext>
            </a:extLst>
          </p:cNvPr>
          <p:cNvSpPr txBox="1"/>
          <p:nvPr/>
        </p:nvSpPr>
        <p:spPr>
          <a:xfrm>
            <a:off x="810698" y="322416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37A0A71-AA05-15ED-A928-EB2503D03316}"/>
              </a:ext>
            </a:extLst>
          </p:cNvPr>
          <p:cNvSpPr txBox="1"/>
          <p:nvPr/>
        </p:nvSpPr>
        <p:spPr>
          <a:xfrm>
            <a:off x="1925123" y="322416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4C91CA1-5859-E7E5-A6AD-F90A6A8F546B}"/>
              </a:ext>
            </a:extLst>
          </p:cNvPr>
          <p:cNvSpPr txBox="1"/>
          <p:nvPr/>
        </p:nvSpPr>
        <p:spPr>
          <a:xfrm>
            <a:off x="3391973" y="322416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48B35C0-8820-EA6C-1DFC-84B7D318B271}"/>
              </a:ext>
            </a:extLst>
          </p:cNvPr>
          <p:cNvSpPr txBox="1"/>
          <p:nvPr/>
        </p:nvSpPr>
        <p:spPr>
          <a:xfrm>
            <a:off x="6497123" y="322416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6EC6393-1920-5786-CDA3-4AB0D4388308}"/>
              </a:ext>
            </a:extLst>
          </p:cNvPr>
          <p:cNvSpPr txBox="1"/>
          <p:nvPr/>
        </p:nvSpPr>
        <p:spPr>
          <a:xfrm>
            <a:off x="7621073" y="322416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87786E6-7CE0-123E-A9F9-4D15BD45BDC7}"/>
              </a:ext>
            </a:extLst>
          </p:cNvPr>
          <p:cNvSpPr txBox="1"/>
          <p:nvPr/>
        </p:nvSpPr>
        <p:spPr>
          <a:xfrm>
            <a:off x="8783123" y="322416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8091F8C-BD99-A319-DB42-994CBA69AF46}"/>
              </a:ext>
            </a:extLst>
          </p:cNvPr>
          <p:cNvSpPr txBox="1"/>
          <p:nvPr/>
        </p:nvSpPr>
        <p:spPr>
          <a:xfrm>
            <a:off x="9592748" y="322416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7C41E54-A377-457F-4807-DECE11544D24}"/>
              </a:ext>
            </a:extLst>
          </p:cNvPr>
          <p:cNvSpPr txBox="1"/>
          <p:nvPr/>
        </p:nvSpPr>
        <p:spPr>
          <a:xfrm>
            <a:off x="10688123" y="322416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B811ECE-AC20-34EC-9D4A-DC54C48DCDCA}"/>
              </a:ext>
            </a:extLst>
          </p:cNvPr>
          <p:cNvSpPr txBox="1"/>
          <p:nvPr/>
        </p:nvSpPr>
        <p:spPr>
          <a:xfrm>
            <a:off x="5085083" y="258784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22FA7F3D-4C5A-6E7F-AF2E-5D5F138B188F}"/>
              </a:ext>
            </a:extLst>
          </p:cNvPr>
          <p:cNvSpPr/>
          <p:nvPr/>
        </p:nvSpPr>
        <p:spPr>
          <a:xfrm>
            <a:off x="3308890" y="255245"/>
            <a:ext cx="1383245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6E9E8-3D40-C572-C192-B5CFDD9D1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AEC2010C-AFA9-38B8-35CA-487A16EAE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2E2AEB2-E88C-CFE2-F7B8-E0840F1BC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B56BB8F-8239-06A9-D8B4-2BBA2603F6BC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image.png">
            <a:extLst>
              <a:ext uri="{FF2B5EF4-FFF2-40B4-BE49-F238E27FC236}">
                <a16:creationId xmlns:a16="http://schemas.microsoft.com/office/drawing/2014/main" id="{F8ADB5CE-2321-40BB-4124-DCCA7E105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929" y="-94799"/>
            <a:ext cx="12298929" cy="6858000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F8BFE6E3-7AC8-EA8C-3A1F-1ABAACA5C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11049000" cy="590550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CE9CC755-EFCE-BA94-B163-C68FEF9F4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09700"/>
            <a:ext cx="4381500" cy="121920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25463FCE-CE5B-8C54-B025-05DC58F26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19400"/>
            <a:ext cx="4381500" cy="1219200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605CB4D1-28B7-D84E-E7C4-90CFFF672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29100"/>
            <a:ext cx="4381500" cy="1219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3003C94-E94F-6740-5E38-B9FA39612777}"/>
              </a:ext>
            </a:extLst>
          </p:cNvPr>
          <p:cNvSpPr txBox="1"/>
          <p:nvPr/>
        </p:nvSpPr>
        <p:spPr>
          <a:xfrm>
            <a:off x="847725" y="1647825"/>
            <a:ext cx="402050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D5C50"/>
                </a:solidFill>
                <a:latin typeface="Outfit"/>
              </a:rPr>
              <a:t>Predict Missing Links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EE7B4C-1DF2-965D-B386-5FFC5F91CD9B}"/>
              </a:ext>
            </a:extLst>
          </p:cNvPr>
          <p:cNvSpPr txBox="1"/>
          <p:nvPr/>
        </p:nvSpPr>
        <p:spPr>
          <a:xfrm>
            <a:off x="847725" y="1962150"/>
            <a:ext cx="3829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06357"/>
                </a:solidFill>
                <a:latin typeface="Plus Jakarta Sans Medium"/>
              </a:rPr>
              <a:t>Identifying undocumented relationships between biological nodes.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648E48-44F2-DD76-FFC3-72BE5B2A3084}"/>
              </a:ext>
            </a:extLst>
          </p:cNvPr>
          <p:cNvSpPr txBox="1"/>
          <p:nvPr/>
        </p:nvSpPr>
        <p:spPr>
          <a:xfrm>
            <a:off x="847725" y="3057525"/>
            <a:ext cx="402050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D5C50"/>
                </a:solidFill>
                <a:latin typeface="Outfit"/>
              </a:rPr>
              <a:t>Predict Drug-Disease Pairs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A31374-6FA4-439F-A8F4-53098B4F831E}"/>
              </a:ext>
            </a:extLst>
          </p:cNvPr>
          <p:cNvSpPr txBox="1"/>
          <p:nvPr/>
        </p:nvSpPr>
        <p:spPr>
          <a:xfrm>
            <a:off x="847725" y="3371850"/>
            <a:ext cx="3829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06357"/>
                </a:solidFill>
                <a:latin typeface="Plus Jakarta Sans Medium"/>
              </a:rPr>
              <a:t>Discovering novel indications for existing pharmacological agents.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3E7B74-5EA6-DCC5-E08C-7CDD473B9701}"/>
              </a:ext>
            </a:extLst>
          </p:cNvPr>
          <p:cNvSpPr txBox="1"/>
          <p:nvPr/>
        </p:nvSpPr>
        <p:spPr>
          <a:xfrm>
            <a:off x="847725" y="4467225"/>
            <a:ext cx="402050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D5C50"/>
                </a:solidFill>
                <a:latin typeface="Outfit"/>
              </a:rPr>
              <a:t>Efficiency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B7C98A-E92D-84C1-6D5B-F859B6A9464D}"/>
              </a:ext>
            </a:extLst>
          </p:cNvPr>
          <p:cNvSpPr txBox="1"/>
          <p:nvPr/>
        </p:nvSpPr>
        <p:spPr>
          <a:xfrm>
            <a:off x="847725" y="4781550"/>
            <a:ext cx="3829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06357"/>
                </a:solidFill>
                <a:latin typeface="Plus Jakarta Sans Medium"/>
              </a:rPr>
              <a:t>Drastically reduce the time and cost associated with de novo drug development.</a:t>
            </a:r>
          </a:p>
        </p:txBody>
      </p:sp>
      <p:pic>
        <p:nvPicPr>
          <p:cNvPr id="81" name="Picture 80" descr="image.png">
            <a:extLst>
              <a:ext uri="{FF2B5EF4-FFF2-40B4-BE49-F238E27FC236}">
                <a16:creationId xmlns:a16="http://schemas.microsoft.com/office/drawing/2014/main" id="{4AABECF7-F188-27C3-7B5A-C21650BB9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AF26B86B-4F5E-A561-28EC-1B72B6D10CEE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51A035-F115-80EF-48EA-841DE28C7422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746B16A-564D-BEBB-7ADC-72701F03B696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EACDC23-C872-AC0A-BA05-8CFEF0DBB67A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1940C7E-6A37-8ADB-65BF-B6C78F859FF9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A9DA55D-3909-A047-FCE2-6C5EBFAD7084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51FC787-1C59-751A-CA92-E093B562FF74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DD4D5A6-51B8-C7D2-929C-89908AC68F2B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CF9ABAF-2A11-05E5-6C2A-229188228F22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0B2738FF-919B-8839-BF1D-C810C658BEE1}"/>
              </a:ext>
            </a:extLst>
          </p:cNvPr>
          <p:cNvSpPr/>
          <p:nvPr/>
        </p:nvSpPr>
        <p:spPr>
          <a:xfrm>
            <a:off x="3293529" y="390029"/>
            <a:ext cx="1383245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9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D238-BFF4-50C8-6530-26EFF8E7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4B158DA2-0674-7EE9-4B47-8438EAF5C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A613313-47D1-F7F0-247F-C58F68C3234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07005" y="0"/>
            <a:ext cx="12298929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B4C3A2EC-9ABA-A137-F4E9-A771BC791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084"/>
            <a:ext cx="3530500" cy="48179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CC5BF9-E993-A9BA-7229-CF5DF4579B1D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9B727C-DFCC-8E67-C9E2-A35B60E1B3D6}"/>
              </a:ext>
            </a:extLst>
          </p:cNvPr>
          <p:cNvSpPr txBox="1"/>
          <p:nvPr/>
        </p:nvSpPr>
        <p:spPr>
          <a:xfrm>
            <a:off x="768558" y="2270815"/>
            <a:ext cx="3266766" cy="3388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"/>
              </a:rPr>
              <a:t>Introduction</a:t>
            </a: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Problem Definition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Motivation &amp; Objectives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Implementation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Architecture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Methodology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Results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Future Work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References</a:t>
            </a:r>
            <a:endParaRPr lang="en-US" sz="1650" b="1" dirty="0">
              <a:solidFill>
                <a:srgbClr val="0B3C37"/>
              </a:solidFill>
              <a:latin typeface="Plus Jakarta Sans"/>
              <a:sym typeface="Apto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DCDD42-E742-B101-7246-07C3E41C0B18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280AD5C0-2056-C59D-C2B4-2F50C9320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74" y="3124316"/>
            <a:ext cx="2792981" cy="14097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3284B0D-B9EE-5317-C0C5-23B47A85D5B0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57B49-0ADB-54E6-8B3E-FE2F47C8BDF9}"/>
              </a:ext>
            </a:extLst>
          </p:cNvPr>
          <p:cNvSpPr txBox="1"/>
          <p:nvPr/>
        </p:nvSpPr>
        <p:spPr>
          <a:xfrm>
            <a:off x="628650" y="390869"/>
            <a:ext cx="1543050" cy="1131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Plus Jakarta Sans"/>
                <a:sym typeface="Aptos Bold"/>
              </a:rPr>
              <a:t>Agenda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C841A8A-2323-88D1-331A-648FCB9F6504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ED4CD-83A9-6C90-C920-F7BD9006816F}"/>
              </a:ext>
            </a:extLst>
          </p:cNvPr>
          <p:cNvSpPr txBox="1"/>
          <p:nvPr/>
        </p:nvSpPr>
        <p:spPr>
          <a:xfrm>
            <a:off x="4464516" y="3588318"/>
            <a:ext cx="3155886" cy="433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1462" lvl="1">
              <a:lnSpc>
                <a:spcPct val="150000"/>
              </a:lnSpc>
              <a:spcBef>
                <a:spcPct val="0"/>
              </a:spcBef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67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6AF1-4153-12DD-8927-0237ADBC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F40E7D17-D5EB-4926-8CA1-BFEC9645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C6526CEE-0E76-4838-E7BB-80C0E5E26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42" y="2068353"/>
            <a:ext cx="5197790" cy="1808941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7772D5D5-1D5F-5B2E-DBDA-00FCCEE4F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118" y="2068353"/>
            <a:ext cx="5671125" cy="17961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5C8146-A596-F096-2FC5-9C88D3EB5B09}"/>
              </a:ext>
            </a:extLst>
          </p:cNvPr>
          <p:cNvSpPr/>
          <p:nvPr/>
        </p:nvSpPr>
        <p:spPr>
          <a:xfrm>
            <a:off x="368430" y="4150050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432FF4-E450-AB7B-90F8-D18EE87162D1}"/>
              </a:ext>
            </a:extLst>
          </p:cNvPr>
          <p:cNvSpPr/>
          <p:nvPr/>
        </p:nvSpPr>
        <p:spPr>
          <a:xfrm>
            <a:off x="4127529" y="4150050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971B49-27A1-23C6-64FD-2E25DAEE4AE3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FFBA85D-0991-9340-CAA7-BD93A32D374C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9BC60A96-AACA-E604-DDE6-F3C553447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118" y="4460906"/>
            <a:ext cx="5671125" cy="1793082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1EEC37B4-757D-A9D7-1C7E-1BADF68C1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42" y="4518975"/>
            <a:ext cx="5197789" cy="1793082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98B2C61E-B664-A4E5-473B-27B4D6E4F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12" y="2186880"/>
            <a:ext cx="400050" cy="4000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72314BF-879C-D5B1-6356-2B04F4F93DE1}"/>
              </a:ext>
            </a:extLst>
          </p:cNvPr>
          <p:cNvSpPr txBox="1"/>
          <p:nvPr/>
        </p:nvSpPr>
        <p:spPr>
          <a:xfrm>
            <a:off x="999012" y="2263080"/>
            <a:ext cx="253031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Space Grotesk"/>
              </a:rPr>
              <a:t>Language &amp; Core Libraries</a:t>
            </a:r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ACEE5B27-6242-675B-5AF8-DE4F775DE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45" y="2816040"/>
            <a:ext cx="876300" cy="295275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CC4CDD2A-106C-ACF3-814A-5E3D8D36F7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3006" y="2825054"/>
            <a:ext cx="895350" cy="295275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F3C3938D-EFB8-66EB-3F54-06CB73A743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0156" y="2807167"/>
            <a:ext cx="904875" cy="295275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E4F35EC5-4D2F-5CD8-9719-83E2526F0F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5488" y="2795631"/>
            <a:ext cx="752475" cy="295275"/>
          </a:xfrm>
          <a:prstGeom prst="rect">
            <a:avLst/>
          </a:prstGeom>
        </p:spPr>
      </p:pic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4D6156E0-6610-A0B0-1341-FD6D665F7F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40417" y="2809417"/>
            <a:ext cx="933450" cy="295275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74021AFB-A829-EDA0-F67A-B0C7F65253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099" y="2301180"/>
            <a:ext cx="219075" cy="171450"/>
          </a:xfrm>
          <a:prstGeom prst="rect">
            <a:avLst/>
          </a:prstGeom>
        </p:spPr>
      </p:pic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F760DA18-10DE-5496-5608-F9EB4248C0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173" y="2908399"/>
            <a:ext cx="114300" cy="128587"/>
          </a:xfrm>
          <a:prstGeom prst="rect">
            <a:avLst/>
          </a:prstGeom>
        </p:spPr>
      </p:pic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959ABB08-0886-0AA1-8E24-C815E43FA0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6137" y="2915472"/>
            <a:ext cx="142875" cy="128587"/>
          </a:xfrm>
          <a:prstGeom prst="rect">
            <a:avLst/>
          </a:prstGeom>
        </p:spPr>
      </p:pic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E5B22186-1DAA-2A91-FF32-17866D904E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4349" y="2915472"/>
            <a:ext cx="133350" cy="128587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41A1A240-1861-5760-40E6-A34D8FED880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85920" y="2883514"/>
            <a:ext cx="95250" cy="128587"/>
          </a:xfrm>
          <a:prstGeom prst="rect">
            <a:avLst/>
          </a:prstGeom>
        </p:spPr>
      </p:pic>
      <p:pic>
        <p:nvPicPr>
          <p:cNvPr id="60" name="Picture 59" descr="image.png">
            <a:extLst>
              <a:ext uri="{FF2B5EF4-FFF2-40B4-BE49-F238E27FC236}">
                <a16:creationId xmlns:a16="http://schemas.microsoft.com/office/drawing/2014/main" id="{87E2707D-70A9-C3FE-AB31-222DE718F0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98449" y="2899602"/>
            <a:ext cx="133350" cy="128587"/>
          </a:xfrm>
          <a:prstGeom prst="rect">
            <a:avLst/>
          </a:prstGeom>
        </p:spPr>
      </p:pic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98C6C8BE-8815-81A1-704A-A6FD991510B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0793" y="2293187"/>
            <a:ext cx="190500" cy="171450"/>
          </a:xfrm>
          <a:prstGeom prst="rect">
            <a:avLst/>
          </a:prstGeom>
        </p:spPr>
      </p:pic>
      <p:pic>
        <p:nvPicPr>
          <p:cNvPr id="134" name="Picture 133" descr="image.png">
            <a:extLst>
              <a:ext uri="{FF2B5EF4-FFF2-40B4-BE49-F238E27FC236}">
                <a16:creationId xmlns:a16="http://schemas.microsoft.com/office/drawing/2014/main" id="{A609FA29-6601-9574-5558-1DFEEABAC8C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4628" y="4742239"/>
            <a:ext cx="400050" cy="400050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8C73C5B1-1D55-E46B-293C-0EBCDD56EB4A}"/>
              </a:ext>
            </a:extLst>
          </p:cNvPr>
          <p:cNvSpPr txBox="1"/>
          <p:nvPr/>
        </p:nvSpPr>
        <p:spPr>
          <a:xfrm>
            <a:off x="1048028" y="4818439"/>
            <a:ext cx="314039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Space Grotesk"/>
              </a:rPr>
              <a:t>Machine Learning &amp; Embeddings</a:t>
            </a:r>
          </a:p>
        </p:txBody>
      </p:sp>
      <p:pic>
        <p:nvPicPr>
          <p:cNvPr id="138" name="Picture 137" descr="image.png">
            <a:extLst>
              <a:ext uri="{FF2B5EF4-FFF2-40B4-BE49-F238E27FC236}">
                <a16:creationId xmlns:a16="http://schemas.microsoft.com/office/drawing/2014/main" id="{99EDF622-E031-F11B-87EA-FF885355AB1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0828" y="5380414"/>
            <a:ext cx="1200150" cy="295275"/>
          </a:xfrm>
          <a:prstGeom prst="rect">
            <a:avLst/>
          </a:prstGeom>
        </p:spPr>
      </p:pic>
      <p:pic>
        <p:nvPicPr>
          <p:cNvPr id="140" name="Picture 139" descr="image.png">
            <a:extLst>
              <a:ext uri="{FF2B5EF4-FFF2-40B4-BE49-F238E27FC236}">
                <a16:creationId xmlns:a16="http://schemas.microsoft.com/office/drawing/2014/main" id="{C9FAE04C-130C-5D07-5F79-8DCD8A01F5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57419" y="5380414"/>
            <a:ext cx="1009650" cy="295275"/>
          </a:xfrm>
          <a:prstGeom prst="rect">
            <a:avLst/>
          </a:prstGeom>
        </p:spPr>
      </p:pic>
      <p:pic>
        <p:nvPicPr>
          <p:cNvPr id="142" name="Picture 141" descr="image.png">
            <a:extLst>
              <a:ext uri="{FF2B5EF4-FFF2-40B4-BE49-F238E27FC236}">
                <a16:creationId xmlns:a16="http://schemas.microsoft.com/office/drawing/2014/main" id="{42A7628F-88F6-7B2F-4018-DE3E97618ED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26883" y="5380414"/>
            <a:ext cx="1590675" cy="295275"/>
          </a:xfrm>
          <a:prstGeom prst="rect">
            <a:avLst/>
          </a:prstGeom>
        </p:spPr>
      </p:pic>
      <p:pic>
        <p:nvPicPr>
          <p:cNvPr id="144" name="Picture 143" descr="image.png">
            <a:extLst>
              <a:ext uri="{FF2B5EF4-FFF2-40B4-BE49-F238E27FC236}">
                <a16:creationId xmlns:a16="http://schemas.microsoft.com/office/drawing/2014/main" id="{54371EB3-5811-DA55-28F6-E19C37ABCDA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8928" y="4856539"/>
            <a:ext cx="171450" cy="171450"/>
          </a:xfrm>
          <a:prstGeom prst="rect">
            <a:avLst/>
          </a:prstGeom>
        </p:spPr>
      </p:pic>
      <p:pic>
        <p:nvPicPr>
          <p:cNvPr id="146" name="Picture 145" descr="image.png">
            <a:extLst>
              <a:ext uri="{FF2B5EF4-FFF2-40B4-BE49-F238E27FC236}">
                <a16:creationId xmlns:a16="http://schemas.microsoft.com/office/drawing/2014/main" id="{37C78197-8A5B-642D-AF46-C91696E6C8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453" y="5463757"/>
            <a:ext cx="161925" cy="128587"/>
          </a:xfrm>
          <a:prstGeom prst="rect">
            <a:avLst/>
          </a:prstGeom>
        </p:spPr>
      </p:pic>
      <p:pic>
        <p:nvPicPr>
          <p:cNvPr id="148" name="Picture 147" descr="image.png">
            <a:extLst>
              <a:ext uri="{FF2B5EF4-FFF2-40B4-BE49-F238E27FC236}">
                <a16:creationId xmlns:a16="http://schemas.microsoft.com/office/drawing/2014/main" id="{82F7E88E-C1DA-514C-251E-1B9B0C48290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14803" y="5463757"/>
            <a:ext cx="133350" cy="128587"/>
          </a:xfrm>
          <a:prstGeom prst="rect">
            <a:avLst/>
          </a:prstGeom>
        </p:spPr>
      </p:pic>
      <p:pic>
        <p:nvPicPr>
          <p:cNvPr id="150" name="Picture 149" descr="image.png">
            <a:extLst>
              <a:ext uri="{FF2B5EF4-FFF2-40B4-BE49-F238E27FC236}">
                <a16:creationId xmlns:a16="http://schemas.microsoft.com/office/drawing/2014/main" id="{2C921260-2B5C-17A2-9335-C39E1BA98C0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00653" y="5463757"/>
            <a:ext cx="114300" cy="128587"/>
          </a:xfrm>
          <a:prstGeom prst="rect">
            <a:avLst/>
          </a:prstGeom>
        </p:spPr>
      </p:pic>
      <p:pic>
        <p:nvPicPr>
          <p:cNvPr id="152" name="Picture 151" descr="image.png">
            <a:extLst>
              <a:ext uri="{FF2B5EF4-FFF2-40B4-BE49-F238E27FC236}">
                <a16:creationId xmlns:a16="http://schemas.microsoft.com/office/drawing/2014/main" id="{2C9B7D4E-DEF4-385E-6D14-3440C55E32B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24600" y="4551185"/>
            <a:ext cx="400050" cy="400050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D8D29FBD-840C-D98C-216B-6253F93F7B83}"/>
              </a:ext>
            </a:extLst>
          </p:cNvPr>
          <p:cNvSpPr txBox="1"/>
          <p:nvPr/>
        </p:nvSpPr>
        <p:spPr>
          <a:xfrm>
            <a:off x="6875959" y="4618414"/>
            <a:ext cx="219027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Space Grotesk"/>
              </a:rPr>
              <a:t>XAI &amp; GPU Acceleration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369356C-6514-8E3B-D255-A988A440B6EC}"/>
              </a:ext>
            </a:extLst>
          </p:cNvPr>
          <p:cNvSpPr txBox="1"/>
          <p:nvPr/>
        </p:nvSpPr>
        <p:spPr>
          <a:xfrm>
            <a:off x="6342559" y="5092061"/>
            <a:ext cx="50482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059669"/>
                </a:solidFill>
                <a:latin typeface="Plus Jakarta Sans"/>
              </a:rPr>
              <a:t>EXPLAINABLE AI (XAI)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E22752A-2142-0E04-0CBB-2BAE66A3BDF8}"/>
              </a:ext>
            </a:extLst>
          </p:cNvPr>
          <p:cNvSpPr txBox="1"/>
          <p:nvPr/>
        </p:nvSpPr>
        <p:spPr>
          <a:xfrm>
            <a:off x="6342559" y="5673470"/>
            <a:ext cx="50482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059669"/>
                </a:solidFill>
                <a:latin typeface="Plus Jakarta Sans"/>
              </a:rPr>
              <a:t>HARDWARE ACCELERATION</a:t>
            </a:r>
          </a:p>
        </p:txBody>
      </p:sp>
      <p:pic>
        <p:nvPicPr>
          <p:cNvPr id="160" name="Picture 159" descr="image.png">
            <a:extLst>
              <a:ext uri="{FF2B5EF4-FFF2-40B4-BE49-F238E27FC236}">
                <a16:creationId xmlns:a16="http://schemas.microsoft.com/office/drawing/2014/main" id="{D5464E70-4301-7933-E91B-54D173317C6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66384" y="4656514"/>
            <a:ext cx="152400" cy="171450"/>
          </a:xfrm>
          <a:prstGeom prst="rect">
            <a:avLst/>
          </a:prstGeom>
        </p:spPr>
      </p:pic>
      <p:pic>
        <p:nvPicPr>
          <p:cNvPr id="162" name="Picture 161" descr="image.png">
            <a:extLst>
              <a:ext uri="{FF2B5EF4-FFF2-40B4-BE49-F238E27FC236}">
                <a16:creationId xmlns:a16="http://schemas.microsoft.com/office/drawing/2014/main" id="{B7BBAE3E-1103-C9D9-3CA6-BC80FC564BA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24606" y="5286283"/>
            <a:ext cx="1476375" cy="295275"/>
          </a:xfrm>
          <a:prstGeom prst="rect">
            <a:avLst/>
          </a:prstGeom>
        </p:spPr>
      </p:pic>
      <p:pic>
        <p:nvPicPr>
          <p:cNvPr id="164" name="Picture 163" descr="image.png">
            <a:extLst>
              <a:ext uri="{FF2B5EF4-FFF2-40B4-BE49-F238E27FC236}">
                <a16:creationId xmlns:a16="http://schemas.microsoft.com/office/drawing/2014/main" id="{5318CD22-0407-6C03-A354-5B3F6EE5F93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42759" y="5293558"/>
            <a:ext cx="1571625" cy="295275"/>
          </a:xfrm>
          <a:prstGeom prst="rect">
            <a:avLst/>
          </a:prstGeom>
        </p:spPr>
      </p:pic>
      <p:pic>
        <p:nvPicPr>
          <p:cNvPr id="166" name="Picture 165" descr="image.png">
            <a:extLst>
              <a:ext uri="{FF2B5EF4-FFF2-40B4-BE49-F238E27FC236}">
                <a16:creationId xmlns:a16="http://schemas.microsoft.com/office/drawing/2014/main" id="{BB5E7B73-3078-117D-B54A-71485A7C02F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38087" y="5835955"/>
            <a:ext cx="828675" cy="295275"/>
          </a:xfrm>
          <a:prstGeom prst="rect">
            <a:avLst/>
          </a:prstGeom>
        </p:spPr>
      </p:pic>
      <p:pic>
        <p:nvPicPr>
          <p:cNvPr id="168" name="Picture 167" descr="image.png">
            <a:extLst>
              <a:ext uri="{FF2B5EF4-FFF2-40B4-BE49-F238E27FC236}">
                <a16:creationId xmlns:a16="http://schemas.microsoft.com/office/drawing/2014/main" id="{9CBE7FBA-80D7-6FD3-7EFF-613A372CD37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33437" y="5827511"/>
            <a:ext cx="1476375" cy="295275"/>
          </a:xfrm>
          <a:prstGeom prst="rect">
            <a:avLst/>
          </a:prstGeom>
        </p:spPr>
      </p:pic>
      <p:pic>
        <p:nvPicPr>
          <p:cNvPr id="170" name="Picture 169" descr="image.png">
            <a:extLst>
              <a:ext uri="{FF2B5EF4-FFF2-40B4-BE49-F238E27FC236}">
                <a16:creationId xmlns:a16="http://schemas.microsoft.com/office/drawing/2014/main" id="{AB30A3C4-4907-E419-FB2E-8B6848D4F62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79796" y="5383271"/>
            <a:ext cx="142875" cy="128587"/>
          </a:xfrm>
          <a:prstGeom prst="rect">
            <a:avLst/>
          </a:prstGeom>
        </p:spPr>
      </p:pic>
      <p:pic>
        <p:nvPicPr>
          <p:cNvPr id="172" name="Picture 171" descr="image.png">
            <a:extLst>
              <a:ext uri="{FF2B5EF4-FFF2-40B4-BE49-F238E27FC236}">
                <a16:creationId xmlns:a16="http://schemas.microsoft.com/office/drawing/2014/main" id="{4EF2D919-1473-5AD3-CE0C-334B0C6E6AE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011855" y="5383271"/>
            <a:ext cx="133350" cy="128587"/>
          </a:xfrm>
          <a:prstGeom prst="rect">
            <a:avLst/>
          </a:prstGeom>
        </p:spPr>
      </p:pic>
      <p:pic>
        <p:nvPicPr>
          <p:cNvPr id="174" name="Picture 173" descr="image.png">
            <a:extLst>
              <a:ext uri="{FF2B5EF4-FFF2-40B4-BE49-F238E27FC236}">
                <a16:creationId xmlns:a16="http://schemas.microsoft.com/office/drawing/2014/main" id="{0E35743A-B225-8C7A-AAF3-BEDBBAF99FD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87330" y="5938035"/>
            <a:ext cx="142875" cy="128587"/>
          </a:xfrm>
          <a:prstGeom prst="rect">
            <a:avLst/>
          </a:prstGeom>
        </p:spPr>
      </p:pic>
      <p:pic>
        <p:nvPicPr>
          <p:cNvPr id="176" name="Picture 175" descr="image.png">
            <a:extLst>
              <a:ext uri="{FF2B5EF4-FFF2-40B4-BE49-F238E27FC236}">
                <a16:creationId xmlns:a16="http://schemas.microsoft.com/office/drawing/2014/main" id="{D0B48EC6-EA80-BC3C-129F-8AF28E6211A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371259" y="5919298"/>
            <a:ext cx="133350" cy="128587"/>
          </a:xfrm>
          <a:prstGeom prst="rect">
            <a:avLst/>
          </a:prstGeom>
        </p:spPr>
      </p:pic>
      <p:pic>
        <p:nvPicPr>
          <p:cNvPr id="183" name="Picture 182" descr="image.png">
            <a:extLst>
              <a:ext uri="{FF2B5EF4-FFF2-40B4-BE49-F238E27FC236}">
                <a16:creationId xmlns:a16="http://schemas.microsoft.com/office/drawing/2014/main" id="{172354B2-C910-0A89-EA1B-0D9CA1CEE567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96025" y="2186880"/>
            <a:ext cx="400050" cy="400050"/>
          </a:xfrm>
          <a:prstGeom prst="rect">
            <a:avLst/>
          </a:prstGeom>
        </p:spPr>
      </p:pic>
      <p:sp>
        <p:nvSpPr>
          <p:cNvPr id="185" name="TextBox 184">
            <a:extLst>
              <a:ext uri="{FF2B5EF4-FFF2-40B4-BE49-F238E27FC236}">
                <a16:creationId xmlns:a16="http://schemas.microsoft.com/office/drawing/2014/main" id="{F9B19B94-273C-63B3-FA9E-124F4C0AEDF8}"/>
              </a:ext>
            </a:extLst>
          </p:cNvPr>
          <p:cNvSpPr txBox="1"/>
          <p:nvPr/>
        </p:nvSpPr>
        <p:spPr>
          <a:xfrm>
            <a:off x="6829425" y="2263080"/>
            <a:ext cx="211026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Space Grotesk"/>
              </a:rPr>
              <a:t>Deep Learning &amp; GNNs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0259EBC-6328-EA23-8342-64FE5762D3A5}"/>
              </a:ext>
            </a:extLst>
          </p:cNvPr>
          <p:cNvSpPr txBox="1"/>
          <p:nvPr/>
        </p:nvSpPr>
        <p:spPr>
          <a:xfrm>
            <a:off x="6324600" y="2714580"/>
            <a:ext cx="50482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059669"/>
                </a:solidFill>
                <a:latin typeface="Plus Jakarta Sans"/>
              </a:rPr>
              <a:t>FRAMEWORK &amp; MODULES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311EBA7-CC9A-9F96-96A3-D2E06CB88EC5}"/>
              </a:ext>
            </a:extLst>
          </p:cNvPr>
          <p:cNvSpPr txBox="1"/>
          <p:nvPr/>
        </p:nvSpPr>
        <p:spPr>
          <a:xfrm>
            <a:off x="6327804" y="3242868"/>
            <a:ext cx="50482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059669"/>
                </a:solidFill>
                <a:latin typeface="Plus Jakarta Sans"/>
              </a:rPr>
              <a:t>ARCHITECTURES &amp; CLASSES</a:t>
            </a:r>
          </a:p>
        </p:txBody>
      </p:sp>
      <p:pic>
        <p:nvPicPr>
          <p:cNvPr id="191" name="Picture 190" descr="image.png">
            <a:extLst>
              <a:ext uri="{FF2B5EF4-FFF2-40B4-BE49-F238E27FC236}">
                <a16:creationId xmlns:a16="http://schemas.microsoft.com/office/drawing/2014/main" id="{00DB49F9-1046-0F64-DD9B-103E3379F2F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2301180"/>
            <a:ext cx="190500" cy="171450"/>
          </a:xfrm>
          <a:prstGeom prst="rect">
            <a:avLst/>
          </a:prstGeom>
        </p:spPr>
      </p:pic>
      <p:pic>
        <p:nvPicPr>
          <p:cNvPr id="193" name="Picture 192" descr="image.png">
            <a:extLst>
              <a:ext uri="{FF2B5EF4-FFF2-40B4-BE49-F238E27FC236}">
                <a16:creationId xmlns:a16="http://schemas.microsoft.com/office/drawing/2014/main" id="{74DD476D-C3D1-9786-8036-FAAC8D5B2C3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361963" y="2872456"/>
            <a:ext cx="923925" cy="295275"/>
          </a:xfrm>
          <a:prstGeom prst="rect">
            <a:avLst/>
          </a:prstGeom>
        </p:spPr>
      </p:pic>
      <p:pic>
        <p:nvPicPr>
          <p:cNvPr id="195" name="Picture 194" descr="image.png">
            <a:extLst>
              <a:ext uri="{FF2B5EF4-FFF2-40B4-BE49-F238E27FC236}">
                <a16:creationId xmlns:a16="http://schemas.microsoft.com/office/drawing/2014/main" id="{267D242B-29E5-689F-348A-A8DFDEE8BFEC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381974" y="2869544"/>
            <a:ext cx="1657350" cy="295275"/>
          </a:xfrm>
          <a:prstGeom prst="rect">
            <a:avLst/>
          </a:prstGeom>
        </p:spPr>
      </p:pic>
      <p:pic>
        <p:nvPicPr>
          <p:cNvPr id="197" name="Picture 196" descr="image.png">
            <a:extLst>
              <a:ext uri="{FF2B5EF4-FFF2-40B4-BE49-F238E27FC236}">
                <a16:creationId xmlns:a16="http://schemas.microsoft.com/office/drawing/2014/main" id="{0E26E532-D680-BD9B-6ACD-5B805140A35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24600" y="3388683"/>
            <a:ext cx="1171575" cy="295275"/>
          </a:xfrm>
          <a:prstGeom prst="rect">
            <a:avLst/>
          </a:prstGeom>
        </p:spPr>
      </p:pic>
      <p:pic>
        <p:nvPicPr>
          <p:cNvPr id="199" name="Picture 198" descr="image.png">
            <a:extLst>
              <a:ext uri="{FF2B5EF4-FFF2-40B4-BE49-F238E27FC236}">
                <a16:creationId xmlns:a16="http://schemas.microsoft.com/office/drawing/2014/main" id="{C370D66F-1A1B-ED35-3E36-004328F6E65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563948" y="3369090"/>
            <a:ext cx="1038225" cy="295275"/>
          </a:xfrm>
          <a:prstGeom prst="rect">
            <a:avLst/>
          </a:prstGeom>
        </p:spPr>
      </p:pic>
      <p:pic>
        <p:nvPicPr>
          <p:cNvPr id="201" name="Picture 200" descr="image.png">
            <a:extLst>
              <a:ext uri="{FF2B5EF4-FFF2-40B4-BE49-F238E27FC236}">
                <a16:creationId xmlns:a16="http://schemas.microsoft.com/office/drawing/2014/main" id="{884DBC87-EC7E-54F4-574D-93DAD308D4D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658225" y="3379466"/>
            <a:ext cx="1143000" cy="295275"/>
          </a:xfrm>
          <a:prstGeom prst="rect">
            <a:avLst/>
          </a:prstGeom>
        </p:spPr>
      </p:pic>
      <p:pic>
        <p:nvPicPr>
          <p:cNvPr id="203" name="Picture 202" descr="image.png">
            <a:extLst>
              <a:ext uri="{FF2B5EF4-FFF2-40B4-BE49-F238E27FC236}">
                <a16:creationId xmlns:a16="http://schemas.microsoft.com/office/drawing/2014/main" id="{301672B2-1851-40FC-7D70-2F8EAAB880E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877425" y="3378500"/>
            <a:ext cx="1114425" cy="295275"/>
          </a:xfrm>
          <a:prstGeom prst="rect">
            <a:avLst/>
          </a:prstGeom>
        </p:spPr>
      </p:pic>
      <p:pic>
        <p:nvPicPr>
          <p:cNvPr id="205" name="Picture 204" descr="image.png">
            <a:extLst>
              <a:ext uri="{FF2B5EF4-FFF2-40B4-BE49-F238E27FC236}">
                <a16:creationId xmlns:a16="http://schemas.microsoft.com/office/drawing/2014/main" id="{CEAA72A5-2CF0-3293-6B02-0C66A337678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434137" y="2979765"/>
            <a:ext cx="114300" cy="128587"/>
          </a:xfrm>
          <a:prstGeom prst="rect">
            <a:avLst/>
          </a:prstGeom>
        </p:spPr>
      </p:pic>
      <p:pic>
        <p:nvPicPr>
          <p:cNvPr id="207" name="Picture 206" descr="image.png">
            <a:extLst>
              <a:ext uri="{FF2B5EF4-FFF2-40B4-BE49-F238E27FC236}">
                <a16:creationId xmlns:a16="http://schemas.microsoft.com/office/drawing/2014/main" id="{472FAE79-9E34-416D-5F7C-1B524A0A77B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428463" y="2972691"/>
            <a:ext cx="161925" cy="128587"/>
          </a:xfrm>
          <a:prstGeom prst="rect">
            <a:avLst/>
          </a:prstGeom>
        </p:spPr>
      </p:pic>
      <p:pic>
        <p:nvPicPr>
          <p:cNvPr id="209" name="Picture 208" descr="image.png">
            <a:extLst>
              <a:ext uri="{FF2B5EF4-FFF2-40B4-BE49-F238E27FC236}">
                <a16:creationId xmlns:a16="http://schemas.microsoft.com/office/drawing/2014/main" id="{73C576AC-0DB7-98F1-4506-1324C9897D6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380953" y="3480850"/>
            <a:ext cx="142875" cy="128587"/>
          </a:xfrm>
          <a:prstGeom prst="rect">
            <a:avLst/>
          </a:prstGeom>
        </p:spPr>
      </p:pic>
      <p:pic>
        <p:nvPicPr>
          <p:cNvPr id="211" name="Picture 210" descr="image.png">
            <a:extLst>
              <a:ext uri="{FF2B5EF4-FFF2-40B4-BE49-F238E27FC236}">
                <a16:creationId xmlns:a16="http://schemas.microsoft.com/office/drawing/2014/main" id="{D77A524F-4ED0-335E-8E45-F6698B589550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617097" y="3459907"/>
            <a:ext cx="142875" cy="128587"/>
          </a:xfrm>
          <a:prstGeom prst="rect">
            <a:avLst/>
          </a:prstGeom>
        </p:spPr>
      </p:pic>
      <p:pic>
        <p:nvPicPr>
          <p:cNvPr id="213" name="Picture 212" descr="image.png">
            <a:extLst>
              <a:ext uri="{FF2B5EF4-FFF2-40B4-BE49-F238E27FC236}">
                <a16:creationId xmlns:a16="http://schemas.microsoft.com/office/drawing/2014/main" id="{E3CBABFA-8109-71D3-5A7D-A380DE86DED3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718579" y="3472003"/>
            <a:ext cx="133350" cy="128587"/>
          </a:xfrm>
          <a:prstGeom prst="rect">
            <a:avLst/>
          </a:prstGeom>
        </p:spPr>
      </p:pic>
      <p:pic>
        <p:nvPicPr>
          <p:cNvPr id="215" name="Picture 214" descr="image.png">
            <a:extLst>
              <a:ext uri="{FF2B5EF4-FFF2-40B4-BE49-F238E27FC236}">
                <a16:creationId xmlns:a16="http://schemas.microsoft.com/office/drawing/2014/main" id="{C580CC48-A42B-B471-929C-41EE237506B6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934575" y="3496003"/>
            <a:ext cx="133350" cy="128587"/>
          </a:xfrm>
          <a:prstGeom prst="rect">
            <a:avLst/>
          </a:prstGeom>
        </p:spPr>
      </p:pic>
      <p:sp>
        <p:nvSpPr>
          <p:cNvPr id="221" name="TextBox 220">
            <a:extLst>
              <a:ext uri="{FF2B5EF4-FFF2-40B4-BE49-F238E27FC236}">
                <a16:creationId xmlns:a16="http://schemas.microsoft.com/office/drawing/2014/main" id="{2610E828-9EEF-4FD9-0624-0EA5821907FB}"/>
              </a:ext>
            </a:extLst>
          </p:cNvPr>
          <p:cNvSpPr txBox="1"/>
          <p:nvPr/>
        </p:nvSpPr>
        <p:spPr>
          <a:xfrm>
            <a:off x="465612" y="1051519"/>
            <a:ext cx="466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B3C37"/>
                </a:solidFill>
                <a:latin typeface="Plus Jakarta Sans"/>
              </a:rPr>
              <a:t>Technologies &amp; Tools</a:t>
            </a:r>
          </a:p>
        </p:txBody>
      </p:sp>
      <p:pic>
        <p:nvPicPr>
          <p:cNvPr id="243" name="Picture 242" descr="image.png">
            <a:extLst>
              <a:ext uri="{FF2B5EF4-FFF2-40B4-BE49-F238E27FC236}">
                <a16:creationId xmlns:a16="http://schemas.microsoft.com/office/drawing/2014/main" id="{AFB8D45A-89D7-268A-314F-BC1213A54CD1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245" name="TextBox 244">
            <a:extLst>
              <a:ext uri="{FF2B5EF4-FFF2-40B4-BE49-F238E27FC236}">
                <a16:creationId xmlns:a16="http://schemas.microsoft.com/office/drawing/2014/main" id="{E9EC012C-9E13-5485-AAE3-3E092B10FBF8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BD674F1B-E1CD-8DC1-17F4-8B0DF4A4E015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822BF0B4-2736-BE0F-4BE8-71F00064A2CE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E5CD2F93-6133-1A7E-7540-79D4B5BCB911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478AA826-C1DD-7FBE-6877-20EFF99BA201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FEF08BA-1599-BD21-1D9E-EAACD0DC70E9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248CB35-5966-8993-59A3-B4A5EDAF7D0D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8ED86191-93C0-2CD8-F93B-B21DD1871A33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6C14BAF-9B7C-B22A-55E8-51B741445704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9F56D687-4060-13DA-612E-02F99A2C86FC}"/>
              </a:ext>
            </a:extLst>
          </p:cNvPr>
          <p:cNvSpPr/>
          <p:nvPr/>
        </p:nvSpPr>
        <p:spPr>
          <a:xfrm>
            <a:off x="5014179" y="387233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91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D7A18-0567-25EA-807F-FA6BC0C3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42330920-6FC2-7BFD-2F52-2DAF2408C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10B99E4-F06F-391B-C317-F364A8ACBED2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3" name="Picture 242" descr="image.png">
            <a:extLst>
              <a:ext uri="{FF2B5EF4-FFF2-40B4-BE49-F238E27FC236}">
                <a16:creationId xmlns:a16="http://schemas.microsoft.com/office/drawing/2014/main" id="{21FBBC49-2263-900E-0E30-CD5D1624E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245" name="TextBox 244">
            <a:extLst>
              <a:ext uri="{FF2B5EF4-FFF2-40B4-BE49-F238E27FC236}">
                <a16:creationId xmlns:a16="http://schemas.microsoft.com/office/drawing/2014/main" id="{4840DA00-37E2-FCF8-D78E-A4F806FD31A8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A91832F-9B98-AEC5-EE8C-CECCC971496B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940D3B90-0F3A-29DF-A7BF-DF1A8DC99514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0B358178-5D6B-2C75-B356-C87F1762C915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DE824D4-999D-8D53-8DC6-F3DE55EA31A9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31990C11-BF70-19D4-63A8-09A18FEDDFEF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95534D-A2ED-87EB-625B-9D487781E775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82D7C270-7A4A-2A47-16DC-A84DC6D68D6E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434613A3-62AD-A57A-8143-4118489BF943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36C28D74-7DE9-BB80-8B4A-55BFD5619C11}"/>
              </a:ext>
            </a:extLst>
          </p:cNvPr>
          <p:cNvSpPr/>
          <p:nvPr/>
        </p:nvSpPr>
        <p:spPr>
          <a:xfrm>
            <a:off x="5014179" y="387233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4FF68D-9840-E4BB-78CA-E2CDDADC8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44" y="1676400"/>
            <a:ext cx="11049000" cy="1400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589974-B8B6-EB61-19AA-F24A5F33D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044" y="3267075"/>
            <a:ext cx="11049000" cy="1400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C0F7A9-D904-CFBB-5822-305FF95AD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44" y="4857750"/>
            <a:ext cx="11049000" cy="1400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807736-3902-337B-11D6-17359977DC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408" y="2043112"/>
            <a:ext cx="4602212" cy="666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5EB82B-E085-D259-6143-9D2D69FF17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408" y="3633787"/>
            <a:ext cx="4602212" cy="66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15E222-306F-3AE6-8E10-4FB8763D39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408" y="5224462"/>
            <a:ext cx="4602212" cy="666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DB0863-0238-358B-4B4B-E1CD680F9D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6303" y="1250995"/>
            <a:ext cx="1990725" cy="333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F7F840-36E9-E220-B2A5-B232686D2A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0093" y="1351007"/>
            <a:ext cx="152400" cy="133350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6DBB9FC0-531B-D613-A55C-1CF193B4E2C8}"/>
              </a:ext>
            </a:extLst>
          </p:cNvPr>
          <p:cNvSpPr txBox="1"/>
          <p:nvPr/>
        </p:nvSpPr>
        <p:spPr>
          <a:xfrm>
            <a:off x="687944" y="2324100"/>
            <a:ext cx="5522714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1E2923"/>
                </a:solidFill>
                <a:latin typeface="Lato"/>
              </a:rPr>
              <a:t>Measures the model's overall ability to distinguish between distinct positive and negative classes across all classification thresholds.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02A2D1-C27B-EF25-2D52-E62EC3BAB5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1527" y="2228850"/>
            <a:ext cx="3171825" cy="295275"/>
          </a:xfrm>
          <a:prstGeom prst="rect">
            <a:avLst/>
          </a:prstGeom>
        </p:spPr>
      </p:pic>
      <p:sp>
        <p:nvSpPr>
          <p:cNvPr id="17" name="TextBox 12">
            <a:extLst>
              <a:ext uri="{FF2B5EF4-FFF2-40B4-BE49-F238E27FC236}">
                <a16:creationId xmlns:a16="http://schemas.microsoft.com/office/drawing/2014/main" id="{FE32745A-0A6B-8966-AED9-E787BB80F75D}"/>
              </a:ext>
            </a:extLst>
          </p:cNvPr>
          <p:cNvSpPr txBox="1"/>
          <p:nvPr/>
        </p:nvSpPr>
        <p:spPr>
          <a:xfrm>
            <a:off x="687944" y="3914775"/>
            <a:ext cx="5522714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E2923"/>
                </a:solidFill>
                <a:latin typeface="Lato"/>
              </a:rPr>
              <a:t>Provides a more informative metric for highly imbalanced datasets by examining the direct trade-off between Precision and Recall.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A9972B9-5EF7-D547-8045-CB8A6E8507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3430" y="3819525"/>
            <a:ext cx="3668017" cy="295275"/>
          </a:xfrm>
          <a:prstGeom prst="rect">
            <a:avLst/>
          </a:prstGeom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A0AF480B-BCA5-BB31-29A4-2A958265A042}"/>
              </a:ext>
            </a:extLst>
          </p:cNvPr>
          <p:cNvSpPr txBox="1"/>
          <p:nvPr/>
        </p:nvSpPr>
        <p:spPr>
          <a:xfrm>
            <a:off x="687944" y="5505450"/>
            <a:ext cx="5522714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E2923"/>
                </a:solidFill>
                <a:latin typeface="Lato"/>
              </a:rPr>
              <a:t>The proportion of correctly classified drug-disease pairs evaluated at the baseline 0.5 classification decision threshold.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D7E1FF6-78AE-32A6-79C3-A2D1F8F7D82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23793" y="5448746"/>
            <a:ext cx="2147441" cy="218182"/>
          </a:xfrm>
          <a:prstGeom prst="rect">
            <a:avLst/>
          </a:prstGeom>
        </p:spPr>
      </p:pic>
      <p:sp>
        <p:nvSpPr>
          <p:cNvPr id="25" name="TextBox 16">
            <a:extLst>
              <a:ext uri="{FF2B5EF4-FFF2-40B4-BE49-F238E27FC236}">
                <a16:creationId xmlns:a16="http://schemas.microsoft.com/office/drawing/2014/main" id="{6F3EEBA3-C9B9-37BB-9008-D8045D84E2FC}"/>
              </a:ext>
            </a:extLst>
          </p:cNvPr>
          <p:cNvSpPr txBox="1"/>
          <p:nvPr/>
        </p:nvSpPr>
        <p:spPr>
          <a:xfrm>
            <a:off x="687944" y="1914525"/>
            <a:ext cx="121015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0" i="0" u="none">
                <a:solidFill>
                  <a:srgbClr val="0B3D36"/>
                </a:solidFill>
                <a:latin typeface="Poppins SemiBold"/>
              </a:rPr>
              <a:t>AUC-ROC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F86D6FF-80FC-D7A6-5140-DE62321DD1D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54769" y="1981200"/>
            <a:ext cx="1238250" cy="200025"/>
          </a:xfrm>
          <a:prstGeom prst="rect">
            <a:avLst/>
          </a:prstGeom>
        </p:spPr>
      </p:pic>
      <p:sp>
        <p:nvSpPr>
          <p:cNvPr id="31" name="TextBox 18">
            <a:extLst>
              <a:ext uri="{FF2B5EF4-FFF2-40B4-BE49-F238E27FC236}">
                <a16:creationId xmlns:a16="http://schemas.microsoft.com/office/drawing/2014/main" id="{CC8D1486-A0B4-67C4-286E-FFCED148E947}"/>
              </a:ext>
            </a:extLst>
          </p:cNvPr>
          <p:cNvSpPr txBox="1"/>
          <p:nvPr/>
        </p:nvSpPr>
        <p:spPr>
          <a:xfrm>
            <a:off x="687944" y="3505200"/>
            <a:ext cx="98012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0" i="0" u="none">
                <a:solidFill>
                  <a:srgbClr val="0B3D36"/>
                </a:solidFill>
                <a:latin typeface="Poppins SemiBold"/>
              </a:rPr>
              <a:t>AUC-PR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23C9290-D3F4-6FC6-6A4D-2858608BEBC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35694" y="3571875"/>
            <a:ext cx="1233487" cy="200025"/>
          </a:xfrm>
          <a:prstGeom prst="rect">
            <a:avLst/>
          </a:prstGeom>
        </p:spPr>
      </p:pic>
      <p:sp>
        <p:nvSpPr>
          <p:cNvPr id="33" name="TextBox 20">
            <a:extLst>
              <a:ext uri="{FF2B5EF4-FFF2-40B4-BE49-F238E27FC236}">
                <a16:creationId xmlns:a16="http://schemas.microsoft.com/office/drawing/2014/main" id="{5A8ABCFE-C5AA-F6AB-34DA-A4BC43197684}"/>
              </a:ext>
            </a:extLst>
          </p:cNvPr>
          <p:cNvSpPr txBox="1"/>
          <p:nvPr/>
        </p:nvSpPr>
        <p:spPr>
          <a:xfrm>
            <a:off x="687944" y="5095875"/>
            <a:ext cx="12001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0" i="0" u="none">
                <a:solidFill>
                  <a:srgbClr val="0B3D36"/>
                </a:solidFill>
                <a:latin typeface="Poppins SemiBold"/>
              </a:rPr>
              <a:t>Accuracy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49F1760-36E8-587F-78F1-BAF05BD6C05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45244" y="5162550"/>
            <a:ext cx="1476375" cy="200025"/>
          </a:xfrm>
          <a:prstGeom prst="rect">
            <a:avLst/>
          </a:prstGeom>
        </p:spPr>
      </p:pic>
      <p:sp>
        <p:nvSpPr>
          <p:cNvPr id="36" name="TextBox 22">
            <a:extLst>
              <a:ext uri="{FF2B5EF4-FFF2-40B4-BE49-F238E27FC236}">
                <a16:creationId xmlns:a16="http://schemas.microsoft.com/office/drawing/2014/main" id="{2222672A-005E-9145-837F-36BF54F18CC0}"/>
              </a:ext>
            </a:extLst>
          </p:cNvPr>
          <p:cNvSpPr txBox="1"/>
          <p:nvPr/>
        </p:nvSpPr>
        <p:spPr>
          <a:xfrm>
            <a:off x="442436" y="1017703"/>
            <a:ext cx="9511188" cy="542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50" b="1" i="0" u="none" dirty="0">
                <a:solidFill>
                  <a:srgbClr val="0B3D36"/>
                </a:solidFill>
                <a:latin typeface="Poppins"/>
              </a:rPr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3117274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B2746-E327-AB97-BCD1-EF09A204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5CB43160-F8DC-2F7A-596E-668E144DE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3D0D40D-8F5C-0975-64A9-7BD44C297E40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9" name="Picture 218" descr="image.png">
            <a:extLst>
              <a:ext uri="{FF2B5EF4-FFF2-40B4-BE49-F238E27FC236}">
                <a16:creationId xmlns:a16="http://schemas.microsoft.com/office/drawing/2014/main" id="{70B1EBB7-D521-6619-EDDA-1F6085B63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" y="-8335"/>
            <a:ext cx="12192000" cy="6858000"/>
          </a:xfrm>
          <a:prstGeom prst="rect">
            <a:avLst/>
          </a:prstGeom>
        </p:spPr>
      </p:pic>
      <p:pic>
        <p:nvPicPr>
          <p:cNvPr id="106" name="Picture 105" descr="image.png">
            <a:extLst>
              <a:ext uri="{FF2B5EF4-FFF2-40B4-BE49-F238E27FC236}">
                <a16:creationId xmlns:a16="http://schemas.microsoft.com/office/drawing/2014/main" id="{AEB2B94F-3387-CD1A-81D9-6B6C6421A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108" name="Picture 107" descr="image.png">
            <a:extLst>
              <a:ext uri="{FF2B5EF4-FFF2-40B4-BE49-F238E27FC236}">
                <a16:creationId xmlns:a16="http://schemas.microsoft.com/office/drawing/2014/main" id="{9F3F9644-449B-C4F9-C502-26D15CDE4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786830"/>
            <a:ext cx="3619500" cy="4404419"/>
          </a:xfrm>
          <a:prstGeom prst="rect">
            <a:avLst/>
          </a:prstGeom>
        </p:spPr>
      </p:pic>
      <p:pic>
        <p:nvPicPr>
          <p:cNvPr id="110" name="Picture 109" descr="image.png">
            <a:extLst>
              <a:ext uri="{FF2B5EF4-FFF2-40B4-BE49-F238E27FC236}">
                <a16:creationId xmlns:a16="http://schemas.microsoft.com/office/drawing/2014/main" id="{F3D83099-BAFF-9999-2D5C-DD64420DF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1786830"/>
            <a:ext cx="3619500" cy="4404419"/>
          </a:xfrm>
          <a:prstGeom prst="rect">
            <a:avLst/>
          </a:prstGeom>
        </p:spPr>
      </p:pic>
      <p:pic>
        <p:nvPicPr>
          <p:cNvPr id="112" name="Picture 111" descr="image.png">
            <a:extLst>
              <a:ext uri="{FF2B5EF4-FFF2-40B4-BE49-F238E27FC236}">
                <a16:creationId xmlns:a16="http://schemas.microsoft.com/office/drawing/2014/main" id="{AB369E18-06EF-52FE-A7E4-45309FEFAE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1786830"/>
            <a:ext cx="3619500" cy="4404419"/>
          </a:xfrm>
          <a:prstGeom prst="rect">
            <a:avLst/>
          </a:prstGeom>
        </p:spPr>
      </p:pic>
      <p:pic>
        <p:nvPicPr>
          <p:cNvPr id="114" name="Picture 113" descr="image.png">
            <a:extLst>
              <a:ext uri="{FF2B5EF4-FFF2-40B4-BE49-F238E27FC236}">
                <a16:creationId xmlns:a16="http://schemas.microsoft.com/office/drawing/2014/main" id="{2749391B-E674-3C87-39E2-6EC4C0001B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758380"/>
            <a:ext cx="3181350" cy="929282"/>
          </a:xfrm>
          <a:prstGeom prst="rect">
            <a:avLst/>
          </a:prstGeom>
        </p:spPr>
      </p:pic>
      <p:pic>
        <p:nvPicPr>
          <p:cNvPr id="116" name="Picture 115" descr="image.png">
            <a:extLst>
              <a:ext uri="{FF2B5EF4-FFF2-40B4-BE49-F238E27FC236}">
                <a16:creationId xmlns:a16="http://schemas.microsoft.com/office/drawing/2014/main" id="{826AF138-21AE-A9DD-7A71-67A457F2AC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801963"/>
            <a:ext cx="3181350" cy="929282"/>
          </a:xfrm>
          <a:prstGeom prst="rect">
            <a:avLst/>
          </a:prstGeom>
        </p:spPr>
      </p:pic>
      <p:pic>
        <p:nvPicPr>
          <p:cNvPr id="118" name="Picture 117" descr="image.png">
            <a:extLst>
              <a:ext uri="{FF2B5EF4-FFF2-40B4-BE49-F238E27FC236}">
                <a16:creationId xmlns:a16="http://schemas.microsoft.com/office/drawing/2014/main" id="{D1D9C620-59E3-3CAF-FAA5-AC4B9E362F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5325" y="2758380"/>
            <a:ext cx="3181350" cy="929282"/>
          </a:xfrm>
          <a:prstGeom prst="rect">
            <a:avLst/>
          </a:prstGeom>
        </p:spPr>
      </p:pic>
      <p:pic>
        <p:nvPicPr>
          <p:cNvPr id="120" name="Picture 119" descr="image.png">
            <a:extLst>
              <a:ext uri="{FF2B5EF4-FFF2-40B4-BE49-F238E27FC236}">
                <a16:creationId xmlns:a16="http://schemas.microsoft.com/office/drawing/2014/main" id="{C4B94457-7819-534A-AEA3-AF9D4392B2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3801963"/>
            <a:ext cx="3181350" cy="929282"/>
          </a:xfrm>
          <a:prstGeom prst="rect">
            <a:avLst/>
          </a:prstGeom>
        </p:spPr>
      </p:pic>
      <p:pic>
        <p:nvPicPr>
          <p:cNvPr id="122" name="Picture 121" descr="image.png">
            <a:extLst>
              <a:ext uri="{FF2B5EF4-FFF2-40B4-BE49-F238E27FC236}">
                <a16:creationId xmlns:a16="http://schemas.microsoft.com/office/drawing/2014/main" id="{FA4D707C-21B4-4A62-C8EE-2C752874D2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5325" y="2758380"/>
            <a:ext cx="3181350" cy="929282"/>
          </a:xfrm>
          <a:prstGeom prst="rect">
            <a:avLst/>
          </a:prstGeom>
        </p:spPr>
      </p:pic>
      <p:pic>
        <p:nvPicPr>
          <p:cNvPr id="124" name="Picture 123" descr="image.png">
            <a:extLst>
              <a:ext uri="{FF2B5EF4-FFF2-40B4-BE49-F238E27FC236}">
                <a16:creationId xmlns:a16="http://schemas.microsoft.com/office/drawing/2014/main" id="{6B55EFB5-44B0-6E3C-4934-929E16B275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325" y="3801963"/>
            <a:ext cx="3181350" cy="929282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24206FF9-914C-615B-806C-A9331AEAA9E7}"/>
              </a:ext>
            </a:extLst>
          </p:cNvPr>
          <p:cNvSpPr txBox="1"/>
          <p:nvPr/>
        </p:nvSpPr>
        <p:spPr>
          <a:xfrm>
            <a:off x="476250" y="962025"/>
            <a:ext cx="11715750" cy="37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2700" b="1" i="0" u="none" dirty="0">
                <a:solidFill>
                  <a:srgbClr val="043E35"/>
                </a:solidFill>
                <a:latin typeface="Space Grotesk"/>
              </a:rPr>
              <a:t>End-to-End Data Processing Pipeline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EBB0551-1399-DEF6-3978-DA6992F6C7F5}"/>
              </a:ext>
            </a:extLst>
          </p:cNvPr>
          <p:cNvSpPr txBox="1"/>
          <p:nvPr/>
        </p:nvSpPr>
        <p:spPr>
          <a:xfrm>
            <a:off x="476250" y="1396305"/>
            <a:ext cx="11239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0F766E"/>
                </a:solidFill>
                <a:latin typeface="Plus Jakarta Sans Medium"/>
              </a:rPr>
              <a:t>Transforming raw biological data into training-ready heterogeneous graph structures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402ADB-3D6C-B112-1B95-4B147AF9C877}"/>
              </a:ext>
            </a:extLst>
          </p:cNvPr>
          <p:cNvSpPr txBox="1"/>
          <p:nvPr/>
        </p:nvSpPr>
        <p:spPr>
          <a:xfrm>
            <a:off x="476250" y="6334125"/>
            <a:ext cx="1905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D9488"/>
                </a:solidFill>
                <a:latin typeface="Plus Jakarta Sans SemiBold"/>
              </a:rPr>
              <a:t>Data Processing Pipeline Overview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F6D9BD0-5C35-3893-107A-0355330DCEB1}"/>
              </a:ext>
            </a:extLst>
          </p:cNvPr>
          <p:cNvSpPr txBox="1"/>
          <p:nvPr/>
        </p:nvSpPr>
        <p:spPr>
          <a:xfrm>
            <a:off x="10487025" y="6334125"/>
            <a:ext cx="1228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D9488"/>
                </a:solidFill>
                <a:latin typeface="Plus Jakarta Sans SemiBold"/>
              </a:rPr>
              <a:t>Implementation Phase</a:t>
            </a:r>
          </a:p>
        </p:txBody>
      </p:sp>
      <p:pic>
        <p:nvPicPr>
          <p:cNvPr id="137" name="Picture 136" descr="image.png">
            <a:extLst>
              <a:ext uri="{FF2B5EF4-FFF2-40B4-BE49-F238E27FC236}">
                <a16:creationId xmlns:a16="http://schemas.microsoft.com/office/drawing/2014/main" id="{54239117-4CD8-F7F7-0737-35D9DB3529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2312" y="1986855"/>
            <a:ext cx="633412" cy="228600"/>
          </a:xfrm>
          <a:prstGeom prst="rect">
            <a:avLst/>
          </a:prstGeom>
        </p:spPr>
      </p:pic>
      <p:pic>
        <p:nvPicPr>
          <p:cNvPr id="141" name="Picture 140" descr="image.png">
            <a:extLst>
              <a:ext uri="{FF2B5EF4-FFF2-40B4-BE49-F238E27FC236}">
                <a16:creationId xmlns:a16="http://schemas.microsoft.com/office/drawing/2014/main" id="{376F4B82-D189-7F51-0E9C-94D9D97520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262" y="1986855"/>
            <a:ext cx="652462" cy="228600"/>
          </a:xfrm>
          <a:prstGeom prst="rect">
            <a:avLst/>
          </a:prstGeom>
        </p:spPr>
      </p:pic>
      <p:pic>
        <p:nvPicPr>
          <p:cNvPr id="145" name="Picture 144" descr="image.png">
            <a:extLst>
              <a:ext uri="{FF2B5EF4-FFF2-40B4-BE49-F238E27FC236}">
                <a16:creationId xmlns:a16="http://schemas.microsoft.com/office/drawing/2014/main" id="{BCE34070-38A9-5CA9-49F0-6A9FD0B820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63262" y="1986855"/>
            <a:ext cx="652462" cy="228600"/>
          </a:xfrm>
          <a:prstGeom prst="rect">
            <a:avLst/>
          </a:prstGeom>
        </p:spPr>
      </p:pic>
      <p:pic>
        <p:nvPicPr>
          <p:cNvPr id="149" name="Picture 148" descr="image.png">
            <a:extLst>
              <a:ext uri="{FF2B5EF4-FFF2-40B4-BE49-F238E27FC236}">
                <a16:creationId xmlns:a16="http://schemas.microsoft.com/office/drawing/2014/main" id="{62CC41D4-A395-8890-9D19-03AB6E90D6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325" y="2024955"/>
            <a:ext cx="400050" cy="400050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5D8D1F0B-2B42-D4FC-FF3B-0DA0B877E379}"/>
              </a:ext>
            </a:extLst>
          </p:cNvPr>
          <p:cNvSpPr txBox="1"/>
          <p:nvPr/>
        </p:nvSpPr>
        <p:spPr>
          <a:xfrm>
            <a:off x="1228725" y="2101155"/>
            <a:ext cx="14001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Space Grotesk"/>
              </a:rPr>
              <a:t>Data Ingestion</a:t>
            </a:r>
          </a:p>
        </p:txBody>
      </p:sp>
      <p:pic>
        <p:nvPicPr>
          <p:cNvPr id="157" name="Picture 156" descr="image.png">
            <a:extLst>
              <a:ext uri="{FF2B5EF4-FFF2-40B4-BE49-F238E27FC236}">
                <a16:creationId xmlns:a16="http://schemas.microsoft.com/office/drawing/2014/main" id="{367FDA16-D380-AA21-CF5A-FB015D8190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5325" y="2024955"/>
            <a:ext cx="400050" cy="400050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24CB7EEB-AAD7-EF8D-5875-415C192645DE}"/>
              </a:ext>
            </a:extLst>
          </p:cNvPr>
          <p:cNvSpPr txBox="1"/>
          <p:nvPr/>
        </p:nvSpPr>
        <p:spPr>
          <a:xfrm>
            <a:off x="5038725" y="2101155"/>
            <a:ext cx="189023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Space Grotesk"/>
              </a:rPr>
              <a:t>Graph Construction</a:t>
            </a:r>
          </a:p>
        </p:txBody>
      </p:sp>
      <p:pic>
        <p:nvPicPr>
          <p:cNvPr id="165" name="Picture 164" descr="image.png">
            <a:extLst>
              <a:ext uri="{FF2B5EF4-FFF2-40B4-BE49-F238E27FC236}">
                <a16:creationId xmlns:a16="http://schemas.microsoft.com/office/drawing/2014/main" id="{DD20F111-366A-DA40-56F7-095AAE6C28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5325" y="2024955"/>
            <a:ext cx="400050" cy="400050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F6589B0B-AB0B-73D8-B3B0-CFB247852AC5}"/>
              </a:ext>
            </a:extLst>
          </p:cNvPr>
          <p:cNvSpPr txBox="1"/>
          <p:nvPr/>
        </p:nvSpPr>
        <p:spPr>
          <a:xfrm>
            <a:off x="8848725" y="2101155"/>
            <a:ext cx="18002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Space Grotesk"/>
              </a:rPr>
              <a:t>Sampling Strategy</a:t>
            </a:r>
          </a:p>
        </p:txBody>
      </p:sp>
      <p:pic>
        <p:nvPicPr>
          <p:cNvPr id="173" name="Picture 172" descr="image.png">
            <a:extLst>
              <a:ext uri="{FF2B5EF4-FFF2-40B4-BE49-F238E27FC236}">
                <a16:creationId xmlns:a16="http://schemas.microsoft.com/office/drawing/2014/main" id="{4C4F1CC7-37C1-B944-23E0-1AACDE78FA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150" y="2139255"/>
            <a:ext cx="152400" cy="171450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E9F866E1-1B08-F2C7-17BB-66698029A1FC}"/>
              </a:ext>
            </a:extLst>
          </p:cNvPr>
          <p:cNvSpPr txBox="1"/>
          <p:nvPr/>
        </p:nvSpPr>
        <p:spPr>
          <a:xfrm>
            <a:off x="1085850" y="2863155"/>
            <a:ext cx="26479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42F2E"/>
                </a:solidFill>
                <a:latin typeface="Plus Jakarta Sans"/>
              </a:rPr>
              <a:t>Hetionet Knowledge Graph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29A1E91-8FCB-E869-AE38-0D2652B77135}"/>
              </a:ext>
            </a:extLst>
          </p:cNvPr>
          <p:cNvSpPr txBox="1"/>
          <p:nvPr/>
        </p:nvSpPr>
        <p:spPr>
          <a:xfrm>
            <a:off x="866775" y="3063180"/>
            <a:ext cx="28670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766E"/>
                </a:solidFill>
                <a:latin typeface="Plus Jakarta Sans"/>
              </a:rPr>
              <a:t>Comprehensive biological entity &amp; relation dataset integrating genes, diseases, compounds, and pathways.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344FA6F-6DD3-C8AA-946C-69BEB5A451F7}"/>
              </a:ext>
            </a:extLst>
          </p:cNvPr>
          <p:cNvSpPr txBox="1"/>
          <p:nvPr/>
        </p:nvSpPr>
        <p:spPr>
          <a:xfrm>
            <a:off x="1038225" y="3906738"/>
            <a:ext cx="2695575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42F2E"/>
                </a:solidFill>
                <a:latin typeface="Plus Jakarta Sans"/>
              </a:rPr>
              <a:t>Apache Parquet Storage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D48A73C-263A-0B77-6B87-B2A1120A61AE}"/>
              </a:ext>
            </a:extLst>
          </p:cNvPr>
          <p:cNvSpPr txBox="1"/>
          <p:nvPr/>
        </p:nvSpPr>
        <p:spPr>
          <a:xfrm>
            <a:off x="866775" y="4106763"/>
            <a:ext cx="28670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766E"/>
                </a:solidFill>
                <a:latin typeface="Plus Jakarta Sans"/>
              </a:rPr>
              <a:t>Stored in columnar Parquet format to ensure fast I/O performance and low memory overhead during execution.</a:t>
            </a:r>
          </a:p>
        </p:txBody>
      </p:sp>
      <p:pic>
        <p:nvPicPr>
          <p:cNvPr id="188" name="Picture 187" descr="image.png">
            <a:extLst>
              <a:ext uri="{FF2B5EF4-FFF2-40B4-BE49-F238E27FC236}">
                <a16:creationId xmlns:a16="http://schemas.microsoft.com/office/drawing/2014/main" id="{6483EB36-A78D-F4B3-540B-344CCD6FAD2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5812" y="2139255"/>
            <a:ext cx="219075" cy="171450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3F092A18-D6BD-62FD-3B18-52E37E5492DE}"/>
              </a:ext>
            </a:extLst>
          </p:cNvPr>
          <p:cNvSpPr txBox="1"/>
          <p:nvPr/>
        </p:nvSpPr>
        <p:spPr>
          <a:xfrm>
            <a:off x="4876800" y="2863155"/>
            <a:ext cx="26670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 dirty="0">
                <a:solidFill>
                  <a:srgbClr val="042F2E"/>
                </a:solidFill>
                <a:latin typeface="Plus Jakarta Sans"/>
              </a:rPr>
              <a:t>Typed Node/Edge Indexing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02D620BE-42A5-50B6-6CDD-AF5D2D82F00C}"/>
              </a:ext>
            </a:extLst>
          </p:cNvPr>
          <p:cNvSpPr txBox="1"/>
          <p:nvPr/>
        </p:nvSpPr>
        <p:spPr>
          <a:xfrm>
            <a:off x="4676775" y="3063180"/>
            <a:ext cx="28670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766E"/>
                </a:solidFill>
                <a:latin typeface="Plus Jakarta Sans"/>
              </a:rPr>
              <a:t>Systematic indexing of nodes and relations categorized strictly by biological type for heterogeneous processing.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7FD2B83-8BE3-C6DF-F7A4-AC62A5AC7459}"/>
              </a:ext>
            </a:extLst>
          </p:cNvPr>
          <p:cNvSpPr txBox="1"/>
          <p:nvPr/>
        </p:nvSpPr>
        <p:spPr>
          <a:xfrm>
            <a:off x="4895850" y="3906738"/>
            <a:ext cx="26479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42F2E"/>
                </a:solidFill>
                <a:latin typeface="Plus Jakarta Sans"/>
              </a:rPr>
              <a:t>PyG HeteroData Graph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E615020-D510-79A9-2846-FA83C6CA987D}"/>
              </a:ext>
            </a:extLst>
          </p:cNvPr>
          <p:cNvSpPr txBox="1"/>
          <p:nvPr/>
        </p:nvSpPr>
        <p:spPr>
          <a:xfrm>
            <a:off x="4676775" y="4106763"/>
            <a:ext cx="28670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766E"/>
                </a:solidFill>
                <a:latin typeface="Plus Jakarta Sans"/>
              </a:rPr>
              <a:t>Constructing PyTorch Geometric HeteroData objects along with SciPy Sparse Adjacency matrices for efficient representation.</a:t>
            </a:r>
          </a:p>
        </p:txBody>
      </p:sp>
      <p:pic>
        <p:nvPicPr>
          <p:cNvPr id="208" name="Picture 207" descr="image.png">
            <a:extLst>
              <a:ext uri="{FF2B5EF4-FFF2-40B4-BE49-F238E27FC236}">
                <a16:creationId xmlns:a16="http://schemas.microsoft.com/office/drawing/2014/main" id="{81355A0C-17E9-48FB-9AE8-0627A71AAF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20100" y="2139255"/>
            <a:ext cx="190500" cy="171450"/>
          </a:xfrm>
          <a:prstGeom prst="rect">
            <a:avLst/>
          </a:prstGeom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4CB1E739-7AA4-80A1-FC6C-DB939C1568D2}"/>
              </a:ext>
            </a:extLst>
          </p:cNvPr>
          <p:cNvSpPr txBox="1"/>
          <p:nvPr/>
        </p:nvSpPr>
        <p:spPr>
          <a:xfrm>
            <a:off x="8686800" y="2863155"/>
            <a:ext cx="26670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42F2E"/>
                </a:solidFill>
                <a:latin typeface="Plus Jakarta Sans"/>
              </a:rPr>
              <a:t>Leak-Free Pair Sampling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34BBEF5-E6B3-F41A-9DB0-9BDCDC504700}"/>
              </a:ext>
            </a:extLst>
          </p:cNvPr>
          <p:cNvSpPr txBox="1"/>
          <p:nvPr/>
        </p:nvSpPr>
        <p:spPr>
          <a:xfrm>
            <a:off x="8486775" y="3063180"/>
            <a:ext cx="28670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766E"/>
                </a:solidFill>
                <a:latin typeface="Plus Jakarta Sans"/>
              </a:rPr>
              <a:t>Rigorous positive &amp; negative Compound–Disease pair sampling engineered specifically to prevent data leakage.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96BF744-2801-A1BE-6E98-7CFDE705F339}"/>
              </a:ext>
            </a:extLst>
          </p:cNvPr>
          <p:cNvSpPr txBox="1"/>
          <p:nvPr/>
        </p:nvSpPr>
        <p:spPr>
          <a:xfrm>
            <a:off x="8686800" y="3906738"/>
            <a:ext cx="26670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42F2E"/>
                </a:solidFill>
                <a:latin typeface="Plus Jakarta Sans"/>
              </a:rPr>
              <a:t>Cross-Validation Ready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1D85484-9CC7-6A29-24A8-061FF21C2D01}"/>
              </a:ext>
            </a:extLst>
          </p:cNvPr>
          <p:cNvSpPr txBox="1"/>
          <p:nvPr/>
        </p:nvSpPr>
        <p:spPr>
          <a:xfrm>
            <a:off x="8486775" y="4106763"/>
            <a:ext cx="28670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766E"/>
                </a:solidFill>
                <a:latin typeface="Plus Jakarta Sans"/>
              </a:rPr>
              <a:t>Tailored sampling splits structured for multi-fold Cross-Validation, ensuring unbiased generalization testing.</a:t>
            </a:r>
          </a:p>
        </p:txBody>
      </p:sp>
      <p:pic>
        <p:nvPicPr>
          <p:cNvPr id="226" name="Picture 225" descr="image.png">
            <a:extLst>
              <a:ext uri="{FF2B5EF4-FFF2-40B4-BE49-F238E27FC236}">
                <a16:creationId xmlns:a16="http://schemas.microsoft.com/office/drawing/2014/main" id="{15DC06E2-CC55-5609-9386-95749CB207D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6775" y="2886967"/>
            <a:ext cx="142875" cy="123825"/>
          </a:xfrm>
          <a:prstGeom prst="rect">
            <a:avLst/>
          </a:prstGeom>
        </p:spPr>
      </p:pic>
      <p:pic>
        <p:nvPicPr>
          <p:cNvPr id="230" name="Picture 229" descr="image.png">
            <a:extLst>
              <a:ext uri="{FF2B5EF4-FFF2-40B4-BE49-F238E27FC236}">
                <a16:creationId xmlns:a16="http://schemas.microsoft.com/office/drawing/2014/main" id="{64C7BAC5-471B-7D67-FA52-311F3E3C84B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6775" y="3930550"/>
            <a:ext cx="95250" cy="123825"/>
          </a:xfrm>
          <a:prstGeom prst="rect">
            <a:avLst/>
          </a:prstGeom>
        </p:spPr>
      </p:pic>
      <p:pic>
        <p:nvPicPr>
          <p:cNvPr id="234" name="Picture 233" descr="image.png">
            <a:extLst>
              <a:ext uri="{FF2B5EF4-FFF2-40B4-BE49-F238E27FC236}">
                <a16:creationId xmlns:a16="http://schemas.microsoft.com/office/drawing/2014/main" id="{25149911-45D4-0625-CA14-59BE95CDF79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76775" y="2886967"/>
            <a:ext cx="123825" cy="123825"/>
          </a:xfrm>
          <a:prstGeom prst="rect">
            <a:avLst/>
          </a:prstGeom>
        </p:spPr>
      </p:pic>
      <p:pic>
        <p:nvPicPr>
          <p:cNvPr id="238" name="Picture 237" descr="image.png">
            <a:extLst>
              <a:ext uri="{FF2B5EF4-FFF2-40B4-BE49-F238E27FC236}">
                <a16:creationId xmlns:a16="http://schemas.microsoft.com/office/drawing/2014/main" id="{46FEFCB1-AC52-E1AF-B41A-B26982EECF3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76775" y="3930550"/>
            <a:ext cx="142875" cy="123825"/>
          </a:xfrm>
          <a:prstGeom prst="rect">
            <a:avLst/>
          </a:prstGeom>
        </p:spPr>
      </p:pic>
      <p:pic>
        <p:nvPicPr>
          <p:cNvPr id="242" name="Picture 241" descr="image.png">
            <a:extLst>
              <a:ext uri="{FF2B5EF4-FFF2-40B4-BE49-F238E27FC236}">
                <a16:creationId xmlns:a16="http://schemas.microsoft.com/office/drawing/2014/main" id="{BD22FFD1-FD34-98B0-2639-8F5BAA39945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86775" y="2886967"/>
            <a:ext cx="123825" cy="123825"/>
          </a:xfrm>
          <a:prstGeom prst="rect">
            <a:avLst/>
          </a:prstGeom>
        </p:spPr>
      </p:pic>
      <p:pic>
        <p:nvPicPr>
          <p:cNvPr id="244" name="Picture 243" descr="image.png">
            <a:extLst>
              <a:ext uri="{FF2B5EF4-FFF2-40B4-BE49-F238E27FC236}">
                <a16:creationId xmlns:a16="http://schemas.microsoft.com/office/drawing/2014/main" id="{DC787B0C-0EC9-3C6E-EA51-E210068C65F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86775" y="3930550"/>
            <a:ext cx="123825" cy="123825"/>
          </a:xfrm>
          <a:prstGeom prst="rect">
            <a:avLst/>
          </a:prstGeom>
        </p:spPr>
      </p:pic>
      <p:pic>
        <p:nvPicPr>
          <p:cNvPr id="246" name="Picture 245" descr="image.png">
            <a:extLst>
              <a:ext uri="{FF2B5EF4-FFF2-40B4-BE49-F238E27FC236}">
                <a16:creationId xmlns:a16="http://schemas.microsoft.com/office/drawing/2014/main" id="{F6AC24E9-7C9B-CAE7-3F52-9839378E3E7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A68208D9-8DE2-7893-3853-D575F004F94B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C233AF08-A513-0E1C-3BB7-88DC65AE8F4D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B2CDBAEA-4115-2037-816B-87C1D78BDBEF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6D972FE2-1619-7C67-2D46-46BB8BF506BE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C8001F6-BCB2-4CD6-B3B9-2BC21ED39ADA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3BC8A2C7-86DD-33C7-C053-A4885A4CECF4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28949EAA-2600-A382-718B-EA001B5C8BE9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0DBBC04D-94DD-35A6-2C58-63150188A27C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EDD2B17C-3739-70B0-54D0-ED35084467B1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EDEEE625-6E63-F52A-862F-4EF699F22636}"/>
              </a:ext>
            </a:extLst>
          </p:cNvPr>
          <p:cNvSpPr/>
          <p:nvPr/>
        </p:nvSpPr>
        <p:spPr>
          <a:xfrm>
            <a:off x="5038725" y="394893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2A3AE9-113D-FB51-95A6-D61403C3E36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9713" y="0"/>
            <a:ext cx="12152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BBF2E-DE72-530B-DF40-2CD21E0F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69168F5E-9880-ABAC-5FEF-6BF36B3F8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CAED5ED-B93D-1F04-0276-1BB1F2B3F404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9" name="Picture 218" descr="image.png">
            <a:extLst>
              <a:ext uri="{FF2B5EF4-FFF2-40B4-BE49-F238E27FC236}">
                <a16:creationId xmlns:a16="http://schemas.microsoft.com/office/drawing/2014/main" id="{636CF370-3163-1DBA-5A97-EA6DAAD80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350" y="-123110"/>
            <a:ext cx="9957902" cy="5601320"/>
          </a:xfrm>
          <a:prstGeom prst="rect">
            <a:avLst/>
          </a:prstGeom>
        </p:spPr>
      </p:pic>
      <p:pic>
        <p:nvPicPr>
          <p:cNvPr id="106" name="Picture 105" descr="image.png">
            <a:extLst>
              <a:ext uri="{FF2B5EF4-FFF2-40B4-BE49-F238E27FC236}">
                <a16:creationId xmlns:a16="http://schemas.microsoft.com/office/drawing/2014/main" id="{128F01FD-1B99-E017-A547-4FE37A6B5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56" y="6098273"/>
            <a:ext cx="8854728" cy="22512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F7F3D2F8-1AEB-77DF-4EDA-3803DDF22277}"/>
              </a:ext>
            </a:extLst>
          </p:cNvPr>
          <p:cNvSpPr txBox="1"/>
          <p:nvPr/>
        </p:nvSpPr>
        <p:spPr>
          <a:xfrm>
            <a:off x="476250" y="962025"/>
            <a:ext cx="1171575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US" sz="2800" b="1" dirty="0" err="1">
                <a:solidFill>
                  <a:srgbClr val="093832"/>
                </a:solidFill>
                <a:latin typeface="Merriweather"/>
                <a:ea typeface="Merriweather"/>
                <a:cs typeface="Merriweather"/>
                <a:sym typeface="Merriweather"/>
              </a:rPr>
              <a:t>Hetionet</a:t>
            </a:r>
            <a:r>
              <a:rPr lang="en-US" sz="2800" b="1" dirty="0">
                <a:solidFill>
                  <a:srgbClr val="093832"/>
                </a:solidFill>
                <a:latin typeface="Merriweather"/>
                <a:ea typeface="Merriweather"/>
                <a:cs typeface="Merriweather"/>
                <a:sym typeface="Merriweather"/>
              </a:rPr>
              <a:t> v1.0 Dataset Overview</a:t>
            </a:r>
            <a:endParaRPr lang="en-US" sz="2800" dirty="0"/>
          </a:p>
        </p:txBody>
      </p:sp>
      <p:pic>
        <p:nvPicPr>
          <p:cNvPr id="246" name="Picture 245" descr="image.png">
            <a:extLst>
              <a:ext uri="{FF2B5EF4-FFF2-40B4-BE49-F238E27FC236}">
                <a16:creationId xmlns:a16="http://schemas.microsoft.com/office/drawing/2014/main" id="{93CCB52D-E992-DAEA-4BBD-71C01269E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705B986F-4F70-3EFA-5BA9-AAAA60B7C8C6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6268D1D4-2AFC-A105-8D93-EF46C1EE93F1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B22387F8-1DB2-0D9C-E233-C7F6F960A14B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BC37A0D7-527F-146E-F37C-C9C9586002F9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068EB0DA-575B-8892-276E-E0CABADA1145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10CDB908-4893-670B-040D-48AF91005A20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5CA560D9-142E-3665-E94B-830D0C03F830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E76C39F3-4275-2303-7C93-E57A15F6205C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9625FD9F-5B20-B6C4-89C0-865713F65956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D868FE75-D209-D486-B2F1-7FD5AD4B8EAE}"/>
              </a:ext>
            </a:extLst>
          </p:cNvPr>
          <p:cNvSpPr/>
          <p:nvPr/>
        </p:nvSpPr>
        <p:spPr>
          <a:xfrm>
            <a:off x="5038725" y="394893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Google Shape;101;p14" descr="image.png">
            <a:extLst>
              <a:ext uri="{FF2B5EF4-FFF2-40B4-BE49-F238E27FC236}">
                <a16:creationId xmlns:a16="http://schemas.microsoft.com/office/drawing/2014/main" id="{CB8266B0-DD70-EBF5-13EF-E9468AB84D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743075"/>
            <a:ext cx="533400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103;p14" descr="image.png">
            <a:extLst>
              <a:ext uri="{FF2B5EF4-FFF2-40B4-BE49-F238E27FC236}">
                <a16:creationId xmlns:a16="http://schemas.microsoft.com/office/drawing/2014/main" id="{5F36A4B2-E800-47DC-0032-001921291E3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05225"/>
            <a:ext cx="53340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105;p14" descr="image.png">
            <a:extLst>
              <a:ext uri="{FF2B5EF4-FFF2-40B4-BE49-F238E27FC236}">
                <a16:creationId xmlns:a16="http://schemas.microsoft.com/office/drawing/2014/main" id="{291DC820-C242-A251-9718-EE41D3A9C84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2862" y="3529012"/>
            <a:ext cx="25812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107;p14">
            <a:extLst>
              <a:ext uri="{FF2B5EF4-FFF2-40B4-BE49-F238E27FC236}">
                <a16:creationId xmlns:a16="http://schemas.microsoft.com/office/drawing/2014/main" id="{FD8FCD5D-D78B-0829-FC77-ADC2730440F2}"/>
              </a:ext>
            </a:extLst>
          </p:cNvPr>
          <p:cNvSpPr txBox="1"/>
          <p:nvPr/>
        </p:nvSpPr>
        <p:spPr>
          <a:xfrm>
            <a:off x="847725" y="2362200"/>
            <a:ext cx="47815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4E47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62" name="Google Shape;108;p14">
            <a:extLst>
              <a:ext uri="{FF2B5EF4-FFF2-40B4-BE49-F238E27FC236}">
                <a16:creationId xmlns:a16="http://schemas.microsoft.com/office/drawing/2014/main" id="{8BE86C9B-3BF3-EC33-4FFA-21C14B95DBD8}"/>
              </a:ext>
            </a:extLst>
          </p:cNvPr>
          <p:cNvSpPr txBox="1"/>
          <p:nvPr/>
        </p:nvSpPr>
        <p:spPr>
          <a:xfrm>
            <a:off x="847725" y="3943350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93832"/>
                </a:solidFill>
                <a:latin typeface="Merriweather"/>
                <a:ea typeface="Merriweather"/>
                <a:cs typeface="Merriweather"/>
                <a:sym typeface="Merriweather"/>
              </a:rPr>
              <a:t>Biomedical Entities (11 Types)</a:t>
            </a:r>
            <a:endParaRPr/>
          </a:p>
        </p:txBody>
      </p:sp>
      <p:pic>
        <p:nvPicPr>
          <p:cNvPr id="64" name="Google Shape;109;p14" descr="image.png">
            <a:extLst>
              <a:ext uri="{FF2B5EF4-FFF2-40B4-BE49-F238E27FC236}">
                <a16:creationId xmlns:a16="http://schemas.microsoft.com/office/drawing/2014/main" id="{131FD8D9-2F03-5B08-6B86-00448CFBB30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725" y="4324350"/>
            <a:ext cx="16002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110;p14" descr="image.png">
            <a:extLst>
              <a:ext uri="{FF2B5EF4-FFF2-40B4-BE49-F238E27FC236}">
                <a16:creationId xmlns:a16="http://schemas.microsoft.com/office/drawing/2014/main" id="{33AD430B-CB02-61B9-5F8F-5A8341DF13D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524125" y="4324350"/>
            <a:ext cx="9715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111;p14" descr="image.png">
            <a:extLst>
              <a:ext uri="{FF2B5EF4-FFF2-40B4-BE49-F238E27FC236}">
                <a16:creationId xmlns:a16="http://schemas.microsoft.com/office/drawing/2014/main" id="{23AB9B47-433D-C723-E345-0742568E999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571875" y="4324350"/>
            <a:ext cx="7905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112;p14" descr="image.png">
            <a:extLst>
              <a:ext uri="{FF2B5EF4-FFF2-40B4-BE49-F238E27FC236}">
                <a16:creationId xmlns:a16="http://schemas.microsoft.com/office/drawing/2014/main" id="{F3CE5FA0-15D6-3727-B6EF-3EFF525817F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8650" y="4324350"/>
            <a:ext cx="1095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113;p14" descr="image.png">
            <a:extLst>
              <a:ext uri="{FF2B5EF4-FFF2-40B4-BE49-F238E27FC236}">
                <a16:creationId xmlns:a16="http://schemas.microsoft.com/office/drawing/2014/main" id="{B75DB33C-140E-3ED0-093C-607422F2B2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7725" y="4667250"/>
            <a:ext cx="11715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114;p14" descr="image.png">
            <a:extLst>
              <a:ext uri="{FF2B5EF4-FFF2-40B4-BE49-F238E27FC236}">
                <a16:creationId xmlns:a16="http://schemas.microsoft.com/office/drawing/2014/main" id="{CE52BDAB-6317-D2F4-06D2-DA8C4A12485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95500" y="4667250"/>
            <a:ext cx="1676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115;p14" descr="image.png">
            <a:extLst>
              <a:ext uri="{FF2B5EF4-FFF2-40B4-BE49-F238E27FC236}">
                <a16:creationId xmlns:a16="http://schemas.microsoft.com/office/drawing/2014/main" id="{E34E4242-B2E3-1258-8AAC-4C9C41A3DF82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848100" y="4667250"/>
            <a:ext cx="10858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116;p14" descr="image.png">
            <a:extLst>
              <a:ext uri="{FF2B5EF4-FFF2-40B4-BE49-F238E27FC236}">
                <a16:creationId xmlns:a16="http://schemas.microsoft.com/office/drawing/2014/main" id="{373414B5-9FE2-02E9-205F-4ED60CF8161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7725" y="5010150"/>
            <a:ext cx="16859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117;p14" descr="image.png">
            <a:extLst>
              <a:ext uri="{FF2B5EF4-FFF2-40B4-BE49-F238E27FC236}">
                <a16:creationId xmlns:a16="http://schemas.microsoft.com/office/drawing/2014/main" id="{98556AC8-45C3-BEE5-1FC5-52B3265D2978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62025" y="4391025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118;p14" descr="image.png">
            <a:extLst>
              <a:ext uri="{FF2B5EF4-FFF2-40B4-BE49-F238E27FC236}">
                <a16:creationId xmlns:a16="http://schemas.microsoft.com/office/drawing/2014/main" id="{03BDE158-7C93-9F26-5E15-7B51E8296571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638425" y="439102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119;p14" descr="image.png">
            <a:extLst>
              <a:ext uri="{FF2B5EF4-FFF2-40B4-BE49-F238E27FC236}">
                <a16:creationId xmlns:a16="http://schemas.microsoft.com/office/drawing/2014/main" id="{393468C1-1608-9603-590D-569A70FFC09C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686175" y="439102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120;p14" descr="image.png">
            <a:extLst>
              <a:ext uri="{FF2B5EF4-FFF2-40B4-BE49-F238E27FC236}">
                <a16:creationId xmlns:a16="http://schemas.microsoft.com/office/drawing/2014/main" id="{30F616C6-B484-0059-CEC7-9D4651F695E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552950" y="439102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121;p14" descr="image.png">
            <a:extLst>
              <a:ext uri="{FF2B5EF4-FFF2-40B4-BE49-F238E27FC236}">
                <a16:creationId xmlns:a16="http://schemas.microsoft.com/office/drawing/2014/main" id="{2CA6762D-55D9-0D7E-3F69-74BFB4A59ABB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962025" y="473392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122;p14" descr="image.png">
            <a:extLst>
              <a:ext uri="{FF2B5EF4-FFF2-40B4-BE49-F238E27FC236}">
                <a16:creationId xmlns:a16="http://schemas.microsoft.com/office/drawing/2014/main" id="{1004B05A-9628-D98A-7F82-84B1BBA193A8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2209800" y="4733925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123;p14" descr="image.png">
            <a:extLst>
              <a:ext uri="{FF2B5EF4-FFF2-40B4-BE49-F238E27FC236}">
                <a16:creationId xmlns:a16="http://schemas.microsoft.com/office/drawing/2014/main" id="{09B7B241-D608-5ED8-C2EF-0D0E19E030F5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962400" y="473392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124;p14" descr="image.png">
            <a:extLst>
              <a:ext uri="{FF2B5EF4-FFF2-40B4-BE49-F238E27FC236}">
                <a16:creationId xmlns:a16="http://schemas.microsoft.com/office/drawing/2014/main" id="{D4789D68-9979-3BE8-D47B-F322D9597C8C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962025" y="5076825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EB0012D-5D2B-C163-B908-7ECFF153C63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55161" y="1899899"/>
            <a:ext cx="4996676" cy="3519394"/>
          </a:xfrm>
          <a:prstGeom prst="rect">
            <a:avLst/>
          </a:prstGeom>
        </p:spPr>
      </p:pic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150288FC-9E53-85B3-0CF6-800C13C951A3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31897" y="1467282"/>
            <a:ext cx="1925385" cy="142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5;p14" descr="image.png">
            <a:extLst>
              <a:ext uri="{FF2B5EF4-FFF2-40B4-BE49-F238E27FC236}">
                <a16:creationId xmlns:a16="http://schemas.microsoft.com/office/drawing/2014/main" id="{967260C4-3AB6-4FC5-0B6B-35A787291695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2181855" y="1474155"/>
            <a:ext cx="1818240" cy="142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6;p14" descr="image.png">
            <a:extLst>
              <a:ext uri="{FF2B5EF4-FFF2-40B4-BE49-F238E27FC236}">
                <a16:creationId xmlns:a16="http://schemas.microsoft.com/office/drawing/2014/main" id="{FB59C4E4-4A42-0693-6B5C-7C1D0488DB98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4159157" y="1440103"/>
            <a:ext cx="1786882" cy="149316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9;p14">
            <a:extLst>
              <a:ext uri="{FF2B5EF4-FFF2-40B4-BE49-F238E27FC236}">
                <a16:creationId xmlns:a16="http://schemas.microsoft.com/office/drawing/2014/main" id="{826AFF1A-7B7A-D47B-EAE0-8E81614E52D9}"/>
              </a:ext>
            </a:extLst>
          </p:cNvPr>
          <p:cNvSpPr txBox="1"/>
          <p:nvPr/>
        </p:nvSpPr>
        <p:spPr>
          <a:xfrm>
            <a:off x="271002" y="2382495"/>
            <a:ext cx="186149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A635D"/>
                </a:solidFill>
                <a:latin typeface="DM Sans"/>
                <a:sym typeface="DM Sans"/>
              </a:rPr>
              <a:t>Public biomedical databases merged into a single network.</a:t>
            </a:r>
            <a:endParaRPr sz="800" dirty="0">
              <a:solidFill>
                <a:srgbClr val="4A635D"/>
              </a:solidFill>
              <a:latin typeface="DM Sans"/>
            </a:endParaRPr>
          </a:p>
        </p:txBody>
      </p:sp>
      <p:sp>
        <p:nvSpPr>
          <p:cNvPr id="13" name="Google Shape;100;p14">
            <a:extLst>
              <a:ext uri="{FF2B5EF4-FFF2-40B4-BE49-F238E27FC236}">
                <a16:creationId xmlns:a16="http://schemas.microsoft.com/office/drawing/2014/main" id="{7428B2AA-8FB1-ABAE-2BCD-D336545C8C57}"/>
              </a:ext>
            </a:extLst>
          </p:cNvPr>
          <p:cNvSpPr txBox="1"/>
          <p:nvPr/>
        </p:nvSpPr>
        <p:spPr>
          <a:xfrm>
            <a:off x="2269004" y="2408628"/>
            <a:ext cx="186149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A635D"/>
                </a:solidFill>
                <a:latin typeface="DM Sans"/>
                <a:sym typeface="DM Sans"/>
              </a:rPr>
              <a:t>Heterogeneous biological concepts and entities connected.</a:t>
            </a:r>
            <a:endParaRPr sz="800" dirty="0">
              <a:solidFill>
                <a:srgbClr val="4A635D"/>
              </a:solidFill>
              <a:latin typeface="DM Sans"/>
            </a:endParaRPr>
          </a:p>
        </p:txBody>
      </p:sp>
      <p:sp>
        <p:nvSpPr>
          <p:cNvPr id="15" name="Google Shape;101;p14">
            <a:extLst>
              <a:ext uri="{FF2B5EF4-FFF2-40B4-BE49-F238E27FC236}">
                <a16:creationId xmlns:a16="http://schemas.microsoft.com/office/drawing/2014/main" id="{1AF40EFB-D733-0062-959A-D84AAF9C9B2F}"/>
              </a:ext>
            </a:extLst>
          </p:cNvPr>
          <p:cNvSpPr txBox="1"/>
          <p:nvPr/>
        </p:nvSpPr>
        <p:spPr>
          <a:xfrm>
            <a:off x="4323915" y="2268908"/>
            <a:ext cx="186149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A635D"/>
                </a:solidFill>
                <a:latin typeface="DM Sans"/>
                <a:sym typeface="DM Sans"/>
              </a:rPr>
              <a:t>Documented interactions and therapeutic links across nodes</a:t>
            </a:r>
            <a:r>
              <a:rPr lang="en-US" sz="1000" b="0" i="0" u="none" strike="noStrike" cap="none" dirty="0">
                <a:solidFill>
                  <a:srgbClr val="4A635D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pic>
        <p:nvPicPr>
          <p:cNvPr id="19" name="Google Shape;103;p14" descr="image.png">
            <a:extLst>
              <a:ext uri="{FF2B5EF4-FFF2-40B4-BE49-F238E27FC236}">
                <a16:creationId xmlns:a16="http://schemas.microsoft.com/office/drawing/2014/main" id="{41A9ED6D-2DEB-4B83-584A-42F0E074A226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256665" y="1615042"/>
            <a:ext cx="297320" cy="29300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04;p14">
            <a:extLst>
              <a:ext uri="{FF2B5EF4-FFF2-40B4-BE49-F238E27FC236}">
                <a16:creationId xmlns:a16="http://schemas.microsoft.com/office/drawing/2014/main" id="{1EB414F7-9688-C5FB-5E1C-A3C1A324CD4F}"/>
              </a:ext>
            </a:extLst>
          </p:cNvPr>
          <p:cNvSpPr txBox="1"/>
          <p:nvPr/>
        </p:nvSpPr>
        <p:spPr>
          <a:xfrm>
            <a:off x="322732" y="1905629"/>
            <a:ext cx="186149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64338"/>
                </a:solidFill>
                <a:latin typeface="Merriweather"/>
                <a:sym typeface="Merriweather"/>
              </a:rPr>
              <a:t>29</a:t>
            </a:r>
            <a:endParaRPr sz="1600" b="1" dirty="0">
              <a:solidFill>
                <a:srgbClr val="064338"/>
              </a:solidFill>
              <a:latin typeface="Merriweather"/>
            </a:endParaRPr>
          </a:p>
        </p:txBody>
      </p:sp>
      <p:sp>
        <p:nvSpPr>
          <p:cNvPr id="24" name="Google Shape;105;p14">
            <a:extLst>
              <a:ext uri="{FF2B5EF4-FFF2-40B4-BE49-F238E27FC236}">
                <a16:creationId xmlns:a16="http://schemas.microsoft.com/office/drawing/2014/main" id="{B60C8C6A-30EA-A2A8-BC48-6C2FF148AFD2}"/>
              </a:ext>
            </a:extLst>
          </p:cNvPr>
          <p:cNvSpPr txBox="1"/>
          <p:nvPr/>
        </p:nvSpPr>
        <p:spPr>
          <a:xfrm>
            <a:off x="243481" y="2166122"/>
            <a:ext cx="18614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E2A28"/>
                </a:solidFill>
                <a:latin typeface="DM Sans"/>
                <a:sym typeface="DM Sans"/>
              </a:rPr>
              <a:t>Integrated Databases</a:t>
            </a:r>
            <a:endParaRPr sz="1200" b="1" dirty="0">
              <a:solidFill>
                <a:srgbClr val="1E2A28"/>
              </a:solidFill>
              <a:latin typeface="DM Sans"/>
            </a:endParaRPr>
          </a:p>
        </p:txBody>
      </p:sp>
      <p:pic>
        <p:nvPicPr>
          <p:cNvPr id="26" name="Google Shape;106;p14" descr="image.png">
            <a:extLst>
              <a:ext uri="{FF2B5EF4-FFF2-40B4-BE49-F238E27FC236}">
                <a16:creationId xmlns:a16="http://schemas.microsoft.com/office/drawing/2014/main" id="{019F7D9D-F57D-230A-A80B-C5BE5BDF2C4E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340917" y="1597505"/>
            <a:ext cx="29732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07;p14">
            <a:extLst>
              <a:ext uri="{FF2B5EF4-FFF2-40B4-BE49-F238E27FC236}">
                <a16:creationId xmlns:a16="http://schemas.microsoft.com/office/drawing/2014/main" id="{C16A56BA-B519-996B-9577-4A6E88837A2A}"/>
              </a:ext>
            </a:extLst>
          </p:cNvPr>
          <p:cNvSpPr txBox="1"/>
          <p:nvPr/>
        </p:nvSpPr>
        <p:spPr>
          <a:xfrm>
            <a:off x="2311866" y="1903393"/>
            <a:ext cx="186149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64338"/>
                </a:solidFill>
                <a:latin typeface="Merriweather"/>
                <a:sym typeface="Merriweather"/>
              </a:rPr>
              <a:t>47,000+</a:t>
            </a:r>
            <a:endParaRPr sz="1600" b="1" dirty="0">
              <a:solidFill>
                <a:srgbClr val="064338"/>
              </a:solidFill>
              <a:latin typeface="Merriweather"/>
            </a:endParaRPr>
          </a:p>
        </p:txBody>
      </p:sp>
      <p:sp>
        <p:nvSpPr>
          <p:cNvPr id="30" name="Google Shape;108;p14">
            <a:extLst>
              <a:ext uri="{FF2B5EF4-FFF2-40B4-BE49-F238E27FC236}">
                <a16:creationId xmlns:a16="http://schemas.microsoft.com/office/drawing/2014/main" id="{F5FC5FFB-499A-F667-AB6A-335EA46A4892}"/>
              </a:ext>
            </a:extLst>
          </p:cNvPr>
          <p:cNvSpPr txBox="1"/>
          <p:nvPr/>
        </p:nvSpPr>
        <p:spPr>
          <a:xfrm>
            <a:off x="2273809" y="2216873"/>
            <a:ext cx="18614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E2A28"/>
                </a:solidFill>
                <a:latin typeface="DM Sans"/>
                <a:sym typeface="DM Sans"/>
              </a:rPr>
              <a:t>Network Nodes</a:t>
            </a:r>
            <a:endParaRPr sz="1200" b="1" dirty="0">
              <a:solidFill>
                <a:srgbClr val="1E2A28"/>
              </a:solidFill>
              <a:latin typeface="DM Sans"/>
            </a:endParaRPr>
          </a:p>
        </p:txBody>
      </p:sp>
      <p:pic>
        <p:nvPicPr>
          <p:cNvPr id="32" name="Google Shape;109;p14" descr="image.png">
            <a:extLst>
              <a:ext uri="{FF2B5EF4-FFF2-40B4-BE49-F238E27FC236}">
                <a16:creationId xmlns:a16="http://schemas.microsoft.com/office/drawing/2014/main" id="{FEDE08A5-D979-EBCE-B313-FA5A3A3F9AC0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303822" y="1545486"/>
            <a:ext cx="286787" cy="28466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10;p14">
            <a:extLst>
              <a:ext uri="{FF2B5EF4-FFF2-40B4-BE49-F238E27FC236}">
                <a16:creationId xmlns:a16="http://schemas.microsoft.com/office/drawing/2014/main" id="{3A87121A-2C2C-8339-5FEA-2EC7420225C6}"/>
              </a:ext>
            </a:extLst>
          </p:cNvPr>
          <p:cNvSpPr txBox="1"/>
          <p:nvPr/>
        </p:nvSpPr>
        <p:spPr>
          <a:xfrm>
            <a:off x="4323915" y="1850958"/>
            <a:ext cx="186149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64338"/>
                </a:solidFill>
                <a:latin typeface="Merriweather"/>
                <a:sym typeface="Merriweather"/>
              </a:rPr>
              <a:t>2.25M</a:t>
            </a:r>
            <a:endParaRPr sz="1600" b="1" dirty="0">
              <a:solidFill>
                <a:srgbClr val="064338"/>
              </a:solidFill>
              <a:latin typeface="Merriweather"/>
            </a:endParaRPr>
          </a:p>
        </p:txBody>
      </p:sp>
      <p:sp>
        <p:nvSpPr>
          <p:cNvPr id="36" name="Google Shape;111;p14">
            <a:extLst>
              <a:ext uri="{FF2B5EF4-FFF2-40B4-BE49-F238E27FC236}">
                <a16:creationId xmlns:a16="http://schemas.microsoft.com/office/drawing/2014/main" id="{9BF72E01-3D45-1D03-6EAC-E8E64036E396}"/>
              </a:ext>
            </a:extLst>
          </p:cNvPr>
          <p:cNvSpPr txBox="1"/>
          <p:nvPr/>
        </p:nvSpPr>
        <p:spPr>
          <a:xfrm>
            <a:off x="4318568" y="2103133"/>
            <a:ext cx="18614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dirty="0">
                <a:solidFill>
                  <a:srgbClr val="1E2A28"/>
                </a:solidFill>
                <a:latin typeface="DM Sans"/>
                <a:sym typeface="DM Sans"/>
              </a:rPr>
              <a:t>Relationships</a:t>
            </a:r>
            <a:endParaRPr sz="1200" b="1" dirty="0">
              <a:solidFill>
                <a:srgbClr val="1E2A28"/>
              </a:solidFill>
              <a:latin typeface="DM Sans"/>
            </a:endParaRPr>
          </a:p>
        </p:txBody>
      </p:sp>
      <p:sp>
        <p:nvSpPr>
          <p:cNvPr id="42" name="Google Shape;114;p14">
            <a:extLst>
              <a:ext uri="{FF2B5EF4-FFF2-40B4-BE49-F238E27FC236}">
                <a16:creationId xmlns:a16="http://schemas.microsoft.com/office/drawing/2014/main" id="{6DEE101C-6CB8-08AE-6A78-5EEE1BACD317}"/>
              </a:ext>
            </a:extLst>
          </p:cNvPr>
          <p:cNvSpPr txBox="1"/>
          <p:nvPr/>
        </p:nvSpPr>
        <p:spPr>
          <a:xfrm>
            <a:off x="9122309" y="2076053"/>
            <a:ext cx="18614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E2A28"/>
                </a:solidFill>
                <a:latin typeface="DM Sans"/>
                <a:ea typeface="DM Sans"/>
                <a:cs typeface="DM Sans"/>
                <a:sym typeface="DM Sans"/>
              </a:rPr>
              <a:t>Drug Repurposing</a:t>
            </a:r>
            <a:endParaRPr sz="1600" dirty="0"/>
          </a:p>
        </p:txBody>
      </p:sp>
      <p:pic>
        <p:nvPicPr>
          <p:cNvPr id="44" name="Google Shape;115;p14" descr="image.png">
            <a:extLst>
              <a:ext uri="{FF2B5EF4-FFF2-40B4-BE49-F238E27FC236}">
                <a16:creationId xmlns:a16="http://schemas.microsoft.com/office/drawing/2014/main" id="{9EC67C8B-4A5D-E633-1576-D3D300EE9F91}"/>
              </a:ext>
            </a:extLst>
          </p:cNvPr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47152" y="1719817"/>
            <a:ext cx="168932" cy="14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16;p14" descr="image.png">
            <a:extLst>
              <a:ext uri="{FF2B5EF4-FFF2-40B4-BE49-F238E27FC236}">
                <a16:creationId xmlns:a16="http://schemas.microsoft.com/office/drawing/2014/main" id="{A6EF8DCC-F165-1921-9D5B-4F5FD20129A3}"/>
              </a:ext>
            </a:extLst>
          </p:cNvPr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2431404" y="1702281"/>
            <a:ext cx="168932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17;p14" descr="image.png">
            <a:extLst>
              <a:ext uri="{FF2B5EF4-FFF2-40B4-BE49-F238E27FC236}">
                <a16:creationId xmlns:a16="http://schemas.microsoft.com/office/drawing/2014/main" id="{06623F06-9CFD-1235-7BEA-1E795E037767}"/>
              </a:ext>
            </a:extLst>
          </p:cNvPr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408597" y="1650262"/>
            <a:ext cx="143393" cy="1423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5026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FE779-6DAE-6ADA-2E3C-A24E6F808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0497F100-70C3-3BB5-1AF7-F32062CA8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C908B45-2A0E-E2D5-8E81-DA7DC9A60C61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9" name="Picture 218" descr="image.png">
            <a:extLst>
              <a:ext uri="{FF2B5EF4-FFF2-40B4-BE49-F238E27FC236}">
                <a16:creationId xmlns:a16="http://schemas.microsoft.com/office/drawing/2014/main" id="{8326EA0A-2AFF-2446-E43F-14A926ED6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" y="-8335"/>
            <a:ext cx="12192000" cy="6858000"/>
          </a:xfrm>
          <a:prstGeom prst="rect">
            <a:avLst/>
          </a:prstGeom>
        </p:spPr>
      </p:pic>
      <p:pic>
        <p:nvPicPr>
          <p:cNvPr id="246" name="Picture 245" descr="image.png">
            <a:extLst>
              <a:ext uri="{FF2B5EF4-FFF2-40B4-BE49-F238E27FC236}">
                <a16:creationId xmlns:a16="http://schemas.microsoft.com/office/drawing/2014/main" id="{ABFA01CC-751D-0053-CCC4-CA149C0CF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E5CF054C-AE61-49D7-861E-BEFC51087DC8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85985C4C-557F-09DB-142F-65ADF7C25851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BCA8DE96-F30A-7FEC-C869-BBB52681FF1C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143E56A-14F0-838E-8982-5C8452C2D8E3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173F7166-F907-FAC9-5A73-89C04C74C5D1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672B695D-BF42-181D-B2F6-27CD4F187ADA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A9BBD1DC-17F0-EBE0-9F0E-7EDAD1A41C58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165DE3C-994E-13F5-3688-4394D27FC046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760E8F95-A07F-38CF-85A0-ED79D58ECED8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8CDE0F54-98DE-2D92-75B8-44AF8B132009}"/>
              </a:ext>
            </a:extLst>
          </p:cNvPr>
          <p:cNvSpPr/>
          <p:nvPr/>
        </p:nvSpPr>
        <p:spPr>
          <a:xfrm>
            <a:off x="5038725" y="394893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6" name="Google Shape;133;p15" descr="image.png">
            <a:extLst>
              <a:ext uri="{FF2B5EF4-FFF2-40B4-BE49-F238E27FC236}">
                <a16:creationId xmlns:a16="http://schemas.microsoft.com/office/drawing/2014/main" id="{A98E30D3-6640-53FF-2E64-36B2D4F7587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9352" y="1743075"/>
            <a:ext cx="5334000" cy="3757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4;p15" descr="image.png">
            <a:extLst>
              <a:ext uri="{FF2B5EF4-FFF2-40B4-BE49-F238E27FC236}">
                <a16:creationId xmlns:a16="http://schemas.microsoft.com/office/drawing/2014/main" id="{43C6D8BF-5C74-9081-905C-D86650AF29F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743075"/>
            <a:ext cx="53340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35;p15" descr="image.png">
            <a:extLst>
              <a:ext uri="{FF2B5EF4-FFF2-40B4-BE49-F238E27FC236}">
                <a16:creationId xmlns:a16="http://schemas.microsoft.com/office/drawing/2014/main" id="{2B188A90-59BD-F33C-B40F-DB85DDFD14C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557588"/>
            <a:ext cx="53340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36;p15" descr="image.png">
            <a:extLst>
              <a:ext uri="{FF2B5EF4-FFF2-40B4-BE49-F238E27FC236}">
                <a16:creationId xmlns:a16="http://schemas.microsoft.com/office/drawing/2014/main" id="{759153C7-0E0F-042E-6774-208D63A01A1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614988"/>
            <a:ext cx="11312870" cy="100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37;p15" descr="image.png">
            <a:extLst>
              <a:ext uri="{FF2B5EF4-FFF2-40B4-BE49-F238E27FC236}">
                <a16:creationId xmlns:a16="http://schemas.microsoft.com/office/drawing/2014/main" id="{10DF842F-E237-BFB6-6DF9-A8B80916DE5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62725" y="1981200"/>
            <a:ext cx="478155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39;p15" descr="image.png">
            <a:extLst>
              <a:ext uri="{FF2B5EF4-FFF2-40B4-BE49-F238E27FC236}">
                <a16:creationId xmlns:a16="http://schemas.microsoft.com/office/drawing/2014/main" id="{2BBC316F-9BBF-D76E-C796-EDD3B0803F4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97007" y="5786438"/>
            <a:ext cx="229552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40;p15" descr="image.png">
            <a:extLst>
              <a:ext uri="{FF2B5EF4-FFF2-40B4-BE49-F238E27FC236}">
                <a16:creationId xmlns:a16="http://schemas.microsoft.com/office/drawing/2014/main" id="{02592733-DB4C-7AC2-5BF6-B54FE8EC4E4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83032" y="5786438"/>
            <a:ext cx="229552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41;p15">
            <a:extLst>
              <a:ext uri="{FF2B5EF4-FFF2-40B4-BE49-F238E27FC236}">
                <a16:creationId xmlns:a16="http://schemas.microsoft.com/office/drawing/2014/main" id="{641CEF1D-75BE-CA1F-F668-DFD2BA8C74EC}"/>
              </a:ext>
            </a:extLst>
          </p:cNvPr>
          <p:cNvSpPr txBox="1"/>
          <p:nvPr/>
        </p:nvSpPr>
        <p:spPr>
          <a:xfrm>
            <a:off x="571500" y="10096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93832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 &amp; Benchmark Results</a:t>
            </a:r>
            <a:endParaRPr/>
          </a:p>
        </p:txBody>
      </p:sp>
      <p:sp>
        <p:nvSpPr>
          <p:cNvPr id="154" name="Google Shape;142;p15">
            <a:extLst>
              <a:ext uri="{FF2B5EF4-FFF2-40B4-BE49-F238E27FC236}">
                <a16:creationId xmlns:a16="http://schemas.microsoft.com/office/drawing/2014/main" id="{8D0A6DD1-3658-530C-A215-E9581BC4D808}"/>
              </a:ext>
            </a:extLst>
          </p:cNvPr>
          <p:cNvSpPr txBox="1"/>
          <p:nvPr/>
        </p:nvSpPr>
        <p:spPr>
          <a:xfrm>
            <a:off x="847725" y="1981200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93832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Hetionet?</a:t>
            </a:r>
            <a:endParaRPr/>
          </a:p>
        </p:txBody>
      </p:sp>
      <p:sp>
        <p:nvSpPr>
          <p:cNvPr id="156" name="Google Shape;143;p15">
            <a:extLst>
              <a:ext uri="{FF2B5EF4-FFF2-40B4-BE49-F238E27FC236}">
                <a16:creationId xmlns:a16="http://schemas.microsoft.com/office/drawing/2014/main" id="{9B742953-69D8-3450-EB8F-AF3CD869D377}"/>
              </a:ext>
            </a:extLst>
          </p:cNvPr>
          <p:cNvSpPr txBox="1"/>
          <p:nvPr/>
        </p:nvSpPr>
        <p:spPr>
          <a:xfrm>
            <a:off x="847725" y="3795712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93832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Integrated Data Sources</a:t>
            </a:r>
            <a:endParaRPr/>
          </a:p>
        </p:txBody>
      </p:sp>
      <p:sp>
        <p:nvSpPr>
          <p:cNvPr id="158" name="Google Shape;144;p15">
            <a:extLst>
              <a:ext uri="{FF2B5EF4-FFF2-40B4-BE49-F238E27FC236}">
                <a16:creationId xmlns:a16="http://schemas.microsoft.com/office/drawing/2014/main" id="{EA84D080-C8D0-AD8A-75F2-5DE552DC5FA6}"/>
              </a:ext>
            </a:extLst>
          </p:cNvPr>
          <p:cNvSpPr txBox="1"/>
          <p:nvPr/>
        </p:nvSpPr>
        <p:spPr>
          <a:xfrm>
            <a:off x="847725" y="4176712"/>
            <a:ext cx="4781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Constructed from 29 leading public repositories:</a:t>
            </a:r>
            <a:endParaRPr/>
          </a:p>
        </p:txBody>
      </p:sp>
      <p:sp>
        <p:nvSpPr>
          <p:cNvPr id="160" name="Google Shape;145;p15">
            <a:extLst>
              <a:ext uri="{FF2B5EF4-FFF2-40B4-BE49-F238E27FC236}">
                <a16:creationId xmlns:a16="http://schemas.microsoft.com/office/drawing/2014/main" id="{5CC4F173-5605-D733-3742-61711088717A}"/>
              </a:ext>
            </a:extLst>
          </p:cNvPr>
          <p:cNvSpPr txBox="1"/>
          <p:nvPr/>
        </p:nvSpPr>
        <p:spPr>
          <a:xfrm>
            <a:off x="753426" y="5738812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Drug-Disease Benchmark</a:t>
            </a:r>
            <a:endParaRPr dirty="0"/>
          </a:p>
        </p:txBody>
      </p:sp>
      <p:sp>
        <p:nvSpPr>
          <p:cNvPr id="162" name="Google Shape;146;p15">
            <a:extLst>
              <a:ext uri="{FF2B5EF4-FFF2-40B4-BE49-F238E27FC236}">
                <a16:creationId xmlns:a16="http://schemas.microsoft.com/office/drawing/2014/main" id="{2511586B-B66B-FF18-910C-AFDB69F3C8C2}"/>
              </a:ext>
            </a:extLst>
          </p:cNvPr>
          <p:cNvSpPr txBox="1"/>
          <p:nvPr/>
        </p:nvSpPr>
        <p:spPr>
          <a:xfrm>
            <a:off x="771014" y="6070401"/>
            <a:ext cx="4781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E0F2F1"/>
                </a:solidFill>
                <a:latin typeface="DM Sans"/>
                <a:ea typeface="DM Sans"/>
                <a:cs typeface="DM Sans"/>
                <a:sym typeface="DM Sans"/>
              </a:rPr>
              <a:t>Evaluated prediction accuracy for </a:t>
            </a:r>
            <a:r>
              <a:rPr lang="en-US" sz="1125" b="0" i="1" u="none" strike="noStrike" cap="none" dirty="0">
                <a:solidFill>
                  <a:srgbClr val="E0F2F1"/>
                </a:solidFill>
                <a:latin typeface="DM Sans"/>
                <a:ea typeface="DM Sans"/>
                <a:cs typeface="DM Sans"/>
                <a:sym typeface="DM Sans"/>
              </a:rPr>
              <a:t>"whether a drug can treat a disease"</a:t>
            </a:r>
            <a:r>
              <a:rPr lang="en-US" sz="1125" b="0" i="0" u="none" strike="noStrike" cap="none" dirty="0">
                <a:solidFill>
                  <a:srgbClr val="E0F2F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dirty="0"/>
          </a:p>
        </p:txBody>
      </p:sp>
      <p:sp>
        <p:nvSpPr>
          <p:cNvPr id="164" name="Google Shape;147;p15">
            <a:extLst>
              <a:ext uri="{FF2B5EF4-FFF2-40B4-BE49-F238E27FC236}">
                <a16:creationId xmlns:a16="http://schemas.microsoft.com/office/drawing/2014/main" id="{F9329309-71FA-5E5E-CA3D-45CFF2CE0FF3}"/>
              </a:ext>
            </a:extLst>
          </p:cNvPr>
          <p:cNvSpPr txBox="1"/>
          <p:nvPr/>
        </p:nvSpPr>
        <p:spPr>
          <a:xfrm>
            <a:off x="6562725" y="1952625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93832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Scale &amp; Metrics</a:t>
            </a:r>
            <a:endParaRPr/>
          </a:p>
        </p:txBody>
      </p:sp>
      <p:sp>
        <p:nvSpPr>
          <p:cNvPr id="166" name="Google Shape;148;p15">
            <a:extLst>
              <a:ext uri="{FF2B5EF4-FFF2-40B4-BE49-F238E27FC236}">
                <a16:creationId xmlns:a16="http://schemas.microsoft.com/office/drawing/2014/main" id="{DE79F476-A29A-2068-A1BA-11561B9BB1F3}"/>
              </a:ext>
            </a:extLst>
          </p:cNvPr>
          <p:cNvSpPr txBox="1"/>
          <p:nvPr/>
        </p:nvSpPr>
        <p:spPr>
          <a:xfrm>
            <a:off x="6562725" y="2362200"/>
            <a:ext cx="4781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4E47"/>
                </a:solidFill>
                <a:latin typeface="DM Sans"/>
                <a:ea typeface="DM Sans"/>
                <a:cs typeface="DM Sans"/>
                <a:sym typeface="DM Sans"/>
              </a:rPr>
              <a:t>Logarithmic breakdown of graph components in Hetionet v1.0:</a:t>
            </a:r>
            <a:endParaRPr/>
          </a:p>
        </p:txBody>
      </p:sp>
      <p:sp>
        <p:nvSpPr>
          <p:cNvPr id="168" name="Google Shape;150;p15">
            <a:extLst>
              <a:ext uri="{FF2B5EF4-FFF2-40B4-BE49-F238E27FC236}">
                <a16:creationId xmlns:a16="http://schemas.microsoft.com/office/drawing/2014/main" id="{6DE4F267-4AF4-4926-E6A8-728AF7FB02BF}"/>
              </a:ext>
            </a:extLst>
          </p:cNvPr>
          <p:cNvSpPr txBox="1"/>
          <p:nvPr/>
        </p:nvSpPr>
        <p:spPr>
          <a:xfrm>
            <a:off x="981075" y="236220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4E47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0" name="Google Shape;151;p15">
            <a:extLst>
              <a:ext uri="{FF2B5EF4-FFF2-40B4-BE49-F238E27FC236}">
                <a16:creationId xmlns:a16="http://schemas.microsoft.com/office/drawing/2014/main" id="{41F85CB0-DF1B-5F12-5A83-ACC4EDEED398}"/>
              </a:ext>
            </a:extLst>
          </p:cNvPr>
          <p:cNvSpPr txBox="1"/>
          <p:nvPr/>
        </p:nvSpPr>
        <p:spPr>
          <a:xfrm>
            <a:off x="1038225" y="2362200"/>
            <a:ext cx="4591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C4E47"/>
                </a:solidFill>
                <a:latin typeface="DM Sans"/>
                <a:ea typeface="DM Sans"/>
                <a:cs typeface="DM Sans"/>
                <a:sym typeface="DM Sans"/>
              </a:rPr>
              <a:t>Heterogeneous Network (HetNet):</a:t>
            </a:r>
            <a:r>
              <a:rPr lang="en-US" sz="1200" b="0" i="0" u="none" strike="noStrike" cap="none">
                <a:solidFill>
                  <a:srgbClr val="2C4E47"/>
                </a:solidFill>
                <a:latin typeface="DM Sans"/>
                <a:ea typeface="DM Sans"/>
                <a:cs typeface="DM Sans"/>
                <a:sym typeface="DM Sans"/>
              </a:rPr>
              <a:t> Integrates multi-type nodes and relationships.</a:t>
            </a:r>
            <a:endParaRPr/>
          </a:p>
        </p:txBody>
      </p:sp>
      <p:sp>
        <p:nvSpPr>
          <p:cNvPr id="172" name="Google Shape;152;p15">
            <a:extLst>
              <a:ext uri="{FF2B5EF4-FFF2-40B4-BE49-F238E27FC236}">
                <a16:creationId xmlns:a16="http://schemas.microsoft.com/office/drawing/2014/main" id="{D290530C-08F8-9BE0-868B-CF05FB6AEF8E}"/>
              </a:ext>
            </a:extLst>
          </p:cNvPr>
          <p:cNvSpPr txBox="1"/>
          <p:nvPr/>
        </p:nvSpPr>
        <p:spPr>
          <a:xfrm>
            <a:off x="981075" y="281940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4E47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4" name="Google Shape;153;p15">
            <a:extLst>
              <a:ext uri="{FF2B5EF4-FFF2-40B4-BE49-F238E27FC236}">
                <a16:creationId xmlns:a16="http://schemas.microsoft.com/office/drawing/2014/main" id="{8263DC6F-5C60-0807-E395-6671C3B52BB4}"/>
              </a:ext>
            </a:extLst>
          </p:cNvPr>
          <p:cNvSpPr txBox="1"/>
          <p:nvPr/>
        </p:nvSpPr>
        <p:spPr>
          <a:xfrm>
            <a:off x="1038225" y="2819400"/>
            <a:ext cx="45910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C4E47"/>
                </a:solidFill>
                <a:latin typeface="DM Sans"/>
                <a:ea typeface="DM Sans"/>
                <a:cs typeface="DM Sans"/>
                <a:sym typeface="DM Sans"/>
              </a:rPr>
              <a:t>Graph-Based Dataset:</a:t>
            </a:r>
            <a:r>
              <a:rPr lang="en-US" sz="1200" b="0" i="0" u="none" strike="noStrike" cap="none" dirty="0">
                <a:solidFill>
                  <a:srgbClr val="2C4E47"/>
                </a:solidFill>
                <a:latin typeface="DM Sans"/>
                <a:ea typeface="DM Sans"/>
                <a:cs typeface="DM Sans"/>
                <a:sym typeface="DM Sans"/>
              </a:rPr>
              <a:t> Built and queried using </a:t>
            </a:r>
            <a:r>
              <a:rPr lang="en-US" sz="1200" b="1" i="0" u="none" strike="noStrike" cap="none" dirty="0">
                <a:solidFill>
                  <a:srgbClr val="2C4E47"/>
                </a:solidFill>
                <a:latin typeface="DM Sans"/>
                <a:ea typeface="DM Sans"/>
                <a:cs typeface="DM Sans"/>
                <a:sym typeface="DM Sans"/>
              </a:rPr>
              <a:t>Neo4j</a:t>
            </a:r>
            <a:r>
              <a:rPr lang="en-US" sz="1200" b="0" i="0" u="none" strike="noStrike" cap="none" dirty="0">
                <a:solidFill>
                  <a:srgbClr val="2C4E47"/>
                </a:solidFill>
                <a:latin typeface="DM Sans"/>
                <a:ea typeface="DM Sans"/>
                <a:cs typeface="DM Sans"/>
                <a:sym typeface="DM Sans"/>
              </a:rPr>
              <a:t> graph database. </a:t>
            </a:r>
            <a:endParaRPr dirty="0"/>
          </a:p>
        </p:txBody>
      </p:sp>
      <p:pic>
        <p:nvPicPr>
          <p:cNvPr id="176" name="Google Shape;154;p15" descr="image.png">
            <a:extLst>
              <a:ext uri="{FF2B5EF4-FFF2-40B4-BE49-F238E27FC236}">
                <a16:creationId xmlns:a16="http://schemas.microsoft.com/office/drawing/2014/main" id="{5FF65ED0-2A95-9C97-377B-F0055DC5C48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7725" y="4471987"/>
            <a:ext cx="8286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55;p15" descr="image.png">
            <a:extLst>
              <a:ext uri="{FF2B5EF4-FFF2-40B4-BE49-F238E27FC236}">
                <a16:creationId xmlns:a16="http://schemas.microsoft.com/office/drawing/2014/main" id="{B30BED8F-1808-16B5-6F2E-3B95BFEB757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752600" y="4471987"/>
            <a:ext cx="7524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56;p15" descr="image.png">
            <a:extLst>
              <a:ext uri="{FF2B5EF4-FFF2-40B4-BE49-F238E27FC236}">
                <a16:creationId xmlns:a16="http://schemas.microsoft.com/office/drawing/2014/main" id="{7B408A68-F41E-A660-4B42-6CE5319DCACF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581275" y="4471987"/>
            <a:ext cx="8858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57;p15" descr="image.png">
            <a:extLst>
              <a:ext uri="{FF2B5EF4-FFF2-40B4-BE49-F238E27FC236}">
                <a16:creationId xmlns:a16="http://schemas.microsoft.com/office/drawing/2014/main" id="{FC8E0D63-85F6-1184-DF6D-5C101977E990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43300" y="4471987"/>
            <a:ext cx="981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58;p15" descr="image.png">
            <a:extLst>
              <a:ext uri="{FF2B5EF4-FFF2-40B4-BE49-F238E27FC236}">
                <a16:creationId xmlns:a16="http://schemas.microsoft.com/office/drawing/2014/main" id="{3A9BC46F-C4D1-1D5F-0D97-2890E2EF3A52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47725" y="4814887"/>
            <a:ext cx="1143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59;p15" descr="image.png">
            <a:extLst>
              <a:ext uri="{FF2B5EF4-FFF2-40B4-BE49-F238E27FC236}">
                <a16:creationId xmlns:a16="http://schemas.microsoft.com/office/drawing/2014/main" id="{8259C116-3B16-C9C4-95ED-705215196BF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066925" y="4814887"/>
            <a:ext cx="11715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60;p15" descr="image.png">
            <a:extLst>
              <a:ext uri="{FF2B5EF4-FFF2-40B4-BE49-F238E27FC236}">
                <a16:creationId xmlns:a16="http://schemas.microsoft.com/office/drawing/2014/main" id="{731012F0-57B2-A4C8-FC7A-5057FE641A1F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314700" y="4814887"/>
            <a:ext cx="8667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61;p15" descr="image.png">
            <a:extLst>
              <a:ext uri="{FF2B5EF4-FFF2-40B4-BE49-F238E27FC236}">
                <a16:creationId xmlns:a16="http://schemas.microsoft.com/office/drawing/2014/main" id="{C5FED74C-D6B5-636F-E808-C45F9C26D918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257675" y="4814887"/>
            <a:ext cx="11144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62;p15" descr="image.png">
            <a:extLst>
              <a:ext uri="{FF2B5EF4-FFF2-40B4-BE49-F238E27FC236}">
                <a16:creationId xmlns:a16="http://schemas.microsoft.com/office/drawing/2014/main" id="{9ADD235B-2136-DAE5-FAD8-7586B713F814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47725" y="5157787"/>
            <a:ext cx="581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63;p15">
            <a:extLst>
              <a:ext uri="{FF2B5EF4-FFF2-40B4-BE49-F238E27FC236}">
                <a16:creationId xmlns:a16="http://schemas.microsoft.com/office/drawing/2014/main" id="{1208F5DE-983C-C52D-AFF4-435466686D85}"/>
              </a:ext>
            </a:extLst>
          </p:cNvPr>
          <p:cNvSpPr txBox="1"/>
          <p:nvPr/>
        </p:nvSpPr>
        <p:spPr>
          <a:xfrm>
            <a:off x="6339882" y="5881688"/>
            <a:ext cx="20097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755</a:t>
            </a:r>
            <a:endParaRPr/>
          </a:p>
        </p:txBody>
      </p:sp>
      <p:sp>
        <p:nvSpPr>
          <p:cNvPr id="196" name="Google Shape;164;p15">
            <a:extLst>
              <a:ext uri="{FF2B5EF4-FFF2-40B4-BE49-F238E27FC236}">
                <a16:creationId xmlns:a16="http://schemas.microsoft.com/office/drawing/2014/main" id="{158AB318-0316-95A1-E16B-32811699211B}"/>
              </a:ext>
            </a:extLst>
          </p:cNvPr>
          <p:cNvSpPr txBox="1"/>
          <p:nvPr/>
        </p:nvSpPr>
        <p:spPr>
          <a:xfrm>
            <a:off x="6339882" y="6176963"/>
            <a:ext cx="20097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B2DFDB"/>
                </a:solidFill>
                <a:latin typeface="DM Sans"/>
                <a:ea typeface="DM Sans"/>
                <a:cs typeface="DM Sans"/>
                <a:sym typeface="DM Sans"/>
              </a:rPr>
              <a:t>Positive Treatments</a:t>
            </a:r>
            <a:endParaRPr/>
          </a:p>
        </p:txBody>
      </p:sp>
      <p:sp>
        <p:nvSpPr>
          <p:cNvPr id="198" name="Google Shape;165;p15">
            <a:extLst>
              <a:ext uri="{FF2B5EF4-FFF2-40B4-BE49-F238E27FC236}">
                <a16:creationId xmlns:a16="http://schemas.microsoft.com/office/drawing/2014/main" id="{9A236EC1-314E-7F5D-5BD6-53F8CF81C0C5}"/>
              </a:ext>
            </a:extLst>
          </p:cNvPr>
          <p:cNvSpPr txBox="1"/>
          <p:nvPr/>
        </p:nvSpPr>
        <p:spPr>
          <a:xfrm>
            <a:off x="8825907" y="5881688"/>
            <a:ext cx="20097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29,044</a:t>
            </a:r>
            <a:endParaRPr/>
          </a:p>
        </p:txBody>
      </p:sp>
      <p:sp>
        <p:nvSpPr>
          <p:cNvPr id="200" name="Google Shape;166;p15">
            <a:extLst>
              <a:ext uri="{FF2B5EF4-FFF2-40B4-BE49-F238E27FC236}">
                <a16:creationId xmlns:a16="http://schemas.microsoft.com/office/drawing/2014/main" id="{B0142303-6709-A267-0998-930F9F4B0CD8}"/>
              </a:ext>
            </a:extLst>
          </p:cNvPr>
          <p:cNvSpPr txBox="1"/>
          <p:nvPr/>
        </p:nvSpPr>
        <p:spPr>
          <a:xfrm>
            <a:off x="8825907" y="6176963"/>
            <a:ext cx="20097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B2DFDB"/>
                </a:solidFill>
                <a:latin typeface="DM Sans"/>
                <a:ea typeface="DM Sans"/>
                <a:cs typeface="DM Sans"/>
                <a:sym typeface="DM Sans"/>
              </a:rPr>
              <a:t>Negative Pairs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937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3607F-6471-0609-2BF5-BD50E750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BD032447-D7FF-078F-06AD-B790B1ED3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BCFF7E9E-04FC-027E-BE6A-60149D395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C2247B11-F555-F0E1-1014-3B3F5E9B5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86830"/>
            <a:ext cx="3619500" cy="4404419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410C9721-9DEC-A952-3BFB-837990CD6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1786830"/>
            <a:ext cx="3619500" cy="4404419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7F88261F-111A-C68C-C051-000723228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1786830"/>
            <a:ext cx="3619500" cy="4404419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439BE10B-D30D-2556-5DA4-3F7F501D1D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758380"/>
            <a:ext cx="3181350" cy="929282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12315ECD-D943-8CF2-B5A6-60879B2540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3801963"/>
            <a:ext cx="3181350" cy="929282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90E41EE9-1056-15FA-0151-F959138976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2758380"/>
            <a:ext cx="3181350" cy="940891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5E85AA72-32C4-87C3-E901-D5139AC4F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5325" y="3813571"/>
            <a:ext cx="3181350" cy="935087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C9F2866F-D049-ED30-1F2A-CBB46F144D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5325" y="2758380"/>
            <a:ext cx="3181350" cy="929282"/>
          </a:xfrm>
          <a:prstGeom prst="rect">
            <a:avLst/>
          </a:prstGeom>
        </p:spPr>
      </p:pic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B7EE9388-B621-581C-D5AE-7D88C92423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5325" y="3801963"/>
            <a:ext cx="3181350" cy="92928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3201A64-2FD5-E1CC-9D85-A29B4366B9E2}"/>
              </a:ext>
            </a:extLst>
          </p:cNvPr>
          <p:cNvSpPr txBox="1"/>
          <p:nvPr/>
        </p:nvSpPr>
        <p:spPr>
          <a:xfrm>
            <a:off x="476250" y="1396305"/>
            <a:ext cx="11239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766E"/>
                </a:solidFill>
                <a:latin typeface="Plus Jakarta Sans Medium"/>
              </a:rPr>
              <a:t>Translating GNN predictions into actionable clinical insights and transparent model decisions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B7E8ED-E822-88E6-AD59-3D885C3E30A3}"/>
              </a:ext>
            </a:extLst>
          </p:cNvPr>
          <p:cNvSpPr txBox="1"/>
          <p:nvPr/>
        </p:nvSpPr>
        <p:spPr>
          <a:xfrm>
            <a:off x="476250" y="6334125"/>
            <a:ext cx="1905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D9488"/>
                </a:solidFill>
                <a:latin typeface="Plus Jakarta Sans SemiBold"/>
              </a:rPr>
              <a:t>Model Output &amp; Explainability (XAI)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BE374-EB17-2505-24A1-74A772E805ED}"/>
              </a:ext>
            </a:extLst>
          </p:cNvPr>
          <p:cNvSpPr txBox="1"/>
          <p:nvPr/>
        </p:nvSpPr>
        <p:spPr>
          <a:xfrm>
            <a:off x="10258425" y="6334125"/>
            <a:ext cx="1457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D9488"/>
                </a:solidFill>
                <a:latin typeface="Plus Jakarta Sans SemiBold"/>
              </a:rPr>
              <a:t>Results &amp; Evaluation Phase</a:t>
            </a:r>
          </a:p>
        </p:txBody>
      </p:sp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19C79823-981A-9C68-3D2A-AF4CCB1E4C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57537" y="1986855"/>
            <a:ext cx="738187" cy="228600"/>
          </a:xfrm>
          <a:prstGeom prst="rect">
            <a:avLst/>
          </a:prstGeom>
        </p:spPr>
      </p:pic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8FCAA6DE-4012-930E-336F-DFF064771C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8487" y="1986855"/>
            <a:ext cx="757237" cy="228600"/>
          </a:xfrm>
          <a:prstGeom prst="rect">
            <a:avLst/>
          </a:prstGeom>
        </p:spPr>
      </p:pic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93067DE4-115E-F4E8-DA55-32445CC440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58487" y="1986855"/>
            <a:ext cx="757237" cy="228600"/>
          </a:xfrm>
          <a:prstGeom prst="rect">
            <a:avLst/>
          </a:prstGeom>
        </p:spPr>
      </p:pic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B3074740-4D3C-7C82-BAE2-70FFD119D2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5325" y="2024955"/>
            <a:ext cx="400050" cy="40005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2679B58-55A1-9026-B6DB-A047B799C83D}"/>
              </a:ext>
            </a:extLst>
          </p:cNvPr>
          <p:cNvSpPr txBox="1"/>
          <p:nvPr/>
        </p:nvSpPr>
        <p:spPr>
          <a:xfrm>
            <a:off x="1228725" y="2101155"/>
            <a:ext cx="234029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64E3B"/>
                </a:solidFill>
                <a:latin typeface="Space Grotesk"/>
              </a:rPr>
              <a:t>Drug Candidate Ranking</a:t>
            </a:r>
          </a:p>
        </p:txBody>
      </p:sp>
      <p:pic>
        <p:nvPicPr>
          <p:cNvPr id="60" name="Picture 59" descr="image.png">
            <a:extLst>
              <a:ext uri="{FF2B5EF4-FFF2-40B4-BE49-F238E27FC236}">
                <a16:creationId xmlns:a16="http://schemas.microsoft.com/office/drawing/2014/main" id="{5E652123-6485-D0AD-2AB2-C477CD42E6F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05325" y="2024955"/>
            <a:ext cx="400050" cy="40005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20F7AD31-BAE0-7ADF-BBB5-EF64FD1AFF3C}"/>
              </a:ext>
            </a:extLst>
          </p:cNvPr>
          <p:cNvSpPr txBox="1"/>
          <p:nvPr/>
        </p:nvSpPr>
        <p:spPr>
          <a:xfrm>
            <a:off x="5038725" y="2101155"/>
            <a:ext cx="24203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Space Grotesk"/>
              </a:rPr>
              <a:t>Dual-Layer Explainability</a:t>
            </a:r>
          </a:p>
        </p:txBody>
      </p:sp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01B07D90-1BD4-0E4D-37C8-048603D976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15325" y="2024955"/>
            <a:ext cx="400050" cy="40005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BE9E0EAC-772C-72E7-63F0-015A9137B89E}"/>
              </a:ext>
            </a:extLst>
          </p:cNvPr>
          <p:cNvSpPr txBox="1"/>
          <p:nvPr/>
        </p:nvSpPr>
        <p:spPr>
          <a:xfrm>
            <a:off x="8848725" y="2101155"/>
            <a:ext cx="152019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4E3B"/>
                </a:solidFill>
                <a:latin typeface="Space Grotesk"/>
              </a:rPr>
              <a:t>Model Artifacts</a:t>
            </a:r>
          </a:p>
        </p:txBody>
      </p:sp>
      <p:pic>
        <p:nvPicPr>
          <p:cNvPr id="68" name="Picture 67" descr="image.png">
            <a:extLst>
              <a:ext uri="{FF2B5EF4-FFF2-40B4-BE49-F238E27FC236}">
                <a16:creationId xmlns:a16="http://schemas.microsoft.com/office/drawing/2014/main" id="{661F05F5-83F8-0FC1-E3A6-F753C1F1604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00" y="2139255"/>
            <a:ext cx="190500" cy="17145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5DD1B999-1E10-3EE6-6F75-FFD7D1D2F148}"/>
              </a:ext>
            </a:extLst>
          </p:cNvPr>
          <p:cNvSpPr txBox="1"/>
          <p:nvPr/>
        </p:nvSpPr>
        <p:spPr>
          <a:xfrm>
            <a:off x="866775" y="3063180"/>
            <a:ext cx="28670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0F766E"/>
                </a:solidFill>
                <a:latin typeface="Plus Jakarta Sans"/>
              </a:rPr>
              <a:t>Ranks potential candidate compounds for any queried disease based on predicted probability scores.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7164790-687D-DD58-8243-C78CFD57F469}"/>
              </a:ext>
            </a:extLst>
          </p:cNvPr>
          <p:cNvSpPr txBox="1"/>
          <p:nvPr/>
        </p:nvSpPr>
        <p:spPr>
          <a:xfrm>
            <a:off x="1066800" y="3906738"/>
            <a:ext cx="26670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 dirty="0">
                <a:solidFill>
                  <a:srgbClr val="042F2E"/>
                </a:solidFill>
                <a:latin typeface="Plus Jakarta Sans"/>
              </a:rPr>
              <a:t>Targeted Repurposing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721EDC-3BE3-FFB7-8676-21F0C919843E}"/>
              </a:ext>
            </a:extLst>
          </p:cNvPr>
          <p:cNvSpPr txBox="1"/>
          <p:nvPr/>
        </p:nvSpPr>
        <p:spPr>
          <a:xfrm>
            <a:off x="866775" y="4106763"/>
            <a:ext cx="28670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766E"/>
                </a:solidFill>
                <a:latin typeface="Plus Jakarta Sans"/>
              </a:rPr>
              <a:t>Identifies high-confidence FDA-approved candidates to streamline drug discovery for pharmacological research.</a:t>
            </a:r>
          </a:p>
        </p:txBody>
      </p:sp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0B48C02D-B440-B2CE-4969-4417942D795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19625" y="2139255"/>
            <a:ext cx="171450" cy="17145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859122A3-8AA9-4C84-19FA-00FBF2E1D4EF}"/>
              </a:ext>
            </a:extLst>
          </p:cNvPr>
          <p:cNvSpPr txBox="1"/>
          <p:nvPr/>
        </p:nvSpPr>
        <p:spPr>
          <a:xfrm>
            <a:off x="4857750" y="2863155"/>
            <a:ext cx="26860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42F2E"/>
                </a:solidFill>
                <a:latin typeface="Plus Jakarta Sans"/>
              </a:rPr>
              <a:t>Biological Evidence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57088FD-70B1-7188-1BE2-D6CDC526EE98}"/>
              </a:ext>
            </a:extLst>
          </p:cNvPr>
          <p:cNvSpPr txBox="1"/>
          <p:nvPr/>
        </p:nvSpPr>
        <p:spPr>
          <a:xfrm>
            <a:off x="4676775" y="3063180"/>
            <a:ext cx="2867025" cy="53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766E"/>
                </a:solidFill>
                <a:latin typeface="Plus Jakarta Sans"/>
              </a:rPr>
              <a:t>Metapath lookup identifying shared genes (, , ) and cellular pathways ().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477C95D-CB05-9D65-9839-0B3D95C97609}"/>
              </a:ext>
            </a:extLst>
          </p:cNvPr>
          <p:cNvSpPr txBox="1"/>
          <p:nvPr/>
        </p:nvSpPr>
        <p:spPr>
          <a:xfrm>
            <a:off x="4876800" y="3918346"/>
            <a:ext cx="26670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42F2E"/>
                </a:solidFill>
                <a:latin typeface="Plus Jakarta Sans"/>
              </a:rPr>
              <a:t>Model Interpretability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81D2F98-3E9A-ED48-9C0F-B5A9185847FC}"/>
              </a:ext>
            </a:extLst>
          </p:cNvPr>
          <p:cNvSpPr txBox="1"/>
          <p:nvPr/>
        </p:nvSpPr>
        <p:spPr>
          <a:xfrm>
            <a:off x="4676775" y="4118371"/>
            <a:ext cx="2867025" cy="525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766E"/>
                </a:solidFill>
                <a:latin typeface="Plus Jakarta Sans"/>
              </a:rPr>
              <a:t>TreeSHAP feature importance paired with attention-based graph mask explanations via .</a:t>
            </a:r>
          </a:p>
        </p:txBody>
      </p:sp>
      <p:pic>
        <p:nvPicPr>
          <p:cNvPr id="86" name="Picture 85" descr="image.png">
            <a:extLst>
              <a:ext uri="{FF2B5EF4-FFF2-40B4-BE49-F238E27FC236}">
                <a16:creationId xmlns:a16="http://schemas.microsoft.com/office/drawing/2014/main" id="{01754E6A-4EA7-B405-B024-BE46BED9154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20100" y="2139255"/>
            <a:ext cx="190500" cy="17145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21204B57-6744-55CB-F628-E51F0C7B8B44}"/>
              </a:ext>
            </a:extLst>
          </p:cNvPr>
          <p:cNvSpPr txBox="1"/>
          <p:nvPr/>
        </p:nvSpPr>
        <p:spPr>
          <a:xfrm>
            <a:off x="8686800" y="2863155"/>
            <a:ext cx="26670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42F2E"/>
                </a:solidFill>
                <a:latin typeface="Plus Jakarta Sans"/>
              </a:rPr>
              <a:t>Performance Metrics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16AC2CE-1690-D114-99FF-D282ED9D9216}"/>
              </a:ext>
            </a:extLst>
          </p:cNvPr>
          <p:cNvSpPr txBox="1"/>
          <p:nvPr/>
        </p:nvSpPr>
        <p:spPr>
          <a:xfrm>
            <a:off x="8486775" y="3063180"/>
            <a:ext cx="28670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766E"/>
                </a:solidFill>
                <a:latin typeface="Plus Jakarta Sans"/>
              </a:rPr>
              <a:t>Automated generation of ROC and Precision-Recall (PR) curves alongside granular classification reports.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524094B-C0F7-7093-E6E4-A8BFD03041B5}"/>
              </a:ext>
            </a:extLst>
          </p:cNvPr>
          <p:cNvSpPr txBox="1"/>
          <p:nvPr/>
        </p:nvSpPr>
        <p:spPr>
          <a:xfrm>
            <a:off x="8686800" y="3906738"/>
            <a:ext cx="26670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 dirty="0">
                <a:solidFill>
                  <a:srgbClr val="042F2E"/>
                </a:solidFill>
                <a:latin typeface="Plus Jakarta Sans"/>
              </a:rPr>
              <a:t>Serialized Checkpoints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691312C-278F-34CD-0A91-461899E52935}"/>
              </a:ext>
            </a:extLst>
          </p:cNvPr>
          <p:cNvSpPr txBox="1"/>
          <p:nvPr/>
        </p:nvSpPr>
        <p:spPr>
          <a:xfrm>
            <a:off x="8486775" y="4106763"/>
            <a:ext cx="28670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0F766E"/>
                </a:solidFill>
                <a:latin typeface="Plus Jakarta Sans"/>
              </a:rPr>
              <a:t>Fully serialized model weights and evaluation logs ready for deployment and reproducible research.</a:t>
            </a:r>
          </a:p>
        </p:txBody>
      </p:sp>
      <p:pic>
        <p:nvPicPr>
          <p:cNvPr id="96" name="Picture 95" descr="image.png">
            <a:extLst>
              <a:ext uri="{FF2B5EF4-FFF2-40B4-BE49-F238E27FC236}">
                <a16:creationId xmlns:a16="http://schemas.microsoft.com/office/drawing/2014/main" id="{15A09001-9CBB-82A9-2489-9C1C03DF64C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6775" y="2886967"/>
            <a:ext cx="142875" cy="123825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52C0CA61-86BF-2D20-4123-8914586E9E7B}"/>
              </a:ext>
            </a:extLst>
          </p:cNvPr>
          <p:cNvSpPr txBox="1"/>
          <p:nvPr/>
        </p:nvSpPr>
        <p:spPr>
          <a:xfrm>
            <a:off x="1029364" y="2863155"/>
            <a:ext cx="1107254" cy="138499"/>
          </a:xfrm>
          <a:prstGeom prst="rect">
            <a:avLst/>
          </a:prstGeom>
          <a:solidFill>
            <a:srgbClr val="042F2E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ar-EG" sz="900" b="1" i="0" u="none" dirty="0">
                <a:solidFill>
                  <a:srgbClr val="5EEAD4"/>
                </a:solidFill>
                <a:latin typeface="monospace"/>
              </a:rPr>
              <a:t>     </a:t>
            </a:r>
            <a:r>
              <a:rPr sz="900" b="1" i="0" u="none" dirty="0" err="1">
                <a:solidFill>
                  <a:srgbClr val="5EEAD4"/>
                </a:solidFill>
                <a:latin typeface="monospace"/>
              </a:rPr>
              <a:t>get_top_drugs</a:t>
            </a:r>
            <a:r>
              <a:rPr sz="900" b="1" i="0" u="none" dirty="0">
                <a:solidFill>
                  <a:srgbClr val="5EEAD4"/>
                </a:solidFill>
                <a:latin typeface="monospace"/>
              </a:rPr>
              <a:t>()</a:t>
            </a:r>
          </a:p>
        </p:txBody>
      </p:sp>
      <p:pic>
        <p:nvPicPr>
          <p:cNvPr id="100" name="Picture 99" descr="image.png">
            <a:extLst>
              <a:ext uri="{FF2B5EF4-FFF2-40B4-BE49-F238E27FC236}">
                <a16:creationId xmlns:a16="http://schemas.microsoft.com/office/drawing/2014/main" id="{9D0C9F85-295F-BC5A-5D1F-96B450BC408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6775" y="3930550"/>
            <a:ext cx="123825" cy="123825"/>
          </a:xfrm>
          <a:prstGeom prst="rect">
            <a:avLst/>
          </a:prstGeom>
        </p:spPr>
      </p:pic>
      <p:pic>
        <p:nvPicPr>
          <p:cNvPr id="102" name="Picture 101" descr="image.png">
            <a:extLst>
              <a:ext uri="{FF2B5EF4-FFF2-40B4-BE49-F238E27FC236}">
                <a16:creationId xmlns:a16="http://schemas.microsoft.com/office/drawing/2014/main" id="{AA535FCB-3814-9EE9-04FC-E05D152A5B6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76775" y="2886967"/>
            <a:ext cx="104775" cy="123825"/>
          </a:xfrm>
          <a:prstGeom prst="rect">
            <a:avLst/>
          </a:prstGeom>
        </p:spPr>
      </p:pic>
      <p:pic>
        <p:nvPicPr>
          <p:cNvPr id="119" name="Picture 118" descr="image.png">
            <a:extLst>
              <a:ext uri="{FF2B5EF4-FFF2-40B4-BE49-F238E27FC236}">
                <a16:creationId xmlns:a16="http://schemas.microsoft.com/office/drawing/2014/main" id="{CD868A29-AC3E-4848-2FC3-E5CA5B5BD9E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76775" y="3942159"/>
            <a:ext cx="123825" cy="123825"/>
          </a:xfrm>
          <a:prstGeom prst="rect">
            <a:avLst/>
          </a:prstGeom>
        </p:spPr>
      </p:pic>
      <p:pic>
        <p:nvPicPr>
          <p:cNvPr id="123" name="Picture 122" descr="image.png">
            <a:extLst>
              <a:ext uri="{FF2B5EF4-FFF2-40B4-BE49-F238E27FC236}">
                <a16:creationId xmlns:a16="http://schemas.microsoft.com/office/drawing/2014/main" id="{14C6A8CC-6A97-DB2E-A3A9-2F4E502FD6E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76775" y="4474368"/>
            <a:ext cx="1143297" cy="171450"/>
          </a:xfrm>
          <a:prstGeom prst="rect">
            <a:avLst/>
          </a:prstGeom>
        </p:spPr>
      </p:pic>
      <p:pic>
        <p:nvPicPr>
          <p:cNvPr id="127" name="Picture 126" descr="image.png">
            <a:extLst>
              <a:ext uri="{FF2B5EF4-FFF2-40B4-BE49-F238E27FC236}">
                <a16:creationId xmlns:a16="http://schemas.microsoft.com/office/drawing/2014/main" id="{BA3A45BC-F149-A2FA-085F-B6E02949BEC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86775" y="2886967"/>
            <a:ext cx="123825" cy="123825"/>
          </a:xfrm>
          <a:prstGeom prst="rect">
            <a:avLst/>
          </a:prstGeom>
        </p:spPr>
      </p:pic>
      <p:pic>
        <p:nvPicPr>
          <p:cNvPr id="131" name="Picture 130" descr="image.png">
            <a:extLst>
              <a:ext uri="{FF2B5EF4-FFF2-40B4-BE49-F238E27FC236}">
                <a16:creationId xmlns:a16="http://schemas.microsoft.com/office/drawing/2014/main" id="{0E904636-CDF0-099B-DD7E-FEB7D5BFF97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86775" y="3930550"/>
            <a:ext cx="123825" cy="123825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CBE921E9-7EED-E2DC-6142-3D73C565C0C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70C8E772-257A-6183-FCFD-DA8F45E33E98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FFA7CB0-7021-5F3A-497E-792113D24C57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785FE38-0FBB-643A-10F6-E667B41580AF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CECF47B-8DDB-83E6-5A2A-3D461C075AA5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0448008-934F-25F4-D42B-C3F5E2CB28DD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52F6366-16A4-F190-D0DC-8AC90DA48871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A28EB89-7167-83D5-BA75-B8B0C59C7C19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8D55FB7-FA1D-C1B0-7DB7-A0C00AB651BC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40A86CA-3AD9-7304-3256-8E054D2CDC66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14D3A5C0-1D38-4E9A-5239-7D922C862C0A}"/>
              </a:ext>
            </a:extLst>
          </p:cNvPr>
          <p:cNvSpPr/>
          <p:nvPr/>
        </p:nvSpPr>
        <p:spPr>
          <a:xfrm>
            <a:off x="5017059" y="394857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C7B2987-9E77-F9EC-5267-2E3BEAB44449}"/>
              </a:ext>
            </a:extLst>
          </p:cNvPr>
          <p:cNvSpPr txBox="1"/>
          <p:nvPr/>
        </p:nvSpPr>
        <p:spPr>
          <a:xfrm>
            <a:off x="454842" y="932013"/>
            <a:ext cx="613110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E35"/>
                </a:solidFill>
                <a:latin typeface="Space Grotesk"/>
              </a:rPr>
              <a:t>Prediction Outputs &amp; Explainable AI (XAI)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F3A13-D7EB-35B3-3812-D688369E26D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15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18F26-6E62-3A84-65CA-51C19EE3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43C16D4-05F1-1AC0-DBC8-4AFF0AF94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F66210C-92D1-E25F-EDD4-F8EE7B4FC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83681C-1C3F-9816-E0D2-1C70C333711C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E020F-FD59-1867-A608-4C69676B2AC1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76EE8-A38E-1EB5-5D43-E876FDB66AA5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6B7FB27-4D90-B17B-1A8F-7530CDD43859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0DB5240-C97E-EA75-98D2-5F95A0322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75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CE5E5-4FAC-A5A7-640E-8FCA448F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20ECE00D-9EEB-7099-C91B-AD7758D14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4400" cy="7010401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AEC92D04-AB74-F9BF-FB53-69A90FC4F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C83129-059E-C2BD-AA6D-B796730ED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" y="0"/>
            <a:ext cx="11830050" cy="70103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0D21BD-124B-2E68-BDE7-BB454A91A3CD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D82BC9-1434-D798-F74C-00D78FD49270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0BA26C-A7F4-3A86-DA24-58B3FAF94EEF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1B0A91D-48EE-0320-9F6A-11F46CF5BE96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058B0-16AB-ABFE-99D9-8B2478942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4" y="0"/>
            <a:ext cx="12110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79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E26BD-6FB7-4D61-B8DD-FD4B6EE6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33FB8809-E4EE-4A9D-6EAC-A2C6CDE34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D4F7717-5470-7B0A-9B6A-F4C7A9EF027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54B4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107005" y="0"/>
            <a:ext cx="12298929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E85F9544-1784-965D-BE26-05F760481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084"/>
            <a:ext cx="3530500" cy="48179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9BF501-B68A-A40E-9FF7-EA08642A6EB7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31A25C-DB3C-B594-D942-412C5846E5DE}"/>
              </a:ext>
            </a:extLst>
          </p:cNvPr>
          <p:cNvSpPr txBox="1"/>
          <p:nvPr/>
        </p:nvSpPr>
        <p:spPr>
          <a:xfrm>
            <a:off x="768558" y="2270815"/>
            <a:ext cx="3266766" cy="3388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"/>
              </a:rPr>
              <a:t>Introduction</a:t>
            </a: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Problem Definition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Motivation &amp; Objectives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Implementation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Architecture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Methodology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Results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Future Work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References</a:t>
            </a:r>
            <a:endParaRPr lang="en-US" sz="1650" b="1" dirty="0">
              <a:solidFill>
                <a:srgbClr val="0B3C37"/>
              </a:solidFill>
              <a:latin typeface="Plus Jakarta Sans"/>
              <a:sym typeface="Apto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C1842E-71D2-D6C4-F18E-4805F26526F0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525D3999-CA04-79C0-0AA6-C90F9C50B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74" y="3124316"/>
            <a:ext cx="2792981" cy="14097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8F2711D-237A-1AC2-BAEB-2EC35C0B2837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DE5C8B-95E0-7930-ACDD-105E7A0A8446}"/>
              </a:ext>
            </a:extLst>
          </p:cNvPr>
          <p:cNvSpPr txBox="1"/>
          <p:nvPr/>
        </p:nvSpPr>
        <p:spPr>
          <a:xfrm>
            <a:off x="628650" y="390869"/>
            <a:ext cx="1543050" cy="1131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Plus Jakarta Sans"/>
                <a:sym typeface="Aptos Bold"/>
              </a:rPr>
              <a:t>Agenda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EE6C142-2297-B215-3A15-3B033AA763B2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62671-E71E-6A8E-480C-7A08735D5B7F}"/>
              </a:ext>
            </a:extLst>
          </p:cNvPr>
          <p:cNvSpPr txBox="1"/>
          <p:nvPr/>
        </p:nvSpPr>
        <p:spPr>
          <a:xfrm>
            <a:off x="4464516" y="3588318"/>
            <a:ext cx="3155886" cy="84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1462" lvl="1">
              <a:lnSpc>
                <a:spcPct val="150000"/>
              </a:lnSpc>
              <a:spcBef>
                <a:spcPct val="0"/>
              </a:spcBef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Architecture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291462" lvl="1">
              <a:lnSpc>
                <a:spcPct val="150000"/>
              </a:lnSpc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902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91501-2E67-F06A-94C0-34E14A5A6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E5D071F4-9DBB-8B7F-F539-AAE131951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BD353B15-CC8F-8E67-A57C-EE375D0CA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0E6D8489-25A4-D75F-732A-8AEBC75826DD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65C8E1E-83F4-D952-E431-B3CD85441DB6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F651C05-CE64-A951-B990-56EABB8B5760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E6BB9E0-98E5-7063-D265-067CFF019F81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783A70C-0843-1A56-A723-CD893B5704EF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BD36704-3CD2-E63C-2673-18E047D11FFA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FF6771E-A965-20F7-7E1D-778B8620F216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238F005-A259-FE73-3983-358502F1BF46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C4CCFE-0BD9-CF6B-6923-43794F298607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B44840B6-E900-BA2F-0DF3-F1569ADC6771}"/>
              </a:ext>
            </a:extLst>
          </p:cNvPr>
          <p:cNvSpPr/>
          <p:nvPr/>
        </p:nvSpPr>
        <p:spPr>
          <a:xfrm>
            <a:off x="6229116" y="410363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9DCF0D66-0C1F-AD77-0807-0C908FF3A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13" y="1822810"/>
            <a:ext cx="11506200" cy="158487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DDFB1CE9-01EB-DD3A-0981-54AE79C441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513" y="3560081"/>
            <a:ext cx="11506200" cy="158487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A3ED0AE-96DE-6439-E53C-CA72559AA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63" y="2299060"/>
            <a:ext cx="1967805" cy="946695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D4878098-8EAF-2FB5-5FD5-DD2353FD07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0768" y="2299060"/>
            <a:ext cx="1967805" cy="946695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B950511E-346E-41C4-F885-4353527164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3373" y="2399072"/>
            <a:ext cx="1967805" cy="74667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63E64907-E70D-C6C4-19DC-07A2F6FA59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5979" y="2299060"/>
            <a:ext cx="1967805" cy="94669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9F19E579-A70F-FD01-6808-BC325D5AC3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8584" y="2299060"/>
            <a:ext cx="1967805" cy="94669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E4422CBD-D0E0-8EAE-6613-7AE713BDDD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163" y="4036331"/>
            <a:ext cx="1967805" cy="946695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5C1A2DAF-334F-1B6C-FC5B-A18971B60F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0768" y="4036331"/>
            <a:ext cx="1967805" cy="946695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1DBD1222-6805-82C3-C1E2-51B5BC9189D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83373" y="4036331"/>
            <a:ext cx="1967805" cy="946695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B93F1863-DC4A-4E06-F3E2-2BCD9C8480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5979" y="4036331"/>
            <a:ext cx="1967805" cy="946695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F8472F14-06BE-1553-446A-E1FBF9CE37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8584" y="4036331"/>
            <a:ext cx="1967805" cy="94669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97DA521-EEA4-2172-6834-5D15554A4FAE}"/>
              </a:ext>
            </a:extLst>
          </p:cNvPr>
          <p:cNvSpPr txBox="1"/>
          <p:nvPr/>
        </p:nvSpPr>
        <p:spPr>
          <a:xfrm>
            <a:off x="685800" y="1026840"/>
            <a:ext cx="11453812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 dirty="0">
                <a:solidFill>
                  <a:srgbClr val="0F172A"/>
                </a:solidFill>
                <a:latin typeface="Plus Jakarta Sans ExtraBold"/>
              </a:rPr>
              <a:t>Dual-Branch Model Pipelines</a:t>
            </a:r>
          </a:p>
        </p:txBody>
      </p:sp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5B960B70-EADE-8C02-C6B0-47DA58FBCA6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0513" y="1079227"/>
            <a:ext cx="280987" cy="2286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CBB3C50-4834-30A1-D529-0BEB8D9E43DA}"/>
              </a:ext>
            </a:extLst>
          </p:cNvPr>
          <p:cNvSpPr txBox="1"/>
          <p:nvPr/>
        </p:nvSpPr>
        <p:spPr>
          <a:xfrm>
            <a:off x="3090863" y="1984735"/>
            <a:ext cx="850582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TxGNN Execution Pipeline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8A575E-7142-2C87-71B5-6250FABBB552}"/>
              </a:ext>
            </a:extLst>
          </p:cNvPr>
          <p:cNvSpPr txBox="1"/>
          <p:nvPr/>
        </p:nvSpPr>
        <p:spPr>
          <a:xfrm>
            <a:off x="3052763" y="3722006"/>
            <a:ext cx="854392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Random Walk + XGBoost Pipeline</a:t>
            </a:r>
          </a:p>
        </p:txBody>
      </p:sp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A702B95B-D363-328E-6DCD-21910D29200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8163" y="1984735"/>
            <a:ext cx="2552700" cy="200025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3B449EFF-255E-1C1B-47FC-69A624F5112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8163" y="3722006"/>
            <a:ext cx="2514600" cy="200025"/>
          </a:xfrm>
          <a:prstGeom prst="rect">
            <a:avLst/>
          </a:prstGeom>
        </p:spPr>
      </p:pic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D75402C5-F092-D553-A426-B1450EBC75D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413" y="2032360"/>
            <a:ext cx="119062" cy="10477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FF91E61-6748-FE5E-4504-A992AEA2F7CF}"/>
              </a:ext>
            </a:extLst>
          </p:cNvPr>
          <p:cNvSpPr txBox="1"/>
          <p:nvPr/>
        </p:nvSpPr>
        <p:spPr>
          <a:xfrm>
            <a:off x="1236315" y="2632435"/>
            <a:ext cx="5715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64748B"/>
                </a:solidFill>
                <a:latin typeface="Plus Jakarta Sans"/>
              </a:rPr>
              <a:t>INPUT DATA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085AFC-F0BE-EFBC-9314-39543EC8DE5D}"/>
              </a:ext>
            </a:extLst>
          </p:cNvPr>
          <p:cNvSpPr txBox="1"/>
          <p:nvPr/>
        </p:nvSpPr>
        <p:spPr>
          <a:xfrm>
            <a:off x="1183928" y="2784835"/>
            <a:ext cx="676275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>
                <a:solidFill>
                  <a:srgbClr val="0F172A"/>
                </a:solidFill>
                <a:latin typeface="Plus Jakarta Sans"/>
              </a:rPr>
              <a:t>Hetionet KG</a:t>
            </a:r>
          </a:p>
        </p:txBody>
      </p:sp>
      <p:pic>
        <p:nvPicPr>
          <p:cNvPr id="129" name="Picture 128" descr="image.png">
            <a:extLst>
              <a:ext uri="{FF2B5EF4-FFF2-40B4-BE49-F238E27FC236}">
                <a16:creationId xmlns:a16="http://schemas.microsoft.com/office/drawing/2014/main" id="{9AF2A8DA-4C3E-E71F-167C-C64955793AF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9165" y="2960006"/>
            <a:ext cx="685800" cy="161925"/>
          </a:xfrm>
          <a:prstGeom prst="rect">
            <a:avLst/>
          </a:prstGeom>
        </p:spPr>
      </p:pic>
      <p:pic>
        <p:nvPicPr>
          <p:cNvPr id="131" name="Picture 130" descr="image.png">
            <a:extLst>
              <a:ext uri="{FF2B5EF4-FFF2-40B4-BE49-F238E27FC236}">
                <a16:creationId xmlns:a16="http://schemas.microsoft.com/office/drawing/2014/main" id="{EBD13127-774A-E7D1-E69B-076C90A064A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20268" y="2715183"/>
            <a:ext cx="76200" cy="114300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D71BBE74-7D15-690E-3346-F50A77AD31C7}"/>
              </a:ext>
            </a:extLst>
          </p:cNvPr>
          <p:cNvSpPr txBox="1"/>
          <p:nvPr/>
        </p:nvSpPr>
        <p:spPr>
          <a:xfrm>
            <a:off x="3461296" y="2632435"/>
            <a:ext cx="666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64748B"/>
                </a:solidFill>
                <a:latin typeface="Plus Jakarta Sans"/>
              </a:rPr>
              <a:t>EMBEDDINGS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0DE0416-9B4C-A781-64B5-427EE28A6C13}"/>
              </a:ext>
            </a:extLst>
          </p:cNvPr>
          <p:cNvSpPr txBox="1"/>
          <p:nvPr/>
        </p:nvSpPr>
        <p:spPr>
          <a:xfrm>
            <a:off x="3389858" y="2784835"/>
            <a:ext cx="809625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>
                <a:solidFill>
                  <a:srgbClr val="0F172A"/>
                </a:solidFill>
                <a:latin typeface="Plus Jakarta Sans"/>
              </a:rPr>
              <a:t>2× GNN Layers</a:t>
            </a:r>
          </a:p>
        </p:txBody>
      </p:sp>
      <p:pic>
        <p:nvPicPr>
          <p:cNvPr id="138" name="Picture 137" descr="image.png">
            <a:extLst>
              <a:ext uri="{FF2B5EF4-FFF2-40B4-BE49-F238E27FC236}">
                <a16:creationId xmlns:a16="http://schemas.microsoft.com/office/drawing/2014/main" id="{E51164C3-4111-B0AB-D860-FD88D3419A9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51771" y="2960006"/>
            <a:ext cx="685800" cy="161925"/>
          </a:xfrm>
          <a:prstGeom prst="rect">
            <a:avLst/>
          </a:prstGeom>
        </p:spPr>
      </p:pic>
      <p:pic>
        <p:nvPicPr>
          <p:cNvPr id="141" name="Picture 140" descr="image.png">
            <a:extLst>
              <a:ext uri="{FF2B5EF4-FFF2-40B4-BE49-F238E27FC236}">
                <a16:creationId xmlns:a16="http://schemas.microsoft.com/office/drawing/2014/main" id="{15D72DAB-0BE6-260E-1145-1969604FB6D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92873" y="2715183"/>
            <a:ext cx="76200" cy="114300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E16F6A47-D19C-E371-D26D-EB61FF60E1B9}"/>
              </a:ext>
            </a:extLst>
          </p:cNvPr>
          <p:cNvSpPr txBox="1"/>
          <p:nvPr/>
        </p:nvSpPr>
        <p:spPr>
          <a:xfrm>
            <a:off x="5633889" y="2732447"/>
            <a:ext cx="8667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64748B"/>
                </a:solidFill>
                <a:latin typeface="Plus Jakarta Sans"/>
              </a:rPr>
              <a:t>LINK PREDICTION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EB5A206-F963-1FA7-220F-D5A768E29A1C}"/>
              </a:ext>
            </a:extLst>
          </p:cNvPr>
          <p:cNvSpPr txBox="1"/>
          <p:nvPr/>
        </p:nvSpPr>
        <p:spPr>
          <a:xfrm>
            <a:off x="5643414" y="2884847"/>
            <a:ext cx="847725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>
                <a:solidFill>
                  <a:srgbClr val="0F172A"/>
                </a:solidFill>
                <a:latin typeface="Plus Jakarta Sans"/>
              </a:rPr>
              <a:t>DistMult Scorer</a:t>
            </a:r>
          </a:p>
        </p:txBody>
      </p:sp>
      <p:pic>
        <p:nvPicPr>
          <p:cNvPr id="151" name="Picture 150" descr="image.png">
            <a:extLst>
              <a:ext uri="{FF2B5EF4-FFF2-40B4-BE49-F238E27FC236}">
                <a16:creationId xmlns:a16="http://schemas.microsoft.com/office/drawing/2014/main" id="{DDB5C195-C521-813B-8999-0CBE196E00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65479" y="2715183"/>
            <a:ext cx="76200" cy="114300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7EA9E956-FE4D-7B98-D09E-9CA09C349085}"/>
              </a:ext>
            </a:extLst>
          </p:cNvPr>
          <p:cNvSpPr txBox="1"/>
          <p:nvPr/>
        </p:nvSpPr>
        <p:spPr>
          <a:xfrm>
            <a:off x="8020794" y="2632435"/>
            <a:ext cx="6381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64748B"/>
                </a:solidFill>
                <a:latin typeface="Plus Jakarta Sans"/>
              </a:rPr>
              <a:t>EVALUATION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BA9530E-DAA7-F462-B485-06F1F0C4A404}"/>
              </a:ext>
            </a:extLst>
          </p:cNvPr>
          <p:cNvSpPr txBox="1"/>
          <p:nvPr/>
        </p:nvSpPr>
        <p:spPr>
          <a:xfrm>
            <a:off x="7877919" y="2784835"/>
            <a:ext cx="923925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>
                <a:solidFill>
                  <a:srgbClr val="0F172A"/>
                </a:solidFill>
                <a:latin typeface="Plus Jakarta Sans"/>
              </a:rPr>
              <a:t>Stratified 5-Fold</a:t>
            </a:r>
          </a:p>
        </p:txBody>
      </p:sp>
      <p:pic>
        <p:nvPicPr>
          <p:cNvPr id="161" name="Picture 160" descr="image.png">
            <a:extLst>
              <a:ext uri="{FF2B5EF4-FFF2-40B4-BE49-F238E27FC236}">
                <a16:creationId xmlns:a16="http://schemas.microsoft.com/office/drawing/2014/main" id="{18AA78A6-BD00-D6DF-0675-A92AFDF1451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25557" y="2960006"/>
            <a:ext cx="628650" cy="161925"/>
          </a:xfrm>
          <a:prstGeom prst="rect">
            <a:avLst/>
          </a:prstGeom>
        </p:spPr>
      </p:pic>
      <p:pic>
        <p:nvPicPr>
          <p:cNvPr id="164" name="Picture 163" descr="image.png">
            <a:extLst>
              <a:ext uri="{FF2B5EF4-FFF2-40B4-BE49-F238E27FC236}">
                <a16:creationId xmlns:a16="http://schemas.microsoft.com/office/drawing/2014/main" id="{B2458A09-6C30-07EF-4E56-D1ADE36B4AF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38084" y="2715183"/>
            <a:ext cx="76200" cy="114300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82E27CA3-391C-67DB-1A59-FEB311C1CBDF}"/>
              </a:ext>
            </a:extLst>
          </p:cNvPr>
          <p:cNvSpPr txBox="1"/>
          <p:nvPr/>
        </p:nvSpPr>
        <p:spPr>
          <a:xfrm>
            <a:off x="10160050" y="2632435"/>
            <a:ext cx="9048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5803D"/>
                </a:solidFill>
                <a:latin typeface="Plus Jakarta Sans"/>
              </a:rPr>
              <a:t>OUTPUT ARTIFACT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C8FE440-FF0F-C85D-CC43-0182D79D6852}"/>
              </a:ext>
            </a:extLst>
          </p:cNvPr>
          <p:cNvSpPr txBox="1"/>
          <p:nvPr/>
        </p:nvSpPr>
        <p:spPr>
          <a:xfrm>
            <a:off x="10264825" y="2784835"/>
            <a:ext cx="695325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>
                <a:solidFill>
                  <a:srgbClr val="14532D"/>
                </a:solidFill>
                <a:latin typeface="Plus Jakarta Sans"/>
              </a:rPr>
              <a:t>Probabilities</a:t>
            </a:r>
          </a:p>
        </p:txBody>
      </p:sp>
      <p:pic>
        <p:nvPicPr>
          <p:cNvPr id="172" name="Picture 171" descr="image.png">
            <a:extLst>
              <a:ext uri="{FF2B5EF4-FFF2-40B4-BE49-F238E27FC236}">
                <a16:creationId xmlns:a16="http://schemas.microsoft.com/office/drawing/2014/main" id="{10A7F6E5-E841-9A66-B2FF-9E580691306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26712" y="2960006"/>
            <a:ext cx="971550" cy="161925"/>
          </a:xfrm>
          <a:prstGeom prst="rect">
            <a:avLst/>
          </a:prstGeom>
        </p:spPr>
      </p:pic>
      <p:pic>
        <p:nvPicPr>
          <p:cNvPr id="174" name="Picture 173" descr="image.png">
            <a:extLst>
              <a:ext uri="{FF2B5EF4-FFF2-40B4-BE49-F238E27FC236}">
                <a16:creationId xmlns:a16="http://schemas.microsoft.com/office/drawing/2014/main" id="{0A3F39CE-D1C5-8285-CB58-FF80856FE9C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3413" y="3769631"/>
            <a:ext cx="100012" cy="104775"/>
          </a:xfrm>
          <a:prstGeom prst="rect">
            <a:avLst/>
          </a:prstGeom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1311146D-D43C-B6C9-D9E6-EAE1C3DEF0EA}"/>
              </a:ext>
            </a:extLst>
          </p:cNvPr>
          <p:cNvSpPr txBox="1"/>
          <p:nvPr/>
        </p:nvSpPr>
        <p:spPr>
          <a:xfrm>
            <a:off x="1191518" y="4369706"/>
            <a:ext cx="661094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64748B"/>
                </a:solidFill>
                <a:latin typeface="Plus Jakarta Sans"/>
              </a:rPr>
              <a:t>INPUT GRAPH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B4E6CA29-5CE9-0E51-5A52-3BCD1570828F}"/>
              </a:ext>
            </a:extLst>
          </p:cNvPr>
          <p:cNvSpPr txBox="1"/>
          <p:nvPr/>
        </p:nvSpPr>
        <p:spPr>
          <a:xfrm>
            <a:off x="1160115" y="4522106"/>
            <a:ext cx="723900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>
                <a:solidFill>
                  <a:srgbClr val="0F172A"/>
                </a:solidFill>
                <a:latin typeface="Plus Jakarta Sans"/>
              </a:rPr>
              <a:t>SparseGraph</a:t>
            </a:r>
          </a:p>
        </p:txBody>
      </p:sp>
      <p:pic>
        <p:nvPicPr>
          <p:cNvPr id="180" name="Picture 179" descr="image.png">
            <a:extLst>
              <a:ext uri="{FF2B5EF4-FFF2-40B4-BE49-F238E27FC236}">
                <a16:creationId xmlns:a16="http://schemas.microsoft.com/office/drawing/2014/main" id="{B43493A6-F463-DD3B-E952-761CB6A82A4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4865" y="4697276"/>
            <a:ext cx="914400" cy="161925"/>
          </a:xfrm>
          <a:prstGeom prst="rect">
            <a:avLst/>
          </a:prstGeom>
        </p:spPr>
      </p:pic>
      <p:pic>
        <p:nvPicPr>
          <p:cNvPr id="182" name="Picture 181" descr="image.png">
            <a:extLst>
              <a:ext uri="{FF2B5EF4-FFF2-40B4-BE49-F238E27FC236}">
                <a16:creationId xmlns:a16="http://schemas.microsoft.com/office/drawing/2014/main" id="{378FAD73-ACF3-FA45-312A-9B9965DF715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20268" y="4452454"/>
            <a:ext cx="76200" cy="114300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18F623F4-8AEB-A156-BCCC-7CD5B9CA064F}"/>
              </a:ext>
            </a:extLst>
          </p:cNvPr>
          <p:cNvSpPr txBox="1"/>
          <p:nvPr/>
        </p:nvSpPr>
        <p:spPr>
          <a:xfrm>
            <a:off x="3376464" y="4369706"/>
            <a:ext cx="836414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64748B"/>
                </a:solidFill>
                <a:latin typeface="Plus Jakarta Sans"/>
              </a:rPr>
              <a:t>RANDOM WALKS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703DF2A-1001-3DC0-BA1B-79ADDAC06252}"/>
              </a:ext>
            </a:extLst>
          </p:cNvPr>
          <p:cNvSpPr txBox="1"/>
          <p:nvPr/>
        </p:nvSpPr>
        <p:spPr>
          <a:xfrm>
            <a:off x="3375571" y="4522106"/>
            <a:ext cx="838200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>
                <a:solidFill>
                  <a:srgbClr val="0F172A"/>
                </a:solidFill>
                <a:latin typeface="Plus Jakarta Sans"/>
              </a:rPr>
              <a:t>Jaccard → W2V</a:t>
            </a:r>
          </a:p>
        </p:txBody>
      </p:sp>
      <p:pic>
        <p:nvPicPr>
          <p:cNvPr id="188" name="Picture 187" descr="image.png">
            <a:extLst>
              <a:ext uri="{FF2B5EF4-FFF2-40B4-BE49-F238E27FC236}">
                <a16:creationId xmlns:a16="http://schemas.microsoft.com/office/drawing/2014/main" id="{82275270-E2F7-6E95-5BBF-EE79DDE6CF8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94621" y="4697276"/>
            <a:ext cx="800100" cy="161925"/>
          </a:xfrm>
          <a:prstGeom prst="rect">
            <a:avLst/>
          </a:prstGeom>
        </p:spPr>
      </p:pic>
      <p:pic>
        <p:nvPicPr>
          <p:cNvPr id="190" name="Picture 189" descr="image.png">
            <a:extLst>
              <a:ext uri="{FF2B5EF4-FFF2-40B4-BE49-F238E27FC236}">
                <a16:creationId xmlns:a16="http://schemas.microsoft.com/office/drawing/2014/main" id="{B42E4560-E6C5-6132-AB53-7E2FF8E1C12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92873" y="4452454"/>
            <a:ext cx="76200" cy="114300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AD4A5620-4C7C-CF1D-B374-C7241476DC7F}"/>
              </a:ext>
            </a:extLst>
          </p:cNvPr>
          <p:cNvSpPr txBox="1"/>
          <p:nvPr/>
        </p:nvSpPr>
        <p:spPr>
          <a:xfrm>
            <a:off x="5645200" y="4369706"/>
            <a:ext cx="844004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64748B"/>
                </a:solidFill>
                <a:latin typeface="Plus Jakarta Sans"/>
              </a:rPr>
              <a:t>CLASSIFICATION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5306EB1-062D-A9A1-D745-0C271605E1C4}"/>
              </a:ext>
            </a:extLst>
          </p:cNvPr>
          <p:cNvSpPr txBox="1"/>
          <p:nvPr/>
        </p:nvSpPr>
        <p:spPr>
          <a:xfrm>
            <a:off x="5629126" y="4522106"/>
            <a:ext cx="876300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>
                <a:solidFill>
                  <a:srgbClr val="0F172A"/>
                </a:solidFill>
                <a:latin typeface="Plus Jakarta Sans"/>
              </a:rPr>
              <a:t>XGBoost Model</a:t>
            </a:r>
          </a:p>
        </p:txBody>
      </p:sp>
      <p:pic>
        <p:nvPicPr>
          <p:cNvPr id="196" name="Picture 195" descr="image.png">
            <a:extLst>
              <a:ext uri="{FF2B5EF4-FFF2-40B4-BE49-F238E27FC236}">
                <a16:creationId xmlns:a16="http://schemas.microsoft.com/office/drawing/2014/main" id="{310FE433-F119-D3C5-D5FD-F1AC6072119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38651" y="4697276"/>
            <a:ext cx="857250" cy="161925"/>
          </a:xfrm>
          <a:prstGeom prst="rect">
            <a:avLst/>
          </a:prstGeom>
        </p:spPr>
      </p:pic>
      <p:pic>
        <p:nvPicPr>
          <p:cNvPr id="198" name="Picture 197" descr="image.png">
            <a:extLst>
              <a:ext uri="{FF2B5EF4-FFF2-40B4-BE49-F238E27FC236}">
                <a16:creationId xmlns:a16="http://schemas.microsoft.com/office/drawing/2014/main" id="{3DB11063-2F1C-B019-33E3-538619AEA64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65479" y="4452454"/>
            <a:ext cx="76200" cy="114300"/>
          </a:xfrm>
          <a:prstGeom prst="rect">
            <a:avLst/>
          </a:prstGeom>
        </p:spPr>
      </p:pic>
      <p:sp>
        <p:nvSpPr>
          <p:cNvPr id="200" name="TextBox 199">
            <a:extLst>
              <a:ext uri="{FF2B5EF4-FFF2-40B4-BE49-F238E27FC236}">
                <a16:creationId xmlns:a16="http://schemas.microsoft.com/office/drawing/2014/main" id="{3F2ADD1D-71F3-3A64-75CC-48A5F95E8557}"/>
              </a:ext>
            </a:extLst>
          </p:cNvPr>
          <p:cNvSpPr txBox="1"/>
          <p:nvPr/>
        </p:nvSpPr>
        <p:spPr>
          <a:xfrm>
            <a:off x="8020794" y="4369706"/>
            <a:ext cx="6381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64748B"/>
                </a:solidFill>
                <a:latin typeface="Plus Jakarta Sans"/>
              </a:rPr>
              <a:t>EVALUATION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791B17B-30C3-8C24-E606-B422AECC7C6A}"/>
              </a:ext>
            </a:extLst>
          </p:cNvPr>
          <p:cNvSpPr txBox="1"/>
          <p:nvPr/>
        </p:nvSpPr>
        <p:spPr>
          <a:xfrm>
            <a:off x="7816007" y="4522106"/>
            <a:ext cx="1047750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>
                <a:solidFill>
                  <a:srgbClr val="0F172A"/>
                </a:solidFill>
                <a:latin typeface="Plus Jakarta Sans"/>
              </a:rPr>
              <a:t>Leak-Free 10-Fold</a:t>
            </a:r>
          </a:p>
        </p:txBody>
      </p:sp>
      <p:pic>
        <p:nvPicPr>
          <p:cNvPr id="204" name="Picture 203" descr="image.png">
            <a:extLst>
              <a:ext uri="{FF2B5EF4-FFF2-40B4-BE49-F238E27FC236}">
                <a16:creationId xmlns:a16="http://schemas.microsoft.com/office/drawing/2014/main" id="{14673534-D66B-F658-5E21-2894C875E9F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25557" y="4697276"/>
            <a:ext cx="628650" cy="161925"/>
          </a:xfrm>
          <a:prstGeom prst="rect">
            <a:avLst/>
          </a:prstGeom>
        </p:spPr>
      </p:pic>
      <p:pic>
        <p:nvPicPr>
          <p:cNvPr id="206" name="Picture 205" descr="image.png">
            <a:extLst>
              <a:ext uri="{FF2B5EF4-FFF2-40B4-BE49-F238E27FC236}">
                <a16:creationId xmlns:a16="http://schemas.microsoft.com/office/drawing/2014/main" id="{7C8D0868-98F2-87BF-3D06-ECD9FB375AB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38084" y="4452454"/>
            <a:ext cx="76200" cy="114300"/>
          </a:xfrm>
          <a:prstGeom prst="rect">
            <a:avLst/>
          </a:prstGeom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EC43FC59-A1D5-B5AC-17A6-66ED663A5A4F}"/>
              </a:ext>
            </a:extLst>
          </p:cNvPr>
          <p:cNvSpPr txBox="1"/>
          <p:nvPr/>
        </p:nvSpPr>
        <p:spPr>
          <a:xfrm>
            <a:off x="10160050" y="4369706"/>
            <a:ext cx="9048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5803D"/>
                </a:solidFill>
                <a:latin typeface="Plus Jakarta Sans"/>
              </a:rPr>
              <a:t>OUTPUT ARTIFACT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9D1D260-B7E8-A528-F460-B5BB92155931}"/>
              </a:ext>
            </a:extLst>
          </p:cNvPr>
          <p:cNvSpPr txBox="1"/>
          <p:nvPr/>
        </p:nvSpPr>
        <p:spPr>
          <a:xfrm>
            <a:off x="10298162" y="4522106"/>
            <a:ext cx="628650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>
                <a:solidFill>
                  <a:srgbClr val="14532D"/>
                </a:solidFill>
                <a:latin typeface="Plus Jakarta Sans"/>
              </a:rPr>
              <a:t>Predictions</a:t>
            </a:r>
          </a:p>
        </p:txBody>
      </p:sp>
      <p:pic>
        <p:nvPicPr>
          <p:cNvPr id="212" name="Picture 211" descr="image.png">
            <a:extLst>
              <a:ext uri="{FF2B5EF4-FFF2-40B4-BE49-F238E27FC236}">
                <a16:creationId xmlns:a16="http://schemas.microsoft.com/office/drawing/2014/main" id="{AEB4B479-E614-B226-C2F7-49A29094415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12412" y="4697276"/>
            <a:ext cx="1200150" cy="161925"/>
          </a:xfrm>
          <a:prstGeom prst="rect">
            <a:avLst/>
          </a:prstGeom>
        </p:spPr>
      </p:pic>
      <p:pic>
        <p:nvPicPr>
          <p:cNvPr id="214" name="Picture 213" descr="image.png">
            <a:extLst>
              <a:ext uri="{FF2B5EF4-FFF2-40B4-BE49-F238E27FC236}">
                <a16:creationId xmlns:a16="http://schemas.microsoft.com/office/drawing/2014/main" id="{E3FD50C7-FA36-970A-3E58-83B9DFF336E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26803" y="2422885"/>
            <a:ext cx="219075" cy="152400"/>
          </a:xfrm>
          <a:prstGeom prst="rect">
            <a:avLst/>
          </a:prstGeom>
        </p:spPr>
      </p:pic>
      <p:pic>
        <p:nvPicPr>
          <p:cNvPr id="216" name="Picture 215" descr="image.png">
            <a:extLst>
              <a:ext uri="{FF2B5EF4-FFF2-40B4-BE49-F238E27FC236}">
                <a16:creationId xmlns:a16="http://schemas.microsoft.com/office/drawing/2014/main" id="{A5CD4D9A-48CA-CD55-D12E-736C59B9C8B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603028" y="2432410"/>
            <a:ext cx="114300" cy="133350"/>
          </a:xfrm>
          <a:prstGeom prst="rect">
            <a:avLst/>
          </a:prstGeom>
        </p:spPr>
      </p:pic>
      <p:pic>
        <p:nvPicPr>
          <p:cNvPr id="218" name="Picture 217" descr="image.png">
            <a:extLst>
              <a:ext uri="{FF2B5EF4-FFF2-40B4-BE49-F238E27FC236}">
                <a16:creationId xmlns:a16="http://schemas.microsoft.com/office/drawing/2014/main" id="{4FF21C76-221A-243E-4754-A8968535457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570833" y="2422885"/>
            <a:ext cx="238125" cy="152400"/>
          </a:xfrm>
          <a:prstGeom prst="rect">
            <a:avLst/>
          </a:prstGeom>
        </p:spPr>
      </p:pic>
      <p:pic>
        <p:nvPicPr>
          <p:cNvPr id="220" name="Picture 219" descr="image.png">
            <a:extLst>
              <a:ext uri="{FF2B5EF4-FFF2-40B4-BE49-F238E27FC236}">
                <a16:creationId xmlns:a16="http://schemas.microsoft.com/office/drawing/2014/main" id="{81F00C6B-58F8-5441-87FF-C4D1B05B4A0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866108" y="2432410"/>
            <a:ext cx="152400" cy="133350"/>
          </a:xfrm>
          <a:prstGeom prst="rect">
            <a:avLst/>
          </a:prstGeom>
        </p:spPr>
      </p:pic>
      <p:pic>
        <p:nvPicPr>
          <p:cNvPr id="222" name="Picture 221" descr="image.png">
            <a:extLst>
              <a:ext uri="{FF2B5EF4-FFF2-40B4-BE49-F238E27FC236}">
                <a16:creationId xmlns:a16="http://schemas.microsoft.com/office/drawing/2014/main" id="{C31BD6FA-83FA-12EE-EE56-1F96F362BAB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867251" y="2522897"/>
            <a:ext cx="238125" cy="152400"/>
          </a:xfrm>
          <a:prstGeom prst="rect">
            <a:avLst/>
          </a:prstGeom>
        </p:spPr>
      </p:pic>
      <p:pic>
        <p:nvPicPr>
          <p:cNvPr id="224" name="Picture 223" descr="image.png">
            <a:extLst>
              <a:ext uri="{FF2B5EF4-FFF2-40B4-BE49-F238E27FC236}">
                <a16:creationId xmlns:a16="http://schemas.microsoft.com/office/drawing/2014/main" id="{4A5AE9A8-25A8-187F-9E44-D3A0A9732C4C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162526" y="2532422"/>
            <a:ext cx="104775" cy="133350"/>
          </a:xfrm>
          <a:prstGeom prst="rect">
            <a:avLst/>
          </a:prstGeom>
        </p:spPr>
      </p:pic>
      <p:pic>
        <p:nvPicPr>
          <p:cNvPr id="226" name="Picture 225" descr="image.png">
            <a:extLst>
              <a:ext uri="{FF2B5EF4-FFF2-40B4-BE49-F238E27FC236}">
                <a16:creationId xmlns:a16="http://schemas.microsoft.com/office/drawing/2014/main" id="{6DB00DE0-9574-1B61-75B2-9AA1C7C8585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130332" y="2422885"/>
            <a:ext cx="247650" cy="152400"/>
          </a:xfrm>
          <a:prstGeom prst="rect">
            <a:avLst/>
          </a:prstGeom>
        </p:spPr>
      </p:pic>
      <p:pic>
        <p:nvPicPr>
          <p:cNvPr id="228" name="Picture 227" descr="image.png">
            <a:extLst>
              <a:ext uri="{FF2B5EF4-FFF2-40B4-BE49-F238E27FC236}">
                <a16:creationId xmlns:a16="http://schemas.microsoft.com/office/drawing/2014/main" id="{6078D2A4-3ADB-5D11-DFD9-E1476843C01C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435132" y="2432410"/>
            <a:ext cx="114300" cy="133350"/>
          </a:xfrm>
          <a:prstGeom prst="rect">
            <a:avLst/>
          </a:prstGeom>
        </p:spPr>
      </p:pic>
      <p:pic>
        <p:nvPicPr>
          <p:cNvPr id="230" name="Picture 229" descr="image.png">
            <a:extLst>
              <a:ext uri="{FF2B5EF4-FFF2-40B4-BE49-F238E27FC236}">
                <a16:creationId xmlns:a16="http://schemas.microsoft.com/office/drawing/2014/main" id="{AC22A942-8175-D9F1-8A53-66F736D9DC3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388650" y="2422885"/>
            <a:ext cx="238125" cy="152400"/>
          </a:xfrm>
          <a:prstGeom prst="rect">
            <a:avLst/>
          </a:prstGeom>
        </p:spPr>
      </p:pic>
      <p:pic>
        <p:nvPicPr>
          <p:cNvPr id="232" name="Picture 231" descr="image.png">
            <a:extLst>
              <a:ext uri="{FF2B5EF4-FFF2-40B4-BE49-F238E27FC236}">
                <a16:creationId xmlns:a16="http://schemas.microsoft.com/office/drawing/2014/main" id="{40D60C82-9982-9B67-5FC5-02D4006F79C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683925" y="2432410"/>
            <a:ext cx="152400" cy="133350"/>
          </a:xfrm>
          <a:prstGeom prst="rect">
            <a:avLst/>
          </a:prstGeom>
        </p:spPr>
      </p:pic>
      <p:pic>
        <p:nvPicPr>
          <p:cNvPr id="234" name="Picture 233" descr="image.png">
            <a:extLst>
              <a:ext uri="{FF2B5EF4-FFF2-40B4-BE49-F238E27FC236}">
                <a16:creationId xmlns:a16="http://schemas.microsoft.com/office/drawing/2014/main" id="{F60490F7-205B-C124-D105-214AC778B23B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326803" y="4160156"/>
            <a:ext cx="219075" cy="152400"/>
          </a:xfrm>
          <a:prstGeom prst="rect">
            <a:avLst/>
          </a:prstGeom>
        </p:spPr>
      </p:pic>
      <p:pic>
        <p:nvPicPr>
          <p:cNvPr id="236" name="Picture 235" descr="image.png">
            <a:extLst>
              <a:ext uri="{FF2B5EF4-FFF2-40B4-BE49-F238E27FC236}">
                <a16:creationId xmlns:a16="http://schemas.microsoft.com/office/drawing/2014/main" id="{35029B0E-2DD9-A823-9F90-52D9A486FB07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603028" y="4169681"/>
            <a:ext cx="114300" cy="133350"/>
          </a:xfrm>
          <a:prstGeom prst="rect">
            <a:avLst/>
          </a:prstGeom>
        </p:spPr>
      </p:pic>
      <p:pic>
        <p:nvPicPr>
          <p:cNvPr id="238" name="Picture 237" descr="image.png">
            <a:extLst>
              <a:ext uri="{FF2B5EF4-FFF2-40B4-BE49-F238E27FC236}">
                <a16:creationId xmlns:a16="http://schemas.microsoft.com/office/drawing/2014/main" id="{1B0CA933-AA69-EF92-6D1A-696BBB07EA14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561308" y="4160156"/>
            <a:ext cx="238125" cy="152400"/>
          </a:xfrm>
          <a:prstGeom prst="rect">
            <a:avLst/>
          </a:prstGeom>
        </p:spPr>
      </p:pic>
      <p:pic>
        <p:nvPicPr>
          <p:cNvPr id="240" name="Picture 239" descr="image.png">
            <a:extLst>
              <a:ext uri="{FF2B5EF4-FFF2-40B4-BE49-F238E27FC236}">
                <a16:creationId xmlns:a16="http://schemas.microsoft.com/office/drawing/2014/main" id="{BBC13199-16F6-0312-D0C6-258F1C2FDF88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56583" y="4169681"/>
            <a:ext cx="171450" cy="133350"/>
          </a:xfrm>
          <a:prstGeom prst="rect">
            <a:avLst/>
          </a:prstGeom>
        </p:spPr>
      </p:pic>
      <p:pic>
        <p:nvPicPr>
          <p:cNvPr id="242" name="Picture 241" descr="image.png">
            <a:extLst>
              <a:ext uri="{FF2B5EF4-FFF2-40B4-BE49-F238E27FC236}">
                <a16:creationId xmlns:a16="http://schemas.microsoft.com/office/drawing/2014/main" id="{7FE663D1-67A5-FC5C-D4FB-1985558C0DD8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862489" y="4160156"/>
            <a:ext cx="238125" cy="152400"/>
          </a:xfrm>
          <a:prstGeom prst="rect">
            <a:avLst/>
          </a:prstGeom>
        </p:spPr>
      </p:pic>
      <p:pic>
        <p:nvPicPr>
          <p:cNvPr id="244" name="Picture 243" descr="image.png">
            <a:extLst>
              <a:ext uri="{FF2B5EF4-FFF2-40B4-BE49-F238E27FC236}">
                <a16:creationId xmlns:a16="http://schemas.microsoft.com/office/drawing/2014/main" id="{13D02F5A-EFE8-0174-EAB2-5E882AE88D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157764" y="4169681"/>
            <a:ext cx="114300" cy="133350"/>
          </a:xfrm>
          <a:prstGeom prst="rect">
            <a:avLst/>
          </a:prstGeom>
        </p:spPr>
      </p:pic>
      <p:pic>
        <p:nvPicPr>
          <p:cNvPr id="246" name="Picture 245" descr="image.png">
            <a:extLst>
              <a:ext uri="{FF2B5EF4-FFF2-40B4-BE49-F238E27FC236}">
                <a16:creationId xmlns:a16="http://schemas.microsoft.com/office/drawing/2014/main" id="{BD08F33F-D10C-B6DE-1B32-5C31E70F7DAC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120807" y="4160156"/>
            <a:ext cx="247650" cy="152400"/>
          </a:xfrm>
          <a:prstGeom prst="rect">
            <a:avLst/>
          </a:prstGeom>
        </p:spPr>
      </p:pic>
      <p:pic>
        <p:nvPicPr>
          <p:cNvPr id="248" name="Picture 247" descr="image.png">
            <a:extLst>
              <a:ext uri="{FF2B5EF4-FFF2-40B4-BE49-F238E27FC236}">
                <a16:creationId xmlns:a16="http://schemas.microsoft.com/office/drawing/2014/main" id="{06E5C5C4-3A70-5CB9-1461-FD04ABF6D8C6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425607" y="4169681"/>
            <a:ext cx="133350" cy="133350"/>
          </a:xfrm>
          <a:prstGeom prst="rect">
            <a:avLst/>
          </a:prstGeom>
        </p:spPr>
      </p:pic>
      <p:pic>
        <p:nvPicPr>
          <p:cNvPr id="250" name="Picture 249" descr="image.png">
            <a:extLst>
              <a:ext uri="{FF2B5EF4-FFF2-40B4-BE49-F238E27FC236}">
                <a16:creationId xmlns:a16="http://schemas.microsoft.com/office/drawing/2014/main" id="{B2EF5F4E-A956-068C-0D63-B91308542149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388650" y="4160156"/>
            <a:ext cx="238125" cy="152400"/>
          </a:xfrm>
          <a:prstGeom prst="rect">
            <a:avLst/>
          </a:prstGeom>
        </p:spPr>
      </p:pic>
      <p:pic>
        <p:nvPicPr>
          <p:cNvPr id="252" name="Picture 251" descr="image.png">
            <a:extLst>
              <a:ext uri="{FF2B5EF4-FFF2-40B4-BE49-F238E27FC236}">
                <a16:creationId xmlns:a16="http://schemas.microsoft.com/office/drawing/2014/main" id="{D1C1DDD9-CF89-6052-EEFA-5942797ECC3B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683925" y="4169681"/>
            <a:ext cx="152400" cy="1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64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D591-886A-A58D-519F-8ABF7A89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A6F3CF7F-D807-57DC-F62A-E12D14C12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046CBE45-F144-2650-C926-9B5BEA4C6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78E49506-CC75-468B-025A-B296B2BCAC60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65A2FD3-E7FB-A4BA-D12A-263B94C2E291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66CFD21-5F52-D8D5-75AF-4454CB6D05AB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399E5F3-DCFF-7F2C-5594-AAC13E3EACCE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3DEA68A-2427-1199-0520-906B8C8A8E5E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0165F70-094A-A081-A1D8-39538275876F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ECEAECF-B930-0CA9-0CBF-C892A7771332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E5C60ED-8365-DCDB-A879-D8F94596A280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40BFF4E-82FD-C095-8F72-EE758E61EE01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BC6A100B-19DA-AEC2-6E0F-4F214449044E}"/>
              </a:ext>
            </a:extLst>
          </p:cNvPr>
          <p:cNvSpPr/>
          <p:nvPr/>
        </p:nvSpPr>
        <p:spPr>
          <a:xfrm>
            <a:off x="6253224" y="404281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38B6EB4-C9BE-758A-E862-6DC04DEB0430}"/>
              </a:ext>
            </a:extLst>
          </p:cNvPr>
          <p:cNvSpPr txBox="1"/>
          <p:nvPr/>
        </p:nvSpPr>
        <p:spPr>
          <a:xfrm>
            <a:off x="267433" y="1257300"/>
            <a:ext cx="585128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Ensemble &amp; Explainability Layer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CB12B1-3115-1658-1225-3263B613D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295228"/>
            <a:ext cx="3594050" cy="2267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FF7DE1-EA0A-BF5A-6973-517AB2670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900" y="2295228"/>
            <a:ext cx="3594050" cy="22675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0B7531-AFF6-97D1-F0F7-94F5638BD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550" y="2295228"/>
            <a:ext cx="3594199" cy="2267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7B66A3-521A-8873-DE04-4C736D4467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533353"/>
            <a:ext cx="457200" cy="457200"/>
          </a:xfrm>
          <a:prstGeom prst="rect">
            <a:avLst/>
          </a:prstGeom>
        </p:spPr>
      </p:pic>
      <p:sp>
        <p:nvSpPr>
          <p:cNvPr id="6" name="TextBox 15">
            <a:extLst>
              <a:ext uri="{FF2B5EF4-FFF2-40B4-BE49-F238E27FC236}">
                <a16:creationId xmlns:a16="http://schemas.microsoft.com/office/drawing/2014/main" id="{9C6DB380-1009-0B21-6373-FF9B7CF4BAC9}"/>
              </a:ext>
            </a:extLst>
          </p:cNvPr>
          <p:cNvSpPr txBox="1"/>
          <p:nvPr/>
        </p:nvSpPr>
        <p:spPr>
          <a:xfrm>
            <a:off x="714375" y="3142953"/>
            <a:ext cx="32736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1. Predictions Merge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E2329B71-8DCB-3C83-377D-600D479D4232}"/>
              </a:ext>
            </a:extLst>
          </p:cNvPr>
          <p:cNvSpPr txBox="1"/>
          <p:nvPr/>
        </p:nvSpPr>
        <p:spPr>
          <a:xfrm>
            <a:off x="714375" y="3523953"/>
            <a:ext cx="3117800" cy="800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76"/>
              </a:lnSpc>
            </a:pPr>
            <a:r>
              <a:rPr sz="1087" b="0" i="0" u="none">
                <a:solidFill>
                  <a:srgbClr val="062C24"/>
                </a:solidFill>
                <a:latin typeface="DM Sans"/>
              </a:rPr>
              <a:t>Out-of-fold prediction CSVs from Branch A and Branch B are merged on (compound_id, disease_id, fold) ensuring strict validation alignment.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0B3443-A7F7-DF81-04DF-5DC16C8B89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7025" y="2533353"/>
            <a:ext cx="457200" cy="457200"/>
          </a:xfrm>
          <a:prstGeom prst="rect">
            <a:avLst/>
          </a:prstGeom>
        </p:spPr>
      </p:pic>
      <p:sp>
        <p:nvSpPr>
          <p:cNvPr id="9" name="TextBox 18">
            <a:extLst>
              <a:ext uri="{FF2B5EF4-FFF2-40B4-BE49-F238E27FC236}">
                <a16:creationId xmlns:a16="http://schemas.microsoft.com/office/drawing/2014/main" id="{9844E794-E116-D77F-7216-50A604BD33B0}"/>
              </a:ext>
            </a:extLst>
          </p:cNvPr>
          <p:cNvSpPr txBox="1"/>
          <p:nvPr/>
        </p:nvSpPr>
        <p:spPr>
          <a:xfrm>
            <a:off x="4537025" y="3142953"/>
            <a:ext cx="32736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2. Meta-Ensemble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E3C2654C-48B5-886C-AC2A-9F2D46DAF4C0}"/>
              </a:ext>
            </a:extLst>
          </p:cNvPr>
          <p:cNvSpPr txBox="1"/>
          <p:nvPr/>
        </p:nvSpPr>
        <p:spPr>
          <a:xfrm>
            <a:off x="4537025" y="3523953"/>
            <a:ext cx="3117800" cy="600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76"/>
              </a:lnSpc>
            </a:pPr>
            <a:r>
              <a:rPr sz="1087" b="0" i="0" u="none">
                <a:solidFill>
                  <a:srgbClr val="062C24"/>
                </a:solidFill>
                <a:latin typeface="DM Sans"/>
              </a:rPr>
              <a:t>Compares Weighted Average, Stacked Logistic Regression, and Stacked XGBoost (nested-tuned via leave-one-fold-out evaluation).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00CF98-F731-8B18-0E44-B066ED019C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9675" y="2533353"/>
            <a:ext cx="457200" cy="457200"/>
          </a:xfrm>
          <a:prstGeom prst="rect">
            <a:avLst/>
          </a:prstGeom>
        </p:spPr>
      </p:pic>
      <p:sp>
        <p:nvSpPr>
          <p:cNvPr id="12" name="TextBox 21">
            <a:extLst>
              <a:ext uri="{FF2B5EF4-FFF2-40B4-BE49-F238E27FC236}">
                <a16:creationId xmlns:a16="http://schemas.microsoft.com/office/drawing/2014/main" id="{D73F659C-59F3-97BC-62D1-EE8CF2C47934}"/>
              </a:ext>
            </a:extLst>
          </p:cNvPr>
          <p:cNvSpPr txBox="1"/>
          <p:nvPr/>
        </p:nvSpPr>
        <p:spPr>
          <a:xfrm>
            <a:off x="8359675" y="3142953"/>
            <a:ext cx="327384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3. Dual Explainability</a:t>
            </a:r>
          </a:p>
        </p:txBody>
      </p:sp>
      <p:sp>
        <p:nvSpPr>
          <p:cNvPr id="13" name="TextBox 22">
            <a:extLst>
              <a:ext uri="{FF2B5EF4-FFF2-40B4-BE49-F238E27FC236}">
                <a16:creationId xmlns:a16="http://schemas.microsoft.com/office/drawing/2014/main" id="{55C236AB-C9B1-D2EE-02AD-8924938B23A9}"/>
              </a:ext>
            </a:extLst>
          </p:cNvPr>
          <p:cNvSpPr txBox="1"/>
          <p:nvPr/>
        </p:nvSpPr>
        <p:spPr>
          <a:xfrm>
            <a:off x="8359675" y="3523953"/>
            <a:ext cx="3117949" cy="809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76"/>
              </a:lnSpc>
            </a:pPr>
            <a:r>
              <a:rPr lang="en-US" sz="1087" b="1" i="0" u="none" dirty="0" err="1">
                <a:solidFill>
                  <a:srgbClr val="062C24"/>
                </a:solidFill>
                <a:latin typeface="DM Sans"/>
              </a:rPr>
              <a:t>XGBoost</a:t>
            </a:r>
            <a:r>
              <a:rPr sz="1087" b="1" i="0" u="none" dirty="0">
                <a:solidFill>
                  <a:srgbClr val="062C24"/>
                </a:solidFill>
                <a:latin typeface="DM Sans"/>
              </a:rPr>
              <a:t>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TreeSHAP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+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Metapath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evidence ranking.</a:t>
            </a:r>
            <a:r>
              <a:rPr dirty="0"/>
              <a:t>
</a:t>
            </a:r>
            <a:r>
              <a:rPr lang="en-US" sz="1087" dirty="0">
                <a:solidFill>
                  <a:srgbClr val="062C24"/>
                </a:solidFill>
                <a:latin typeface="DM Sans"/>
              </a:rPr>
              <a:t> </a:t>
            </a:r>
            <a:r>
              <a:rPr lang="en-US" sz="1087" b="1" dirty="0" err="1">
                <a:solidFill>
                  <a:srgbClr val="062C24"/>
                </a:solidFill>
                <a:latin typeface="DM Sans"/>
              </a:rPr>
              <a:t>TxGNN</a:t>
            </a:r>
            <a:r>
              <a:rPr lang="en-US" sz="1087" dirty="0">
                <a:solidFill>
                  <a:srgbClr val="062C24"/>
                </a:solidFill>
                <a:latin typeface="DM Sans"/>
              </a:rPr>
              <a:t> </a:t>
            </a:r>
            <a:r>
              <a:rPr sz="1087" b="1" i="0" u="none" dirty="0">
                <a:solidFill>
                  <a:srgbClr val="062C24"/>
                </a:solidFill>
                <a:latin typeface="DM Sans"/>
              </a:rPr>
              <a:t>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Attention-based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TxGNN_Explainer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mechanism.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CA50A1-E25B-196A-6186-BBBDC12869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962" y="2647653"/>
            <a:ext cx="200025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641504-4C96-E823-ECC2-C9B5288703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1325" y="2647653"/>
            <a:ext cx="22860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2EB238-B82E-AA86-3261-80BBD2E1E6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3975" y="2647653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37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0BB50-7272-24F0-008A-A69DA588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8546CEFB-12C2-8265-B5FF-3C491C23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73FB321F-82C6-E750-D9F7-06CE914D6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935C8866-75F0-038F-D8C9-7F5DBA8B2FF4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F6CB583-A8BA-62DB-D8AA-E99A1D376AED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06CF44B-BC9A-AE96-5516-2013E19F02F8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7904F47-335C-DFE6-9DF6-521A9AEA3029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169DA5F-5987-CC3B-F0B9-4283BEEEE26F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F8729C1-974A-05FC-EEB1-E500CFCDAECB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4CA6CE8-4FC3-8809-5F87-4C2F0992D5B1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44C99CE-B6D7-281F-1342-12B722843CB5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C02DD1E-371E-D820-709A-CC06299769E1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50A935C6-731A-B6D8-BDFE-4C4AC98C3DB3}"/>
              </a:ext>
            </a:extLst>
          </p:cNvPr>
          <p:cNvSpPr/>
          <p:nvPr/>
        </p:nvSpPr>
        <p:spPr>
          <a:xfrm>
            <a:off x="6288593" y="404281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6A070A4-403D-10F4-BD89-7914BCA4BEE6}"/>
              </a:ext>
            </a:extLst>
          </p:cNvPr>
          <p:cNvSpPr txBox="1"/>
          <p:nvPr/>
        </p:nvSpPr>
        <p:spPr>
          <a:xfrm>
            <a:off x="267433" y="1257300"/>
            <a:ext cx="421942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Pipeline Specifications</a:t>
            </a: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2211BE-3444-A566-9485-36ACDFE65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33" y="2281238"/>
            <a:ext cx="5486400" cy="31908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3C96C4-AD80-F710-7BA0-9E9BDE93C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0533" y="2281238"/>
            <a:ext cx="5486400" cy="3190875"/>
          </a:xfrm>
          <a:prstGeom prst="rect">
            <a:avLst/>
          </a:prstGeom>
        </p:spPr>
      </p:pic>
      <p:sp>
        <p:nvSpPr>
          <p:cNvPr id="19" name="TextBox 13">
            <a:extLst>
              <a:ext uri="{FF2B5EF4-FFF2-40B4-BE49-F238E27FC236}">
                <a16:creationId xmlns:a16="http://schemas.microsoft.com/office/drawing/2014/main" id="{E8FF3A4C-7158-53C9-682B-5C2653D69BEE}"/>
              </a:ext>
            </a:extLst>
          </p:cNvPr>
          <p:cNvSpPr txBox="1"/>
          <p:nvPr/>
        </p:nvSpPr>
        <p:spPr>
          <a:xfrm>
            <a:off x="819883" y="2557463"/>
            <a:ext cx="4890611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50" b="1" i="0" u="none">
                <a:solidFill>
                  <a:srgbClr val="043A32"/>
                </a:solidFill>
                <a:latin typeface="Poppins"/>
              </a:rPr>
              <a:t>Data &amp; Storage Layer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534863BB-0DE5-D9C0-962C-4AC20C8DD4FB}"/>
              </a:ext>
            </a:extLst>
          </p:cNvPr>
          <p:cNvSpPr txBox="1"/>
          <p:nvPr/>
        </p:nvSpPr>
        <p:spPr>
          <a:xfrm>
            <a:off x="6572983" y="2557463"/>
            <a:ext cx="4890611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50" b="1" i="0" u="none">
                <a:solidFill>
                  <a:srgbClr val="043A32"/>
                </a:solidFill>
                <a:latin typeface="Poppins"/>
              </a:rPr>
              <a:t>Persistence &amp; Infrastructure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92843D-E63A-8B8F-80EF-A1CF865A20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58" y="2609851"/>
            <a:ext cx="180975" cy="20955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8341515D-713D-5074-D748-1A00C0EF8D70}"/>
              </a:ext>
            </a:extLst>
          </p:cNvPr>
          <p:cNvSpPr txBox="1"/>
          <p:nvPr/>
        </p:nvSpPr>
        <p:spPr>
          <a:xfrm>
            <a:off x="734158" y="3024188"/>
            <a:ext cx="4743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62C24"/>
                </a:solidFill>
                <a:latin typeface="DM Sans"/>
              </a:rPr>
              <a:t>Primary Source:</a:t>
            </a:r>
            <a:r>
              <a:rPr sz="1125" b="0" i="0" u="none">
                <a:solidFill>
                  <a:srgbClr val="062C24"/>
                </a:solidFill>
                <a:latin typeface="DM Sans"/>
              </a:rPr>
              <a:t> Hetionet Knowledge Graph loaded from TSV/SIF source files into optimized Parquet tables (nodes.parquet, edges.parquet).</a:t>
            </a: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458F0903-CA61-DB7F-04A5-2683C6F88EC2}"/>
              </a:ext>
            </a:extLst>
          </p:cNvPr>
          <p:cNvSpPr txBox="1"/>
          <p:nvPr/>
        </p:nvSpPr>
        <p:spPr>
          <a:xfrm>
            <a:off x="734158" y="3781426"/>
            <a:ext cx="4743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62C24"/>
                </a:solidFill>
                <a:latin typeface="DM Sans"/>
              </a:rPr>
              <a:t>Memory Efficiency:</a:t>
            </a:r>
            <a:r>
              <a:rPr sz="1125" b="0" i="0" u="none">
                <a:solidFill>
                  <a:srgbClr val="062C24"/>
                </a:solidFill>
                <a:latin typeface="DM Sans"/>
              </a:rPr>
              <a:t> Fast local graph deserialization into structured tabular DataFrames for both branches.</a:t>
            </a: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2E570655-6FBB-F942-0B29-680D766813EF}"/>
              </a:ext>
            </a:extLst>
          </p:cNvPr>
          <p:cNvSpPr txBox="1"/>
          <p:nvPr/>
        </p:nvSpPr>
        <p:spPr>
          <a:xfrm>
            <a:off x="734158" y="4324351"/>
            <a:ext cx="4743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62C24"/>
                </a:solidFill>
                <a:latin typeface="DM Sans"/>
              </a:rPr>
              <a:t>Environment:</a:t>
            </a:r>
            <a:r>
              <a:rPr sz="1125" b="0" i="0" u="none">
                <a:solidFill>
                  <a:srgbClr val="062C24"/>
                </a:solidFill>
                <a:latin typeface="DM Sans"/>
              </a:rPr>
              <a:t> Standalone offline execution pipeline with zero dependency on active DB servers.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9C0F0EF-F81F-A8EC-780B-F63E776FC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758" y="2609851"/>
            <a:ext cx="180975" cy="209550"/>
          </a:xfrm>
          <a:prstGeom prst="rect">
            <a:avLst/>
          </a:prstGeom>
        </p:spPr>
      </p:pic>
      <p:sp>
        <p:nvSpPr>
          <p:cNvPr id="26" name="TextBox 20">
            <a:extLst>
              <a:ext uri="{FF2B5EF4-FFF2-40B4-BE49-F238E27FC236}">
                <a16:creationId xmlns:a16="http://schemas.microsoft.com/office/drawing/2014/main" id="{C26AB4C3-5A92-D2E2-E3FC-E5C4C0062B5E}"/>
              </a:ext>
            </a:extLst>
          </p:cNvPr>
          <p:cNvSpPr txBox="1"/>
          <p:nvPr/>
        </p:nvSpPr>
        <p:spPr>
          <a:xfrm>
            <a:off x="6487258" y="3024188"/>
            <a:ext cx="4743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62C24"/>
                </a:solidFill>
                <a:latin typeface="DM Sans"/>
              </a:rPr>
              <a:t>Model Checkpoints:</a:t>
            </a:r>
            <a:r>
              <a:rPr sz="1125" b="0" i="0" u="none">
                <a:solidFill>
                  <a:srgbClr val="062C24"/>
                </a:solidFill>
                <a:latin typeface="DM Sans"/>
              </a:rPr>
              <a:t> PyTorch model states saved as .pt files; entity ID mappings stored as .pkl.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8C268465-D0A7-F872-3E66-DDD4931F260C}"/>
              </a:ext>
            </a:extLst>
          </p:cNvPr>
          <p:cNvSpPr txBox="1"/>
          <p:nvPr/>
        </p:nvSpPr>
        <p:spPr>
          <a:xfrm>
            <a:off x="6487258" y="3567113"/>
            <a:ext cx="4743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62C24"/>
                </a:solidFill>
                <a:latin typeface="DM Sans"/>
              </a:rPr>
              <a:t>Artifact Exports:</a:t>
            </a:r>
            <a:r>
              <a:rPr sz="1125" b="0" i="0" u="none">
                <a:solidFill>
                  <a:srgbClr val="062C24"/>
                </a:solidFill>
                <a:latin typeface="DM Sans"/>
              </a:rPr>
              <a:t> Statistical validation tables as .csv and trained ensembles saved via joblib.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1FEF0CE3-1928-7BA8-5DF9-CB8E3F4E86C4}"/>
              </a:ext>
            </a:extLst>
          </p:cNvPr>
          <p:cNvSpPr txBox="1"/>
          <p:nvPr/>
        </p:nvSpPr>
        <p:spPr>
          <a:xfrm>
            <a:off x="6487258" y="4110038"/>
            <a:ext cx="4743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62C24"/>
                </a:solidFill>
                <a:latin typeface="DM Sans"/>
              </a:rPr>
              <a:t>Publication Figures:</a:t>
            </a:r>
            <a:r>
              <a:rPr sz="1125" b="0" i="0" u="none" dirty="0">
                <a:solidFill>
                  <a:srgbClr val="062C24"/>
                </a:solidFill>
                <a:latin typeface="DM Sans"/>
              </a:rPr>
              <a:t> High-resolution architectural &amp; performance plots generated.</a:t>
            </a:r>
          </a:p>
        </p:txBody>
      </p:sp>
      <p:sp>
        <p:nvSpPr>
          <p:cNvPr id="29" name="TextBox 23">
            <a:extLst>
              <a:ext uri="{FF2B5EF4-FFF2-40B4-BE49-F238E27FC236}">
                <a16:creationId xmlns:a16="http://schemas.microsoft.com/office/drawing/2014/main" id="{0E7A3EF6-ED3B-693F-D8A7-BAFB581A1B8C}"/>
              </a:ext>
            </a:extLst>
          </p:cNvPr>
          <p:cNvSpPr txBox="1"/>
          <p:nvPr/>
        </p:nvSpPr>
        <p:spPr>
          <a:xfrm>
            <a:off x="6487258" y="4652963"/>
            <a:ext cx="4743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62C24"/>
                </a:solidFill>
                <a:latin typeface="DM Sans"/>
              </a:rPr>
              <a:t>Deployment Profile:</a:t>
            </a:r>
            <a:r>
              <a:rPr sz="1125" b="0" i="0" u="none">
                <a:solidFill>
                  <a:srgbClr val="062C24"/>
                </a:solidFill>
                <a:latin typeface="DM Sans"/>
              </a:rPr>
              <a:t> 100% self-contained local research execution (No API server / web backend required).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4BB22-CCC6-B270-1EC6-F9C19680AD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3887"/>
            <a:ext cx="12192000" cy="661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41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1C531-2EC7-D639-13A4-DA46EECD4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96C0EB08-7AA6-9AD6-88A1-0598804D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9B6F8226-47C9-3462-0A66-751890ED251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54B4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107005" y="0"/>
            <a:ext cx="12298929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0D7C05E9-3FCC-5BD6-140B-5065DD8F8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084"/>
            <a:ext cx="3530500" cy="48179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C690488-8646-5963-893E-0C872FDBA8FD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538BE-FE7F-07B7-C21F-0C7878125BE0}"/>
              </a:ext>
            </a:extLst>
          </p:cNvPr>
          <p:cNvSpPr txBox="1"/>
          <p:nvPr/>
        </p:nvSpPr>
        <p:spPr>
          <a:xfrm>
            <a:off x="768558" y="2270815"/>
            <a:ext cx="3266766" cy="3388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"/>
              </a:rPr>
              <a:t>Introduction</a:t>
            </a: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Problem Definition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Motivation &amp; Objectives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Implementation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Architecture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Methodology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Results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Future Work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References</a:t>
            </a:r>
            <a:endParaRPr lang="en-US" sz="1650" b="1" dirty="0">
              <a:solidFill>
                <a:srgbClr val="0B3C37"/>
              </a:solidFill>
              <a:latin typeface="Plus Jakarta Sans"/>
              <a:sym typeface="Apto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CF7379-EE99-0962-A0FD-015751FB3A4B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3B9149A3-804E-3004-DE96-91B9EA9C9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74" y="3124316"/>
            <a:ext cx="2792981" cy="14097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FEB07B5-9612-B17D-6F4E-FF14A5269534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C2E805-7843-007D-A1AB-65FD4553C308}"/>
              </a:ext>
            </a:extLst>
          </p:cNvPr>
          <p:cNvSpPr txBox="1"/>
          <p:nvPr/>
        </p:nvSpPr>
        <p:spPr>
          <a:xfrm>
            <a:off x="628650" y="390869"/>
            <a:ext cx="1543050" cy="1131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Plus Jakarta Sans"/>
                <a:sym typeface="Aptos Bold"/>
              </a:rPr>
              <a:t>Agenda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C6E637B-8CB8-18E1-36C7-F133A5C44F38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DEC3D0-BBC8-2499-131A-2935F5AB4888}"/>
              </a:ext>
            </a:extLst>
          </p:cNvPr>
          <p:cNvSpPr txBox="1"/>
          <p:nvPr/>
        </p:nvSpPr>
        <p:spPr>
          <a:xfrm>
            <a:off x="4464516" y="3588318"/>
            <a:ext cx="3155886" cy="122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1462" lvl="1">
              <a:lnSpc>
                <a:spcPct val="150000"/>
              </a:lnSpc>
              <a:spcBef>
                <a:spcPct val="0"/>
              </a:spcBef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Methodology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291462" lvl="1">
              <a:lnSpc>
                <a:spcPct val="150000"/>
              </a:lnSpc>
              <a:spcBef>
                <a:spcPct val="0"/>
              </a:spcBef>
            </a:pP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291462" lvl="1">
              <a:lnSpc>
                <a:spcPct val="150000"/>
              </a:lnSpc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317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82644-BE24-992B-C7D9-C84FD68C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1BB6622A-25F6-8ED1-B95E-E5D1FC0EC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794BC133-7245-0930-09E5-232826E67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18B379C4-E881-93A3-A459-004E945CDA21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D0D9E8B-3705-0EE7-DB97-02E94949FE89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245E524-B572-DB98-81E3-78C9DBE155E4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AFFC3B0-9AC5-77B7-1159-D871CB623A53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E07D740-84F2-8BD2-FD93-CFB3AC032BAD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F01783A-DC52-FA30-AFAC-8465630806BC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AD77205-8C7A-8840-9F0B-D1C6F2A35AF3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6E3148B-4F66-4306-BE1C-C51E21B7BFDB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10B663C-AF54-5D39-3AE8-428FDA1B14EE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D873DEB8-545B-2CAE-50DA-8B06B4274C8E}"/>
              </a:ext>
            </a:extLst>
          </p:cNvPr>
          <p:cNvSpPr/>
          <p:nvPr/>
        </p:nvSpPr>
        <p:spPr>
          <a:xfrm>
            <a:off x="7391166" y="412745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A6980C1-3889-9D76-8C27-67A3432A8DA5}"/>
              </a:ext>
            </a:extLst>
          </p:cNvPr>
          <p:cNvSpPr txBox="1"/>
          <p:nvPr/>
        </p:nvSpPr>
        <p:spPr>
          <a:xfrm>
            <a:off x="267433" y="1257300"/>
            <a:ext cx="649248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Data Preprocessing &amp; Leak-Free CV</a:t>
            </a:r>
          </a:p>
          <a:p>
            <a:endParaRPr lang="en-US" dirty="0"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242233A-3FC5-9360-08BF-33A23AE84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2343150"/>
            <a:ext cx="5486400" cy="32575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9F370D1-8645-275C-E190-37A4A21BC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50" y="2343150"/>
            <a:ext cx="5486400" cy="32575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ACFF0932-6BDE-84A6-B9CB-976C7BA1BC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2619375"/>
            <a:ext cx="4933950" cy="209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313695-3980-0C9B-0597-6333CCAD987D}"/>
              </a:ext>
            </a:extLst>
          </p:cNvPr>
          <p:cNvSpPr txBox="1"/>
          <p:nvPr/>
        </p:nvSpPr>
        <p:spPr>
          <a:xfrm>
            <a:off x="771525" y="290512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Data Preprocessing Pipeline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05AF2051-7F07-E43D-17E7-C37998D35E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2619375"/>
            <a:ext cx="4933950" cy="2095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ABC9E5-4AB2-0379-5BE0-BDA05A183FFC}"/>
              </a:ext>
            </a:extLst>
          </p:cNvPr>
          <p:cNvSpPr txBox="1"/>
          <p:nvPr/>
        </p:nvSpPr>
        <p:spPr>
          <a:xfrm>
            <a:off x="6524625" y="290512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Zero-Leakage CV Setup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B829FD63-5772-AF9A-6043-0F0A5B2854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952750"/>
            <a:ext cx="190500" cy="190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8994F12-4597-D603-705A-8CEAC95AB163}"/>
              </a:ext>
            </a:extLst>
          </p:cNvPr>
          <p:cNvSpPr txBox="1"/>
          <p:nvPr/>
        </p:nvSpPr>
        <p:spPr>
          <a:xfrm>
            <a:off x="676275" y="3324225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Hetionet Parquet Loading: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Graph nodes/edges indexed by entity type directly from local Parquet storage.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DD9E54-B0F8-F2CF-7939-A0EF2A1E0B23}"/>
              </a:ext>
            </a:extLst>
          </p:cNvPr>
          <p:cNvSpPr txBox="1"/>
          <p:nvPr/>
        </p:nvSpPr>
        <p:spPr>
          <a:xfrm>
            <a:off x="676275" y="3833812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Relation Isolation: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Compound–Disease edges (df_dd) isolated for training; all other relations (df_other) held fixed.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761275-1EC8-5863-64F3-4FE3FDD1AB35}"/>
              </a:ext>
            </a:extLst>
          </p:cNvPr>
          <p:cNvSpPr txBox="1"/>
          <p:nvPr/>
        </p:nvSpPr>
        <p:spPr>
          <a:xfrm>
            <a:off x="676275" y="4343400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Leak-Aware Negative Sampling: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Unlabeled pairs sampled as negative controls with strict de-duplication against known positive pairs.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DA0F64-CC5E-EDB4-92B6-386DAA7C4DC3}"/>
              </a:ext>
            </a:extLst>
          </p:cNvPr>
          <p:cNvSpPr txBox="1"/>
          <p:nvPr/>
        </p:nvSpPr>
        <p:spPr>
          <a:xfrm>
            <a:off x="676275" y="4852987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Class Balance Handling: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Stratified fallback mechanisms for rare relation classes with fewer than 5 members.</a:t>
            </a:r>
          </a:p>
        </p:txBody>
      </p:sp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7B56EE17-4912-FED8-C929-A24AE6191C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2952750"/>
            <a:ext cx="190500" cy="1905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EEF9CD0-2DD5-B5A0-3825-0E61A933DCAF}"/>
              </a:ext>
            </a:extLst>
          </p:cNvPr>
          <p:cNvSpPr txBox="1"/>
          <p:nvPr/>
        </p:nvSpPr>
        <p:spPr>
          <a:xfrm>
            <a:off x="6429375" y="3324225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Branch A (TxGNN):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Stratified 5-Fold CV on df_dd; held-out test edges split 50/50 for validation &amp; testing.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0A7028-0EF8-4769-AFFA-9200EB2A644C}"/>
              </a:ext>
            </a:extLst>
          </p:cNvPr>
          <p:cNvSpPr txBox="1"/>
          <p:nvPr/>
        </p:nvSpPr>
        <p:spPr>
          <a:xfrm>
            <a:off x="6429375" y="3833812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Branch B (DreamWalk):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Strictly leak-free 10-Fold Cross-Validation execution.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F6C39A-7C37-CB61-5C68-100EF1FE90B0}"/>
              </a:ext>
            </a:extLst>
          </p:cNvPr>
          <p:cNvSpPr txBox="1"/>
          <p:nvPr/>
        </p:nvSpPr>
        <p:spPr>
          <a:xfrm>
            <a:off x="6429375" y="4343400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 dirty="0">
                <a:solidFill>
                  <a:srgbClr val="062C24"/>
                </a:solidFill>
                <a:latin typeface="DM Sans"/>
              </a:rPr>
              <a:t>Per-Fold Graph Rebuild: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Brand-new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PyG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HeteroData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graphs and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SparseGraph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CSR matrices instantiated from scratch every fold.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B97E6A-DE40-599A-4626-534BE4ED1D85}"/>
              </a:ext>
            </a:extLst>
          </p:cNvPr>
          <p:cNvSpPr txBox="1"/>
          <p:nvPr/>
        </p:nvSpPr>
        <p:spPr>
          <a:xfrm>
            <a:off x="6429375" y="4852987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 dirty="0">
                <a:solidFill>
                  <a:srgbClr val="062C24"/>
                </a:solidFill>
                <a:latin typeface="DM Sans"/>
              </a:rPr>
              <a:t>Feature Independence: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Zero similarity/walk leakage between training and evaluation folds.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D1B2F-07A9-B499-8980-F658ACF0AD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"/>
            <a:ext cx="12192000" cy="679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4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0DAEB-DDAF-F0B7-A06D-29D921B0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724AB891-77DC-E576-9DF9-B9A29807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0748FC9A-BECA-04FE-B094-E52B40A03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3960DE63-A9F8-C97A-8103-8A126E76B4D0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C1210FF-34B7-6637-21C6-E4DE57CFEFC8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5CC2DC7-E363-533B-367B-F14B75E2720B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1073D95-AA9D-EDE5-7101-DCCD00AB3E17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1948C8F-9429-A60A-5760-9DFA83919D8A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9893B9C-B9A7-5B0D-34E0-73113453CC9C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64DB672-506C-BB17-8B37-245E833329E1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7051625-CB8C-2D39-7A85-87F39DE09AA7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1BD6F25-9BBE-C21C-8FFE-60EAFD50B712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C5C8865E-E28B-0E31-47BC-2CBC46473BC6}"/>
              </a:ext>
            </a:extLst>
          </p:cNvPr>
          <p:cNvSpPr/>
          <p:nvPr/>
        </p:nvSpPr>
        <p:spPr>
          <a:xfrm>
            <a:off x="7391166" y="412745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8E435F6-5274-09B2-0419-A13ABADE1435}"/>
              </a:ext>
            </a:extLst>
          </p:cNvPr>
          <p:cNvSpPr txBox="1"/>
          <p:nvPr/>
        </p:nvSpPr>
        <p:spPr>
          <a:xfrm>
            <a:off x="267433" y="1257300"/>
            <a:ext cx="649248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Representation Learning &amp; Training</a:t>
            </a:r>
          </a:p>
          <a:p>
            <a:endParaRPr lang="en-US" dirty="0"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A321A3D0-9129-D2FE-7CDA-9C33EBF35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438400"/>
            <a:ext cx="5486400" cy="325755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536E5133-15EC-0EA2-E3CC-49FD273C7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438400"/>
            <a:ext cx="5486400" cy="325755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D76004BC-6EF8-27BC-FF24-EB80BE121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714625"/>
            <a:ext cx="4933950" cy="2095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7F3394-295B-D2BE-EBD6-717322248F21}"/>
              </a:ext>
            </a:extLst>
          </p:cNvPr>
          <p:cNvSpPr txBox="1"/>
          <p:nvPr/>
        </p:nvSpPr>
        <p:spPr>
          <a:xfrm>
            <a:off x="1038225" y="300037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GNN Representation &amp; Pretraining</a:t>
            </a:r>
          </a:p>
        </p:txBody>
      </p:sp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7BF77B88-FCF1-AF1E-7402-D4E5110505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2714625"/>
            <a:ext cx="4933950" cy="2095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E469A22-557B-4F1A-2370-A9315ABC9EFF}"/>
              </a:ext>
            </a:extLst>
          </p:cNvPr>
          <p:cNvSpPr txBox="1"/>
          <p:nvPr/>
        </p:nvSpPr>
        <p:spPr>
          <a:xfrm>
            <a:off x="6819900" y="3000375"/>
            <a:ext cx="4850606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Random Walks &amp; XGBoost</a:t>
            </a: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F140417B-31EA-0794-C4E6-730D9C6362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048000"/>
            <a:ext cx="190500" cy="1905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C3B794A-8A07-3267-CDD2-C27D0CDF3D5C}"/>
              </a:ext>
            </a:extLst>
          </p:cNvPr>
          <p:cNvSpPr txBox="1"/>
          <p:nvPr/>
        </p:nvSpPr>
        <p:spPr>
          <a:xfrm>
            <a:off x="942975" y="3419475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TxGNN_PyG Architecture: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Pretrain stage (10 epochs) → Finetune stage (20 epochs) utilizing BCEWithLogitsLoss.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09C862-5A97-E11A-2762-BD5071A3920B}"/>
              </a:ext>
            </a:extLst>
          </p:cNvPr>
          <p:cNvSpPr txBox="1"/>
          <p:nvPr/>
        </p:nvSpPr>
        <p:spPr>
          <a:xfrm>
            <a:off x="942975" y="3929062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 dirty="0">
                <a:solidFill>
                  <a:srgbClr val="062C24"/>
                </a:solidFill>
                <a:latin typeface="DM Sans"/>
              </a:rPr>
              <a:t>Batch &amp; Optimizer: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Batch size 512 with Adam optimizer evaluating link probabilities via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DistMult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scoring.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CB76C6-425C-273F-4876-80B61C0E5098}"/>
              </a:ext>
            </a:extLst>
          </p:cNvPr>
          <p:cNvSpPr txBox="1"/>
          <p:nvPr/>
        </p:nvSpPr>
        <p:spPr>
          <a:xfrm>
            <a:off x="942975" y="4438650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31"/>
              </a:lnSpc>
            </a:pPr>
            <a:r>
              <a:rPr sz="1087" b="1" i="0" u="none" dirty="0">
                <a:solidFill>
                  <a:srgbClr val="062C24"/>
                </a:solidFill>
                <a:latin typeface="DM Sans"/>
              </a:rPr>
              <a:t>Baseline Benchmark: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RGCN,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DistMult</a:t>
            </a:r>
            <a:r>
              <a:rPr lang="en-US" sz="1087" b="0" i="0" u="none" dirty="0">
                <a:solidFill>
                  <a:srgbClr val="062C24"/>
                </a:solidFill>
                <a:latin typeface="DM Sans"/>
              </a:rPr>
              <a:t> </a:t>
            </a:r>
            <a:r>
              <a:rPr lang="en-US" sz="1050" b="1" dirty="0"/>
              <a:t>(Dist</a:t>
            </a:r>
            <a:r>
              <a:rPr lang="en-US" sz="1050" dirty="0"/>
              <a:t>ance </a:t>
            </a:r>
            <a:r>
              <a:rPr lang="en-US" sz="1050" b="1" dirty="0"/>
              <a:t>Mult</a:t>
            </a:r>
            <a:r>
              <a:rPr lang="en-US" sz="1050" dirty="0"/>
              <a:t>ilinear)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, and MLP baselines trained for 30 epochs per fold under identical conditions.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03C48F-099A-7249-F1E1-179949BA8934}"/>
              </a:ext>
            </a:extLst>
          </p:cNvPr>
          <p:cNvSpPr txBox="1"/>
          <p:nvPr/>
        </p:nvSpPr>
        <p:spPr>
          <a:xfrm>
            <a:off x="942975" y="4948237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Performance Tracking: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Fold metrics summarized across folds into cv_results_summary.csv.</a:t>
            </a:r>
          </a:p>
        </p:txBody>
      </p:sp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C39E36AB-8EB5-5E47-FF8D-D24D61238C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3048000"/>
            <a:ext cx="219075" cy="1905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13D32B8-3DF5-6A16-651E-2DDA4D720EBF}"/>
              </a:ext>
            </a:extLst>
          </p:cNvPr>
          <p:cNvSpPr txBox="1"/>
          <p:nvPr/>
        </p:nvSpPr>
        <p:spPr>
          <a:xfrm>
            <a:off x="6696075" y="3419475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Similarity-Guided Walks: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GPU/CPU Jaccard walks (length=100, num_walks=10, teleport=0.5) per fold.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60FE25-A4DA-5AB6-339D-EE333B8BA63D}"/>
              </a:ext>
            </a:extLst>
          </p:cNvPr>
          <p:cNvSpPr txBox="1"/>
          <p:nvPr/>
        </p:nvSpPr>
        <p:spPr>
          <a:xfrm>
            <a:off x="6696075" y="3929062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Word2Vec Embeddings: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Skip-gram model trained on walk sequences (128-d, window=5, 5 epochs).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CB7BC9-0CC8-2CB9-E262-10438A6CB315}"/>
              </a:ext>
            </a:extLst>
          </p:cNvPr>
          <p:cNvSpPr txBox="1"/>
          <p:nvPr/>
        </p:nvSpPr>
        <p:spPr>
          <a:xfrm>
            <a:off x="6696075" y="4438650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 dirty="0" err="1">
                <a:solidFill>
                  <a:srgbClr val="062C24"/>
                </a:solidFill>
                <a:latin typeface="DM Sans"/>
              </a:rPr>
              <a:t>XGBoost</a:t>
            </a:r>
            <a:r>
              <a:rPr sz="1087" b="1" i="0" u="none" dirty="0">
                <a:solidFill>
                  <a:srgbClr val="062C24"/>
                </a:solidFill>
                <a:latin typeface="DM Sans"/>
              </a:rPr>
              <a:t> Classifier: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Trained on 256-d concatenated pair vectors using GPU hist method (300 trees, depth=6,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lr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=0.05).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2EE712-F735-1E96-13B0-A284C1EE2C26}"/>
              </a:ext>
            </a:extLst>
          </p:cNvPr>
          <p:cNvSpPr txBox="1"/>
          <p:nvPr/>
        </p:nvSpPr>
        <p:spPr>
          <a:xfrm>
            <a:off x="6696075" y="4948237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Evaluation Metrics: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Accuracy, Precision, Recall, F1, AUROC, and AUPRC saved per fold.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15FBB-151B-D180-638E-0FAA79B8EC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82518"/>
            <a:ext cx="12192000" cy="669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93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F2F8A-9198-8746-7E59-0B99F5D7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867FAB71-2EC5-4B3E-895A-C7BD4E5C5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420F2645-BA18-0663-3D0D-709008479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DBCD78FF-512E-AA06-6525-DD4F9A5BB489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14CD717-844C-71EC-5439-A689DA38B109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41E5394-2967-D7C7-48C8-D789BC821674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4408408-2E2C-70FF-FF2A-B3FB565AE344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5A9ECC6-B7D3-C68E-208D-A286C9030204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0650DBF-51C6-08B1-5CE7-2D86B4E1E9D7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BC8D05C-A019-AF51-5EF8-B4B8BCB1B4DB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240A640-70A6-F0DE-D616-77A9729B6F77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065AD90-01DE-04A5-1210-00D372D868A6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B00B7813-9872-D39A-D9CD-E2803C43291E}"/>
              </a:ext>
            </a:extLst>
          </p:cNvPr>
          <p:cNvSpPr/>
          <p:nvPr/>
        </p:nvSpPr>
        <p:spPr>
          <a:xfrm>
            <a:off x="7391166" y="412745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B51406E-7A92-9B7A-7D37-3D237D49EF88}"/>
              </a:ext>
            </a:extLst>
          </p:cNvPr>
          <p:cNvSpPr txBox="1"/>
          <p:nvPr/>
        </p:nvSpPr>
        <p:spPr>
          <a:xfrm>
            <a:off x="267433" y="1257300"/>
            <a:ext cx="664797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Meta-</a:t>
            </a:r>
            <a:r>
              <a:rPr lang="en-US" sz="2700" b="1" dirty="0" err="1">
                <a:solidFill>
                  <a:srgbClr val="043A32"/>
                </a:solidFill>
                <a:latin typeface="Poppins"/>
              </a:rPr>
              <a:t>Ensembling</a:t>
            </a:r>
            <a:r>
              <a:rPr lang="en-US" sz="2700" b="1" dirty="0">
                <a:solidFill>
                  <a:srgbClr val="043A32"/>
                </a:solidFill>
                <a:latin typeface="Poppins"/>
              </a:rPr>
              <a:t> &amp; Statistical Rigor</a:t>
            </a:r>
          </a:p>
          <a:p>
            <a:endParaRPr lang="en-US" dirty="0"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056E6143-C0CC-CC27-D91D-E857B65BB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115121"/>
            <a:ext cx="3594050" cy="190395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1EB69421-68DD-2FBB-634A-0F0A92459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900" y="3115121"/>
            <a:ext cx="3594050" cy="1903958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57719226-887B-C6F7-1FFF-8F28FB915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550" y="3115121"/>
            <a:ext cx="3594199" cy="1903958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20580D3D-8D23-2F6D-B51C-23065936BF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3334196"/>
            <a:ext cx="419100" cy="419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32D032-D6B0-DB07-2741-668A56495C8A}"/>
              </a:ext>
            </a:extLst>
          </p:cNvPr>
          <p:cNvSpPr txBox="1"/>
          <p:nvPr/>
        </p:nvSpPr>
        <p:spPr>
          <a:xfrm>
            <a:off x="695325" y="3886646"/>
            <a:ext cx="33136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3A32"/>
                </a:solidFill>
                <a:latin typeface="Poppins"/>
              </a:rPr>
              <a:t>1. Aligned Merging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E6B97C-111D-2B55-583A-02A6948E9942}"/>
              </a:ext>
            </a:extLst>
          </p:cNvPr>
          <p:cNvSpPr txBox="1"/>
          <p:nvPr/>
        </p:nvSpPr>
        <p:spPr>
          <a:xfrm>
            <a:off x="695325" y="4220021"/>
            <a:ext cx="315590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062C24"/>
                </a:solidFill>
                <a:latin typeface="DM Sans"/>
              </a:rPr>
              <a:t>Out-of-fold predictions from Branch A and Branch B are merged on (compound_id, disease_id, fold) across 760 aligned pair samples.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F8424705-213D-E9FB-CDE8-6184B3739A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975" y="3334196"/>
            <a:ext cx="419100" cy="4191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BCBFAF8-9775-D906-7C4C-7098B936E642}"/>
              </a:ext>
            </a:extLst>
          </p:cNvPr>
          <p:cNvSpPr txBox="1"/>
          <p:nvPr/>
        </p:nvSpPr>
        <p:spPr>
          <a:xfrm>
            <a:off x="4517975" y="3886646"/>
            <a:ext cx="33136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3A32"/>
                </a:solidFill>
                <a:latin typeface="Poppins"/>
              </a:rPr>
              <a:t>2. Meta-Learner Tuning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33706-68DC-735F-E7BE-22EDE2BD582D}"/>
              </a:ext>
            </a:extLst>
          </p:cNvPr>
          <p:cNvSpPr txBox="1"/>
          <p:nvPr/>
        </p:nvSpPr>
        <p:spPr>
          <a:xfrm>
            <a:off x="4517975" y="4220021"/>
            <a:ext cx="315590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062C24"/>
                </a:solidFill>
                <a:latin typeface="DM Sans"/>
              </a:rPr>
              <a:t>Compares Weighted Average, Stacked Logistic Regression, and Stacked XGBoost with inner 5-fold GridSearchCV evaluated leave-one-fold-out.</a:t>
            </a:r>
          </a:p>
        </p:txBody>
      </p:sp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7A5C3BF0-5036-084B-F7D3-0132164CF5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3334196"/>
            <a:ext cx="419100" cy="4191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726023F-DB67-7300-BD26-246DA7981891}"/>
              </a:ext>
            </a:extLst>
          </p:cNvPr>
          <p:cNvSpPr txBox="1"/>
          <p:nvPr/>
        </p:nvSpPr>
        <p:spPr>
          <a:xfrm>
            <a:off x="8340625" y="3886646"/>
            <a:ext cx="331385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3A32"/>
                </a:solidFill>
                <a:latin typeface="Poppins"/>
              </a:rPr>
              <a:t>3. Bootstrap Validation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F97156-C75D-9DAB-A25F-9B705AED9C37}"/>
              </a:ext>
            </a:extLst>
          </p:cNvPr>
          <p:cNvSpPr txBox="1"/>
          <p:nvPr/>
        </p:nvSpPr>
        <p:spPr>
          <a:xfrm>
            <a:off x="8340625" y="4220021"/>
            <a:ext cx="3156049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062C24"/>
                </a:solidFill>
                <a:latin typeface="DM Sans"/>
              </a:rPr>
              <a:t>Paired bootstrap significance testing (2,000 resamples) for AUROC 95% CIs + Youden's-J ROC optimal decision threshold selection.</a:t>
            </a:r>
          </a:p>
        </p:txBody>
      </p:sp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52925A26-2D1F-B44F-FC5E-01B37C0DB2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2" y="3438971"/>
            <a:ext cx="238125" cy="209550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40794D72-43B7-CA49-D772-79625994E2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2750" y="3438971"/>
            <a:ext cx="209550" cy="209550"/>
          </a:xfrm>
          <a:prstGeom prst="rect">
            <a:avLst/>
          </a:prstGeom>
        </p:spPr>
      </p:pic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7133F067-9445-0820-052C-4E05DEEC33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5400" y="3438971"/>
            <a:ext cx="2095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02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11C8-CBF8-6354-D804-0D6DA4A6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56D4BF3C-6F54-EA1C-B883-46426270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A8B3CC8A-6BDC-853C-2BB2-E1B25076E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7C58DD8A-70E3-495E-7D97-F2DCB16F3A7F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33136EA-E003-CF3D-C797-1A3BF5D7A729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18758C8-F9B9-057E-E69F-F8BC4751F456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71C254B-98B4-741B-45C2-E9DAD122C531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851D55D-0C6B-BD52-0BFD-77A6AEEBFD79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0AEBAF2-C8DC-F91B-819F-0A55282E7CC2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6AC3D3F-7FA2-17EE-7D2D-13BE9A6C269E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E1E834E-4A23-9E82-1AA4-51DC9CCAE7D9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72D7CA3-D3A4-6C95-2254-A2AE68CD5DB4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54D07AE3-6177-F23A-2813-266E9DEB7113}"/>
              </a:ext>
            </a:extLst>
          </p:cNvPr>
          <p:cNvSpPr/>
          <p:nvPr/>
        </p:nvSpPr>
        <p:spPr>
          <a:xfrm>
            <a:off x="7391166" y="412745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B34D89C-8D9B-0CA3-16A5-DDB41CE4A21C}"/>
              </a:ext>
            </a:extLst>
          </p:cNvPr>
          <p:cNvSpPr txBox="1"/>
          <p:nvPr/>
        </p:nvSpPr>
        <p:spPr>
          <a:xfrm>
            <a:off x="267433" y="1257300"/>
            <a:ext cx="563968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Inference &amp; Dual Explainability</a:t>
            </a:r>
          </a:p>
          <a:p>
            <a:endParaRPr lang="en-US" dirty="0"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4A11627C-7F44-518F-8772-B3EE81887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693193"/>
            <a:ext cx="5486400" cy="2747962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0BE0DE13-69A8-375C-D9CE-92DE9E592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693193"/>
            <a:ext cx="5486400" cy="2747962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8D5C6EC9-3A11-517D-1CF1-66092D67A0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969418"/>
            <a:ext cx="4933950" cy="2095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38554F-7AE4-83B2-F4C2-E164D1770DA4}"/>
              </a:ext>
            </a:extLst>
          </p:cNvPr>
          <p:cNvSpPr txBox="1"/>
          <p:nvPr/>
        </p:nvSpPr>
        <p:spPr>
          <a:xfrm>
            <a:off x="1038225" y="3255168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Candidate Drug Discovery</a:t>
            </a: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73D50E6A-B089-00F5-7475-2B0E406D58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2969418"/>
            <a:ext cx="4933950" cy="2095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CFEF7F9-B9BF-9414-8883-E9243514D0AE}"/>
              </a:ext>
            </a:extLst>
          </p:cNvPr>
          <p:cNvSpPr txBox="1"/>
          <p:nvPr/>
        </p:nvSpPr>
        <p:spPr>
          <a:xfrm>
            <a:off x="6791325" y="3255168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>
                <a:solidFill>
                  <a:srgbClr val="043A32"/>
                </a:solidFill>
                <a:latin typeface="Poppins"/>
              </a:rPr>
              <a:t>Dual XAI Interpretability</a:t>
            </a: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956FCFD8-4886-AAA5-504F-FDB8336074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302793"/>
            <a:ext cx="190500" cy="1905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9453D5-2465-3DA8-F652-C191DCD3A4A8}"/>
              </a:ext>
            </a:extLst>
          </p:cNvPr>
          <p:cNvSpPr txBox="1"/>
          <p:nvPr/>
        </p:nvSpPr>
        <p:spPr>
          <a:xfrm>
            <a:off x="942975" y="3674268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Screening Pipeline: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get_top_drugs() and predict_all_pairs() generate ranked therapeutic candidate lists.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3788C8-8F94-184E-9030-DEBAC9F8EF6A}"/>
              </a:ext>
            </a:extLst>
          </p:cNvPr>
          <p:cNvSpPr txBox="1"/>
          <p:nvPr/>
        </p:nvSpPr>
        <p:spPr>
          <a:xfrm>
            <a:off x="942975" y="4183856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 dirty="0">
                <a:solidFill>
                  <a:srgbClr val="062C24"/>
                </a:solidFill>
                <a:latin typeface="DM Sans"/>
              </a:rPr>
              <a:t>Artifact Export: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Final ensemble saved via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joblib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along with </a:t>
            </a:r>
            <a:r>
              <a:rPr sz="1087" b="1" i="0" u="none" dirty="0">
                <a:solidFill>
                  <a:srgbClr val="062C24"/>
                </a:solidFill>
                <a:latin typeface="DM Sans"/>
              </a:rPr>
              <a:t>optimal decision thresholds and metadata.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87A393-5056-88FC-5B2D-A5D62F5EBB16}"/>
              </a:ext>
            </a:extLst>
          </p:cNvPr>
          <p:cNvSpPr txBox="1"/>
          <p:nvPr/>
        </p:nvSpPr>
        <p:spPr>
          <a:xfrm>
            <a:off x="942975" y="4693443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 dirty="0">
                <a:solidFill>
                  <a:srgbClr val="062C24"/>
                </a:solidFill>
                <a:latin typeface="DM Sans"/>
              </a:rPr>
              <a:t>Publication Plots: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Publication-quality ROC/PR curves and confusion matrices exported .</a:t>
            </a: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3E745065-6D1D-041D-EFB1-0288F9F95F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3302793"/>
            <a:ext cx="190500" cy="1905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EE82516-B17B-4947-408A-DDA7C7FAD307}"/>
              </a:ext>
            </a:extLst>
          </p:cNvPr>
          <p:cNvSpPr txBox="1"/>
          <p:nvPr/>
        </p:nvSpPr>
        <p:spPr>
          <a:xfrm>
            <a:off x="6696075" y="3674268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Branch B Explainability: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7 TreeSHAP summary/bar plots + metapath evidence extraction for random walk paths.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85467C-8082-A353-A77B-CDD587D1D5C8}"/>
              </a:ext>
            </a:extLst>
          </p:cNvPr>
          <p:cNvSpPr txBox="1"/>
          <p:nvPr/>
        </p:nvSpPr>
        <p:spPr>
          <a:xfrm>
            <a:off x="6696075" y="4183856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Branch A Explainability: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Attention-based TxGNN_Explainer isolating graph subgraph evidence.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02BA1A-B9F0-A952-B907-E84987D8A547}"/>
              </a:ext>
            </a:extLst>
          </p:cNvPr>
          <p:cNvSpPr txBox="1"/>
          <p:nvPr/>
        </p:nvSpPr>
        <p:spPr>
          <a:xfrm>
            <a:off x="6696075" y="4693443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Validation Case Study: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Dual XAI demonstrated in-code on Methotrexate → Multiple Sclerosis pair.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F1821-EE78-2FCA-B86B-098A305DD1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3479"/>
            <a:ext cx="12192000" cy="666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67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55F00-4D63-579D-0C4B-AC843AD4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480B6927-F63E-A209-8972-D9688774C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D39AC17-24E4-3C33-20D2-7627A91A75A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54B4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107005" y="0"/>
            <a:ext cx="12298929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6ECE564-1E18-BA70-87A7-1A4C77F66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084"/>
            <a:ext cx="3530500" cy="48179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F3035EA-E94C-070F-C114-25500CF3039A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063D6-C6B7-92A3-643B-996D615EEB2D}"/>
              </a:ext>
            </a:extLst>
          </p:cNvPr>
          <p:cNvSpPr txBox="1"/>
          <p:nvPr/>
        </p:nvSpPr>
        <p:spPr>
          <a:xfrm>
            <a:off x="768558" y="2270815"/>
            <a:ext cx="3266766" cy="3388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"/>
              </a:rPr>
              <a:t>Introduction</a:t>
            </a: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Problem Definition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Motivation &amp; Objectives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Implementation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Architecture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Methodology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Results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Future Work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References</a:t>
            </a:r>
            <a:endParaRPr lang="en-US" sz="1650" b="1" dirty="0">
              <a:solidFill>
                <a:srgbClr val="0B3C37"/>
              </a:solidFill>
              <a:latin typeface="Plus Jakarta Sans"/>
              <a:sym typeface="Apto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0C01AE-9FA9-EB5F-D037-3DB5DF21ED79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F458A2CA-C318-B98B-FE65-21B77A1BF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74" y="3124316"/>
            <a:ext cx="2792981" cy="14097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6151AA7-6262-2B12-BC97-7BE5F78D346D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90B723-EE34-1DE6-970C-FBBE87DDD260}"/>
              </a:ext>
            </a:extLst>
          </p:cNvPr>
          <p:cNvSpPr txBox="1"/>
          <p:nvPr/>
        </p:nvSpPr>
        <p:spPr>
          <a:xfrm>
            <a:off x="628650" y="390869"/>
            <a:ext cx="1543050" cy="1131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Plus Jakarta Sans"/>
                <a:sym typeface="Aptos Bold"/>
              </a:rPr>
              <a:t>Agenda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52E459A-68F5-F73F-902F-44A534882C01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F6867-6406-9707-C0C1-930050EF0004}"/>
              </a:ext>
            </a:extLst>
          </p:cNvPr>
          <p:cNvSpPr txBox="1"/>
          <p:nvPr/>
        </p:nvSpPr>
        <p:spPr>
          <a:xfrm>
            <a:off x="4464516" y="3588318"/>
            <a:ext cx="3155886" cy="84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1462" lvl="1">
              <a:lnSpc>
                <a:spcPct val="150000"/>
              </a:lnSpc>
              <a:spcBef>
                <a:spcPct val="0"/>
              </a:spcBef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Results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291462" lvl="1">
              <a:lnSpc>
                <a:spcPct val="150000"/>
              </a:lnSpc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062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45704-697D-40C6-3A81-454EAE9E4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2A92E26A-0142-6693-DE0D-5DD9A9B06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C547C17E-480A-8198-7AAB-6975EBEC5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9AD36B1F-D02B-B6A4-6A39-55CC11B60C3A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FDAE84C-187F-DC53-1D02-423AC9D943C2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D9675B5-29A3-67B8-8DAE-1AF45F69D4A3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9D532FE-E88E-620F-13B6-A8C1E0471126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88898CA-E7D6-5C85-FAF8-375FB5C50200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33B0C20-4428-8EF3-793E-45899BB826A6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1344654-7085-0117-3866-74051CDF1444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6639285-6E68-929C-02D0-8CF4FD9F2F43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F6410A2-23E6-5886-8A78-1D2C68E7BBE2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2DE39AB1-0C33-52D7-F628-6CABF1B003AE}"/>
              </a:ext>
            </a:extLst>
          </p:cNvPr>
          <p:cNvSpPr/>
          <p:nvPr/>
        </p:nvSpPr>
        <p:spPr>
          <a:xfrm>
            <a:off x="8409138" y="398127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172B272-5A0B-31D3-B866-21B6DF0FB4FA}"/>
              </a:ext>
            </a:extLst>
          </p:cNvPr>
          <p:cNvSpPr txBox="1"/>
          <p:nvPr/>
        </p:nvSpPr>
        <p:spPr>
          <a:xfrm>
            <a:off x="267433" y="1257300"/>
            <a:ext cx="563968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Results &amp; Output Architecture</a:t>
            </a:r>
          </a:p>
          <a:p>
            <a:endParaRPr lang="en-US" dirty="0"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653B106-C8AF-01A9-E022-0D29DD6D1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018532"/>
            <a:ext cx="3594050" cy="209728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637FF75E-4C76-895A-A99A-7B6A28A67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900" y="3018532"/>
            <a:ext cx="3594050" cy="2097285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8A905007-FA84-7AC4-0E69-74C9AE8A9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550" y="3018532"/>
            <a:ext cx="3594199" cy="2097285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C44DEB16-C486-803F-87E2-0B3B98CCC6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3237607"/>
            <a:ext cx="419100" cy="419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D78BE7F-DB66-EE77-6421-B1D61F2D9625}"/>
              </a:ext>
            </a:extLst>
          </p:cNvPr>
          <p:cNvSpPr txBox="1"/>
          <p:nvPr/>
        </p:nvSpPr>
        <p:spPr>
          <a:xfrm>
            <a:off x="695325" y="3790057"/>
            <a:ext cx="33136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3A32"/>
                </a:solidFill>
                <a:latin typeface="Poppins"/>
              </a:rPr>
              <a:t>1. Quantitative Metrics Suite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88AA12-DF72-9577-278C-ED4EDEA7E552}"/>
              </a:ext>
            </a:extLst>
          </p:cNvPr>
          <p:cNvSpPr txBox="1"/>
          <p:nvPr/>
        </p:nvSpPr>
        <p:spPr>
          <a:xfrm>
            <a:off x="695325" y="4123432"/>
            <a:ext cx="3155900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062C24"/>
                </a:solidFill>
                <a:latin typeface="DM Sans"/>
              </a:rPr>
              <a:t>Standardized computation of </a:t>
            </a:r>
            <a:r>
              <a:rPr sz="1050" b="1" i="0" u="none">
                <a:solidFill>
                  <a:srgbClr val="062C24"/>
                </a:solidFill>
                <a:latin typeface="DM Sans"/>
              </a:rPr>
              <a:t>Accuracy, Precision, Recall, F1-Score, AUROC, and AUPRC</a:t>
            </a:r>
            <a:r>
              <a:rPr sz="1050" b="0" i="0" u="none">
                <a:solidFill>
                  <a:srgbClr val="062C24"/>
                </a:solidFill>
                <a:latin typeface="DM Sans"/>
              </a:rPr>
              <a:t> across both per-fold execution and aggregate Mean ± Std summaries.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A3F6C631-F091-3BF3-8948-4CAD530C48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975" y="3237607"/>
            <a:ext cx="419100" cy="4191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6C0B9D1-67CF-49A4-CEB8-BBB78F382F17}"/>
              </a:ext>
            </a:extLst>
          </p:cNvPr>
          <p:cNvSpPr txBox="1"/>
          <p:nvPr/>
        </p:nvSpPr>
        <p:spPr>
          <a:xfrm>
            <a:off x="4517975" y="3790057"/>
            <a:ext cx="33136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3A32"/>
                </a:solidFill>
                <a:latin typeface="Poppins"/>
              </a:rPr>
              <a:t>2. Aligned Evaluation Dataset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ADFFCA-A82C-A9EF-3ABF-447FA9AF5F22}"/>
              </a:ext>
            </a:extLst>
          </p:cNvPr>
          <p:cNvSpPr txBox="1"/>
          <p:nvPr/>
        </p:nvSpPr>
        <p:spPr>
          <a:xfrm>
            <a:off x="4517975" y="4123432"/>
            <a:ext cx="3155900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062C24"/>
                </a:solidFill>
                <a:latin typeface="DM Sans"/>
              </a:rPr>
              <a:t>Features </a:t>
            </a:r>
            <a:r>
              <a:rPr sz="1050" b="1" i="0" u="none">
                <a:solidFill>
                  <a:srgbClr val="062C24"/>
                </a:solidFill>
                <a:latin typeface="DM Sans"/>
              </a:rPr>
              <a:t>760 aligned compound-disease pairs</a:t>
            </a:r>
            <a:r>
              <a:rPr sz="1050" b="0" i="0" u="none">
                <a:solidFill>
                  <a:srgbClr val="062C24"/>
                </a:solidFill>
                <a:latin typeface="DM Sans"/>
              </a:rPr>
              <a:t> across 10 folds. This focused sample size directly motivates our use of 2,000-resample paired bootstrap testing.</a:t>
            </a:r>
          </a:p>
        </p:txBody>
      </p:sp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3F5B9EB2-44C8-ED70-A2DE-2FADD437EE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3237607"/>
            <a:ext cx="419100" cy="4191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F4F26FD-A06D-C242-31F5-A944EF92601A}"/>
              </a:ext>
            </a:extLst>
          </p:cNvPr>
          <p:cNvSpPr txBox="1"/>
          <p:nvPr/>
        </p:nvSpPr>
        <p:spPr>
          <a:xfrm>
            <a:off x="8340625" y="3790057"/>
            <a:ext cx="331385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3A32"/>
                </a:solidFill>
                <a:latin typeface="Poppins"/>
              </a:rPr>
              <a:t>3. Automated Artifact Outputs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FEFA49-B1B1-4D55-B3E5-4F5B1FF21DF1}"/>
              </a:ext>
            </a:extLst>
          </p:cNvPr>
          <p:cNvSpPr txBox="1"/>
          <p:nvPr/>
        </p:nvSpPr>
        <p:spPr>
          <a:xfrm>
            <a:off x="8340625" y="4123432"/>
            <a:ext cx="3156049" cy="567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 dirty="0">
                <a:solidFill>
                  <a:srgbClr val="062C24"/>
                </a:solidFill>
                <a:latin typeface="DM Sans"/>
              </a:rPr>
              <a:t>Generates cv_per_fold_results.csv, cv_results_summary.csv, high-resolution ROC/PR curves, and prediction score distribution plots .</a:t>
            </a:r>
          </a:p>
        </p:txBody>
      </p:sp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E7AE1E7E-B0C0-57A1-DCF6-4A5C921916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342382"/>
            <a:ext cx="209550" cy="209550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0C70BA90-C9FB-5973-E627-AF66AA57C1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2750" y="3342382"/>
            <a:ext cx="209550" cy="209550"/>
          </a:xfrm>
          <a:prstGeom prst="rect">
            <a:avLst/>
          </a:prstGeom>
        </p:spPr>
      </p:pic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2EE75385-B431-1418-8355-8581E4C68A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1113" y="3342382"/>
            <a:ext cx="23812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64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36EA-20C6-DCAC-FC2F-FB7736D81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AEA2E60D-EEC6-14FF-7472-E974E0290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723E3E19-96CE-8E2E-5A2E-6E4C20181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E7CDC817-68A4-4FE1-09AF-59CBA9F221FE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7B76F70-EFD6-1873-75F0-78E61C809AD0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09BE146-6E2E-ACDF-6524-5BEB6D4986CA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99834246-064A-7717-3A61-E31E999C3143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326A648-3075-7662-9CE9-B13C1447810A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772D9E5-0CD2-60DE-5C6D-766D9D7E6FBA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54A3689-D9AF-1331-C299-D7FF2B0243F4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98B00F1-EC45-0593-D8A2-FE3F43BF1DFD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F07A9B3-DE00-4DD0-CBFC-C2D17003B878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CBBC9785-D1DF-8A1D-44E1-BE995DFB6946}"/>
              </a:ext>
            </a:extLst>
          </p:cNvPr>
          <p:cNvSpPr/>
          <p:nvPr/>
        </p:nvSpPr>
        <p:spPr>
          <a:xfrm>
            <a:off x="8409138" y="398127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8D7DA652-E27F-45FB-91C4-15373870A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533650"/>
            <a:ext cx="11239500" cy="39433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5B3805BC-91AF-7BEA-ACE1-8E9765080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504950"/>
            <a:ext cx="3619500" cy="83820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7C6F116B-387C-35C3-C4DC-E8D41B432A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1504950"/>
            <a:ext cx="3619500" cy="8382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BA0DD68C-DF82-57C9-7ECF-0BF95D0962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1504950"/>
            <a:ext cx="3619500" cy="838200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C68F19D2-C11E-10DE-66E9-DEDEF3809F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2533650"/>
            <a:ext cx="4381500" cy="39433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FF12864-60B7-8F4B-F580-065DD8B75DB2}"/>
              </a:ext>
            </a:extLst>
          </p:cNvPr>
          <p:cNvSpPr txBox="1"/>
          <p:nvPr/>
        </p:nvSpPr>
        <p:spPr>
          <a:xfrm>
            <a:off x="676275" y="1647825"/>
            <a:ext cx="3219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D665F"/>
                </a:solidFill>
                <a:latin typeface="Plus Jakarta Sans"/>
              </a:rPr>
              <a:t>NODES IN GRAPH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840BFC-E828-AD7C-ECD5-7D7C20411B0C}"/>
              </a:ext>
            </a:extLst>
          </p:cNvPr>
          <p:cNvSpPr txBox="1"/>
          <p:nvPr/>
        </p:nvSpPr>
        <p:spPr>
          <a:xfrm>
            <a:off x="676275" y="1857375"/>
            <a:ext cx="3219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54A40"/>
                </a:solidFill>
                <a:latin typeface="Space Grotesk"/>
              </a:rPr>
              <a:t>47,031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9F10CF-25D5-3D9B-89BE-F7DDAC8D4B45}"/>
              </a:ext>
            </a:extLst>
          </p:cNvPr>
          <p:cNvSpPr txBox="1"/>
          <p:nvPr/>
        </p:nvSpPr>
        <p:spPr>
          <a:xfrm>
            <a:off x="4486275" y="1647825"/>
            <a:ext cx="3219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D665F"/>
                </a:solidFill>
                <a:latin typeface="Plus Jakarta Sans"/>
              </a:rPr>
              <a:t>EDGES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B60984-F8F3-4ABA-886C-6C8B4A5BCD4F}"/>
              </a:ext>
            </a:extLst>
          </p:cNvPr>
          <p:cNvSpPr txBox="1"/>
          <p:nvPr/>
        </p:nvSpPr>
        <p:spPr>
          <a:xfrm>
            <a:off x="4486275" y="1857375"/>
            <a:ext cx="3219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54A40"/>
                </a:solidFill>
                <a:latin typeface="Space Grotesk"/>
              </a:rPr>
              <a:t>2,250,197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19A312-7F22-5B6D-30F2-9DAD88D30DC4}"/>
              </a:ext>
            </a:extLst>
          </p:cNvPr>
          <p:cNvSpPr txBox="1"/>
          <p:nvPr/>
        </p:nvSpPr>
        <p:spPr>
          <a:xfrm>
            <a:off x="8296275" y="1647825"/>
            <a:ext cx="3219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D665F"/>
                </a:solidFill>
                <a:latin typeface="Plus Jakarta Sans"/>
              </a:rPr>
              <a:t>DRUG–DISEASE PAIRS SCORED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11507A-E5D3-FE3A-1525-21C30E2446F7}"/>
              </a:ext>
            </a:extLst>
          </p:cNvPr>
          <p:cNvSpPr txBox="1"/>
          <p:nvPr/>
        </p:nvSpPr>
        <p:spPr>
          <a:xfrm>
            <a:off x="8296275" y="1857375"/>
            <a:ext cx="3219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54A40"/>
                </a:solidFill>
                <a:latin typeface="Space Grotesk"/>
              </a:rPr>
              <a:t>209,168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539D4EA-4C05-115A-CAAF-2A453140F76B}"/>
              </a:ext>
            </a:extLst>
          </p:cNvPr>
          <p:cNvGraphicFramePr>
            <a:graphicFrameLocks noGrp="1"/>
          </p:cNvGraphicFramePr>
          <p:nvPr/>
        </p:nvGraphicFramePr>
        <p:xfrm>
          <a:off x="485775" y="2543175"/>
          <a:ext cx="4362448" cy="392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6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Fold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4A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AUROC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4A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AUPRC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4A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4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0.9263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0.9363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0.8874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0.9135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0.9136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0.8344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0.9391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0.9357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0.8874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0.9588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0.9629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0.8940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0.9540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0.9550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0.8676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0.9481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0.9520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0.8940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0.9279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0.9160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0.8543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0.9477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0.9516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0.8808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0.9574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0.9503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0.9073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0.9237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0.9046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0.8676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54A40"/>
                          </a:solidFill>
                          <a:latin typeface="Plus Jakarta Sans ExtraBold"/>
                        </a:rPr>
                        <a:t>Average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054A40"/>
                          </a:solidFill>
                          <a:latin typeface="Plus Jakarta Sans ExtraBold"/>
                        </a:rPr>
                        <a:t>0.9396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054A40"/>
                          </a:solidFill>
                          <a:latin typeface="Plus Jakarta Sans ExtraBold"/>
                        </a:rPr>
                        <a:t>0.9378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054A40"/>
                          </a:solidFill>
                          <a:latin typeface="Plus Jakarta Sans ExtraBold"/>
                        </a:rPr>
                        <a:t>0.8775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0E06413F-3CB2-99DA-83A4-2FEF15C5A6A0}"/>
              </a:ext>
            </a:extLst>
          </p:cNvPr>
          <p:cNvSpPr/>
          <p:nvPr/>
        </p:nvSpPr>
        <p:spPr>
          <a:xfrm>
            <a:off x="485775" y="3205162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B8AB10B-65E3-DAE6-892A-9E85B7A33E34}"/>
              </a:ext>
            </a:extLst>
          </p:cNvPr>
          <p:cNvSpPr/>
          <p:nvPr/>
        </p:nvSpPr>
        <p:spPr>
          <a:xfrm>
            <a:off x="1701849" y="3205162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F17F18D-AC3D-29DC-C152-29B7A12A94EE}"/>
              </a:ext>
            </a:extLst>
          </p:cNvPr>
          <p:cNvSpPr/>
          <p:nvPr/>
        </p:nvSpPr>
        <p:spPr>
          <a:xfrm>
            <a:off x="2755255" y="3205162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E694E4-6821-BA52-64EF-6EBC3E94DB5F}"/>
              </a:ext>
            </a:extLst>
          </p:cNvPr>
          <p:cNvSpPr/>
          <p:nvPr/>
        </p:nvSpPr>
        <p:spPr>
          <a:xfrm>
            <a:off x="3801665" y="3205162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9723353-142C-FA01-C0D3-96EE0AC2BD3B}"/>
              </a:ext>
            </a:extLst>
          </p:cNvPr>
          <p:cNvSpPr/>
          <p:nvPr/>
        </p:nvSpPr>
        <p:spPr>
          <a:xfrm>
            <a:off x="485775" y="3529012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76C03A4-A550-44D9-F3F3-33D658AA5E9B}"/>
              </a:ext>
            </a:extLst>
          </p:cNvPr>
          <p:cNvSpPr/>
          <p:nvPr/>
        </p:nvSpPr>
        <p:spPr>
          <a:xfrm>
            <a:off x="1701849" y="3529012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3FC7520-9742-FF28-3CA7-3874C904E163}"/>
              </a:ext>
            </a:extLst>
          </p:cNvPr>
          <p:cNvSpPr/>
          <p:nvPr/>
        </p:nvSpPr>
        <p:spPr>
          <a:xfrm>
            <a:off x="2755255" y="3529012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20A5C78-53A3-E854-05AF-CBA2F7B5AB39}"/>
              </a:ext>
            </a:extLst>
          </p:cNvPr>
          <p:cNvSpPr/>
          <p:nvPr/>
        </p:nvSpPr>
        <p:spPr>
          <a:xfrm>
            <a:off x="3801665" y="3529012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DDE3334-1739-37A9-9585-BBD248C8951C}"/>
              </a:ext>
            </a:extLst>
          </p:cNvPr>
          <p:cNvSpPr/>
          <p:nvPr/>
        </p:nvSpPr>
        <p:spPr>
          <a:xfrm>
            <a:off x="485775" y="3852862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DC94DAB-D42C-69D5-3E3E-10D4577BD0CE}"/>
              </a:ext>
            </a:extLst>
          </p:cNvPr>
          <p:cNvSpPr/>
          <p:nvPr/>
        </p:nvSpPr>
        <p:spPr>
          <a:xfrm>
            <a:off x="1701849" y="3852862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47D048B-A1BD-C189-D146-3F07B52B3124}"/>
              </a:ext>
            </a:extLst>
          </p:cNvPr>
          <p:cNvSpPr/>
          <p:nvPr/>
        </p:nvSpPr>
        <p:spPr>
          <a:xfrm>
            <a:off x="2755255" y="3852862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82658C4-6999-26B4-A6D3-83546FC3ADFE}"/>
              </a:ext>
            </a:extLst>
          </p:cNvPr>
          <p:cNvSpPr/>
          <p:nvPr/>
        </p:nvSpPr>
        <p:spPr>
          <a:xfrm>
            <a:off x="3801665" y="3852862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4A51BF6-5B63-FC50-B5EE-851BBBE74408}"/>
              </a:ext>
            </a:extLst>
          </p:cNvPr>
          <p:cNvSpPr/>
          <p:nvPr/>
        </p:nvSpPr>
        <p:spPr>
          <a:xfrm>
            <a:off x="485775" y="4176712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D147529-1843-BBD5-EFA9-F33ED3C23B88}"/>
              </a:ext>
            </a:extLst>
          </p:cNvPr>
          <p:cNvSpPr/>
          <p:nvPr/>
        </p:nvSpPr>
        <p:spPr>
          <a:xfrm>
            <a:off x="1701849" y="4176712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9AF567B-A001-B346-8AF2-73B50F0393CB}"/>
              </a:ext>
            </a:extLst>
          </p:cNvPr>
          <p:cNvSpPr/>
          <p:nvPr/>
        </p:nvSpPr>
        <p:spPr>
          <a:xfrm>
            <a:off x="2755255" y="4176712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B852A0E-834A-1507-35CC-E9536A52C5FE}"/>
              </a:ext>
            </a:extLst>
          </p:cNvPr>
          <p:cNvSpPr/>
          <p:nvPr/>
        </p:nvSpPr>
        <p:spPr>
          <a:xfrm>
            <a:off x="3801665" y="4176712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996D12A-FCCA-51F9-9126-1A5E59AA5263}"/>
              </a:ext>
            </a:extLst>
          </p:cNvPr>
          <p:cNvSpPr/>
          <p:nvPr/>
        </p:nvSpPr>
        <p:spPr>
          <a:xfrm>
            <a:off x="485775" y="4500562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32D8B93-A9BB-BADF-B563-4A761E599362}"/>
              </a:ext>
            </a:extLst>
          </p:cNvPr>
          <p:cNvSpPr/>
          <p:nvPr/>
        </p:nvSpPr>
        <p:spPr>
          <a:xfrm>
            <a:off x="1701849" y="4500562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DB4FED7-F6D5-273E-DF10-D863299A2B2F}"/>
              </a:ext>
            </a:extLst>
          </p:cNvPr>
          <p:cNvSpPr/>
          <p:nvPr/>
        </p:nvSpPr>
        <p:spPr>
          <a:xfrm>
            <a:off x="2755255" y="4500562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76DAC03-0592-3E7C-00A0-62C74C194C50}"/>
              </a:ext>
            </a:extLst>
          </p:cNvPr>
          <p:cNvSpPr/>
          <p:nvPr/>
        </p:nvSpPr>
        <p:spPr>
          <a:xfrm>
            <a:off x="3801665" y="4500562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A0C067F-4D31-13BF-311E-269155974495}"/>
              </a:ext>
            </a:extLst>
          </p:cNvPr>
          <p:cNvSpPr/>
          <p:nvPr/>
        </p:nvSpPr>
        <p:spPr>
          <a:xfrm>
            <a:off x="485775" y="4824412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B54FF630-F9E8-8ED9-B9D4-83CD9A243415}"/>
              </a:ext>
            </a:extLst>
          </p:cNvPr>
          <p:cNvSpPr/>
          <p:nvPr/>
        </p:nvSpPr>
        <p:spPr>
          <a:xfrm>
            <a:off x="1701849" y="4824412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918080F-F0C0-7A97-5ACB-66FDC7A628EE}"/>
              </a:ext>
            </a:extLst>
          </p:cNvPr>
          <p:cNvSpPr/>
          <p:nvPr/>
        </p:nvSpPr>
        <p:spPr>
          <a:xfrm>
            <a:off x="2755255" y="4824412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BEFE5C4-0EEB-7271-0D9F-AA8D8297F442}"/>
              </a:ext>
            </a:extLst>
          </p:cNvPr>
          <p:cNvSpPr/>
          <p:nvPr/>
        </p:nvSpPr>
        <p:spPr>
          <a:xfrm>
            <a:off x="3801665" y="4824412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256023C5-A187-B4A5-F07C-C0BE8C5CC802}"/>
              </a:ext>
            </a:extLst>
          </p:cNvPr>
          <p:cNvSpPr/>
          <p:nvPr/>
        </p:nvSpPr>
        <p:spPr>
          <a:xfrm>
            <a:off x="485775" y="5148262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674E602-6AAD-623E-901A-40E008AA88A9}"/>
              </a:ext>
            </a:extLst>
          </p:cNvPr>
          <p:cNvSpPr/>
          <p:nvPr/>
        </p:nvSpPr>
        <p:spPr>
          <a:xfrm>
            <a:off x="1701849" y="5148262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4C98921-CB1E-C9AB-5ED3-0212B1270B34}"/>
              </a:ext>
            </a:extLst>
          </p:cNvPr>
          <p:cNvSpPr/>
          <p:nvPr/>
        </p:nvSpPr>
        <p:spPr>
          <a:xfrm>
            <a:off x="2755255" y="5148262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07969C8-6E37-E622-D948-49B1041B2086}"/>
              </a:ext>
            </a:extLst>
          </p:cNvPr>
          <p:cNvSpPr/>
          <p:nvPr/>
        </p:nvSpPr>
        <p:spPr>
          <a:xfrm>
            <a:off x="3801665" y="5148262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53B22091-8CA8-1D4B-60F3-7C7253C4501C}"/>
              </a:ext>
            </a:extLst>
          </p:cNvPr>
          <p:cNvSpPr/>
          <p:nvPr/>
        </p:nvSpPr>
        <p:spPr>
          <a:xfrm>
            <a:off x="485775" y="5472112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CBFCF34-3558-A9DA-F434-29888AC2DF5E}"/>
              </a:ext>
            </a:extLst>
          </p:cNvPr>
          <p:cNvSpPr/>
          <p:nvPr/>
        </p:nvSpPr>
        <p:spPr>
          <a:xfrm>
            <a:off x="1701849" y="5472112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656C1BF-5304-DA89-F197-4FF167420C23}"/>
              </a:ext>
            </a:extLst>
          </p:cNvPr>
          <p:cNvSpPr/>
          <p:nvPr/>
        </p:nvSpPr>
        <p:spPr>
          <a:xfrm>
            <a:off x="2755255" y="5472112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D5BCF5B8-DD48-D424-DD8F-60A4605E9971}"/>
              </a:ext>
            </a:extLst>
          </p:cNvPr>
          <p:cNvSpPr/>
          <p:nvPr/>
        </p:nvSpPr>
        <p:spPr>
          <a:xfrm>
            <a:off x="3801665" y="5472112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042996E-7914-0BC0-3D64-11722C6CA002}"/>
              </a:ext>
            </a:extLst>
          </p:cNvPr>
          <p:cNvSpPr/>
          <p:nvPr/>
        </p:nvSpPr>
        <p:spPr>
          <a:xfrm>
            <a:off x="485775" y="5795962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30C28C1-C151-AF93-5468-9507D35C2414}"/>
              </a:ext>
            </a:extLst>
          </p:cNvPr>
          <p:cNvSpPr/>
          <p:nvPr/>
        </p:nvSpPr>
        <p:spPr>
          <a:xfrm>
            <a:off x="1701849" y="5795962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A28344D-64EC-6B58-8592-D809C78CC1E3}"/>
              </a:ext>
            </a:extLst>
          </p:cNvPr>
          <p:cNvSpPr/>
          <p:nvPr/>
        </p:nvSpPr>
        <p:spPr>
          <a:xfrm>
            <a:off x="2755255" y="5795962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AB13763-7419-B4BF-20EB-4B9E46A5AB07}"/>
              </a:ext>
            </a:extLst>
          </p:cNvPr>
          <p:cNvSpPr/>
          <p:nvPr/>
        </p:nvSpPr>
        <p:spPr>
          <a:xfrm>
            <a:off x="3801665" y="5795962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20E027B-4673-5117-0E13-6D7F9D1D0CBC}"/>
              </a:ext>
            </a:extLst>
          </p:cNvPr>
          <p:cNvSpPr/>
          <p:nvPr/>
        </p:nvSpPr>
        <p:spPr>
          <a:xfrm>
            <a:off x="485775" y="6124575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48D0783C-E07B-AFF2-65B2-8E209D822FA6}"/>
              </a:ext>
            </a:extLst>
          </p:cNvPr>
          <p:cNvSpPr/>
          <p:nvPr/>
        </p:nvSpPr>
        <p:spPr>
          <a:xfrm>
            <a:off x="1701849" y="6124575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3012F9A-05A6-A9A0-44BA-73FCB8249998}"/>
              </a:ext>
            </a:extLst>
          </p:cNvPr>
          <p:cNvSpPr/>
          <p:nvPr/>
        </p:nvSpPr>
        <p:spPr>
          <a:xfrm>
            <a:off x="2755255" y="6124575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F177E67C-E702-5226-18ED-5E7857422809}"/>
              </a:ext>
            </a:extLst>
          </p:cNvPr>
          <p:cNvSpPr/>
          <p:nvPr/>
        </p:nvSpPr>
        <p:spPr>
          <a:xfrm>
            <a:off x="3801665" y="6124575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C90D74E-6DCC-7E6F-13A5-DD47D3B83EDC}"/>
              </a:ext>
            </a:extLst>
          </p:cNvPr>
          <p:cNvSpPr/>
          <p:nvPr/>
        </p:nvSpPr>
        <p:spPr>
          <a:xfrm>
            <a:off x="485775" y="6134100"/>
            <a:ext cx="1216074" cy="19050"/>
          </a:xfrm>
          <a:prstGeom prst="rect">
            <a:avLst/>
          </a:prstGeom>
          <a:solidFill>
            <a:srgbClr val="00B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F84ACB59-F3C4-15AC-D3B2-644D3B9615C1}"/>
              </a:ext>
            </a:extLst>
          </p:cNvPr>
          <p:cNvSpPr/>
          <p:nvPr/>
        </p:nvSpPr>
        <p:spPr>
          <a:xfrm>
            <a:off x="1701849" y="6134100"/>
            <a:ext cx="1053405" cy="19050"/>
          </a:xfrm>
          <a:prstGeom prst="rect">
            <a:avLst/>
          </a:prstGeom>
          <a:solidFill>
            <a:srgbClr val="00B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13B20381-958C-FEA6-6B03-CF7A17E12127}"/>
              </a:ext>
            </a:extLst>
          </p:cNvPr>
          <p:cNvSpPr/>
          <p:nvPr/>
        </p:nvSpPr>
        <p:spPr>
          <a:xfrm>
            <a:off x="2755255" y="6134100"/>
            <a:ext cx="1046410" cy="19050"/>
          </a:xfrm>
          <a:prstGeom prst="rect">
            <a:avLst/>
          </a:prstGeom>
          <a:solidFill>
            <a:srgbClr val="00B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4C3DC139-408A-96E6-0022-D1209809C546}"/>
              </a:ext>
            </a:extLst>
          </p:cNvPr>
          <p:cNvSpPr/>
          <p:nvPr/>
        </p:nvSpPr>
        <p:spPr>
          <a:xfrm>
            <a:off x="3801665" y="6134100"/>
            <a:ext cx="1046559" cy="19050"/>
          </a:xfrm>
          <a:prstGeom prst="rect">
            <a:avLst/>
          </a:prstGeom>
          <a:solidFill>
            <a:srgbClr val="00B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AB77EF2-E09B-CAA1-AA2B-5F6A859D99A4}"/>
              </a:ext>
            </a:extLst>
          </p:cNvPr>
          <p:cNvSpPr/>
          <p:nvPr/>
        </p:nvSpPr>
        <p:spPr>
          <a:xfrm>
            <a:off x="476250" y="1295400"/>
            <a:ext cx="11239500" cy="19050"/>
          </a:xfrm>
          <a:prstGeom prst="rect">
            <a:avLst/>
          </a:prstGeom>
          <a:solidFill>
            <a:srgbClr val="BC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93E51BD7-D717-EAA4-4DFF-93DC166C3248}"/>
              </a:ext>
            </a:extLst>
          </p:cNvPr>
          <p:cNvSpPr txBox="1"/>
          <p:nvPr/>
        </p:nvSpPr>
        <p:spPr>
          <a:xfrm>
            <a:off x="406286" y="868829"/>
            <a:ext cx="857202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54A40"/>
                </a:solidFill>
                <a:latin typeface="Space Grotesk"/>
              </a:rPr>
              <a:t>DREAMwalk</a:t>
            </a:r>
            <a:r>
              <a:rPr lang="en-US" sz="2400" b="1" dirty="0">
                <a:solidFill>
                  <a:srgbClr val="054A40"/>
                </a:solidFill>
                <a:latin typeface="Space Grotesk"/>
              </a:rPr>
              <a:t> — AI-Powered Drug Repurposing Engine (10-Fold CV)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DCFF8DD-10DE-A886-B0C8-5CBCE986B9C7}"/>
                  </a:ext>
                </a:extLst>
              </p14:cNvPr>
              <p14:cNvContentPartPr/>
              <p14:nvPr/>
            </p14:nvContentPartPr>
            <p14:xfrm>
              <a:off x="10782135" y="278125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DCFF8DD-10DE-A886-B0C8-5CBCE986B9C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73495" y="277225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4779E7C-1E34-44E1-84D5-A287B806CC48}"/>
              </a:ext>
            </a:extLst>
          </p:cNvPr>
          <p:cNvGrpSpPr/>
          <p:nvPr/>
        </p:nvGrpSpPr>
        <p:grpSpPr>
          <a:xfrm>
            <a:off x="10705815" y="2762175"/>
            <a:ext cx="4320" cy="70560"/>
            <a:chOff x="10705815" y="2762175"/>
            <a:chExt cx="4320" cy="7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1E1E613-7301-2A44-EF5B-21AFE67AB4E4}"/>
                    </a:ext>
                  </a:extLst>
                </p14:cNvPr>
                <p14:cNvContentPartPr/>
                <p14:nvPr/>
              </p14:nvContentPartPr>
              <p14:xfrm>
                <a:off x="10705815" y="2771535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1E1E613-7301-2A44-EF5B-21AFE67AB4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97175" y="27625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40AB0C-7EF3-5655-EF14-5E94BFDAC3A9}"/>
                    </a:ext>
                  </a:extLst>
                </p14:cNvPr>
                <p14:cNvContentPartPr/>
                <p14:nvPr/>
              </p14:nvContentPartPr>
              <p14:xfrm>
                <a:off x="10705815" y="2790615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40AB0C-7EF3-5655-EF14-5E94BFDAC3A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97175" y="27816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A519CD1-095B-7527-89EA-40242621B5A5}"/>
                    </a:ext>
                  </a:extLst>
                </p14:cNvPr>
                <p14:cNvContentPartPr/>
                <p14:nvPr/>
              </p14:nvContentPartPr>
              <p14:xfrm>
                <a:off x="10705815" y="2819415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A519CD1-095B-7527-89EA-40242621B5A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97175" y="28104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C555C0B-334E-B1F4-72C1-DFC3287FF69D}"/>
                    </a:ext>
                  </a:extLst>
                </p14:cNvPr>
                <p14:cNvContentPartPr/>
                <p14:nvPr/>
              </p14:nvContentPartPr>
              <p14:xfrm>
                <a:off x="10705815" y="2762175"/>
                <a:ext cx="360" cy="1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C555C0B-334E-B1F4-72C1-DFC3287FF69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97175" y="2753175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61BFA2F-165A-0378-D850-0DBB9453593D}"/>
                    </a:ext>
                  </a:extLst>
                </p14:cNvPr>
                <p14:cNvContentPartPr/>
                <p14:nvPr/>
              </p14:nvContentPartPr>
              <p14:xfrm>
                <a:off x="10705815" y="2781255"/>
                <a:ext cx="360" cy="1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61BFA2F-165A-0378-D850-0DBB9453593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97175" y="2772255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5528A70-1758-5383-0615-C0FA81338F6D}"/>
                    </a:ext>
                  </a:extLst>
                </p14:cNvPr>
                <p14:cNvContentPartPr/>
                <p14:nvPr/>
              </p14:nvContentPartPr>
              <p14:xfrm>
                <a:off x="10705815" y="2790615"/>
                <a:ext cx="360" cy="2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5528A70-1758-5383-0615-C0FA81338F6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97175" y="2781615"/>
                  <a:ext cx="18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BC9ABF-D6C8-4F9C-8EC7-CF7F6640EF36}"/>
                    </a:ext>
                  </a:extLst>
                </p14:cNvPr>
                <p14:cNvContentPartPr/>
                <p14:nvPr/>
              </p14:nvContentPartPr>
              <p14:xfrm>
                <a:off x="10705815" y="2809695"/>
                <a:ext cx="360" cy="2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BC9ABF-D6C8-4F9C-8EC7-CF7F6640EF3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97175" y="2800695"/>
                  <a:ext cx="18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F4106F-549B-0A25-C187-06620A3E2F29}"/>
                    </a:ext>
                  </a:extLst>
                </p14:cNvPr>
                <p14:cNvContentPartPr/>
                <p14:nvPr/>
              </p14:nvContentPartPr>
              <p14:xfrm>
                <a:off x="10705815" y="2819415"/>
                <a:ext cx="4320" cy="13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F4106F-549B-0A25-C187-06620A3E2F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697175" y="2810415"/>
                  <a:ext cx="21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5DAA213-9350-1B91-77F0-C85615C177A2}"/>
              </a:ext>
            </a:extLst>
          </p:cNvPr>
          <p:cNvGrpSpPr/>
          <p:nvPr/>
        </p:nvGrpSpPr>
        <p:grpSpPr>
          <a:xfrm>
            <a:off x="9867735" y="2781255"/>
            <a:ext cx="360" cy="84600"/>
            <a:chOff x="9867735" y="2781255"/>
            <a:chExt cx="36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2A30FED-E55D-B3D6-1D12-3C5649870D93}"/>
                    </a:ext>
                  </a:extLst>
                </p14:cNvPr>
                <p14:cNvContentPartPr/>
                <p14:nvPr/>
              </p14:nvContentPartPr>
              <p14:xfrm>
                <a:off x="9867735" y="2781255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2A30FED-E55D-B3D6-1D12-3C5649870D9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59095" y="27722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C9FAEA-E821-9F9A-8012-40C859BBC7EC}"/>
                    </a:ext>
                  </a:extLst>
                </p14:cNvPr>
                <p14:cNvContentPartPr/>
                <p14:nvPr/>
              </p14:nvContentPartPr>
              <p14:xfrm>
                <a:off x="9867735" y="2781255"/>
                <a:ext cx="360" cy="84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C9FAEA-E821-9F9A-8012-40C859BBC7E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59095" y="2772255"/>
                  <a:ext cx="1800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CA89D57-86D6-C514-D2C0-5E8CCED29EEB}"/>
                  </a:ext>
                </a:extLst>
              </p14:cNvPr>
              <p14:cNvContentPartPr/>
              <p14:nvPr/>
            </p14:nvContentPartPr>
            <p14:xfrm>
              <a:off x="9791415" y="2752455"/>
              <a:ext cx="19800" cy="1706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CA89D57-86D6-C514-D2C0-5E8CCED29EE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782775" y="2743455"/>
                <a:ext cx="37440" cy="18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5ED7FB0C-617F-29B0-805A-ECAE87210B87}"/>
              </a:ext>
            </a:extLst>
          </p:cNvPr>
          <p:cNvGrpSpPr/>
          <p:nvPr/>
        </p:nvGrpSpPr>
        <p:grpSpPr>
          <a:xfrm>
            <a:off x="10791495" y="2781255"/>
            <a:ext cx="360" cy="49320"/>
            <a:chOff x="10791495" y="2781255"/>
            <a:chExt cx="360" cy="4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4C4B1D-26AB-DC13-D1D1-31463C131C88}"/>
                    </a:ext>
                  </a:extLst>
                </p14:cNvPr>
                <p14:cNvContentPartPr/>
                <p14:nvPr/>
              </p14:nvContentPartPr>
              <p14:xfrm>
                <a:off x="10791495" y="2790615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84C4B1D-26AB-DC13-D1D1-31463C131C8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82855" y="27816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9169B9C-19B3-97F1-949A-25C968EC2D41}"/>
                    </a:ext>
                  </a:extLst>
                </p14:cNvPr>
                <p14:cNvContentPartPr/>
                <p14:nvPr/>
              </p14:nvContentPartPr>
              <p14:xfrm>
                <a:off x="10791495" y="2781255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9169B9C-19B3-97F1-949A-25C968EC2D4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82855" y="27722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7746E3-1A8F-DA33-1F6A-DED02483C79F}"/>
                    </a:ext>
                  </a:extLst>
                </p14:cNvPr>
                <p14:cNvContentPartPr/>
                <p14:nvPr/>
              </p14:nvContentPartPr>
              <p14:xfrm>
                <a:off x="10791495" y="2809695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7746E3-1A8F-DA33-1F6A-DED02483C79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82855" y="280069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C4B97B-B023-6F0B-EF19-41774C76D893}"/>
                    </a:ext>
                  </a:extLst>
                </p14:cNvPr>
                <p14:cNvContentPartPr/>
                <p14:nvPr/>
              </p14:nvContentPartPr>
              <p14:xfrm>
                <a:off x="10791495" y="2828775"/>
                <a:ext cx="360" cy="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2C4B97B-B023-6F0B-EF19-41774C76D89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82855" y="2819775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46A4383-7B1E-E603-016F-951F3D2D08F5}"/>
                    </a:ext>
                  </a:extLst>
                </p14:cNvPr>
                <p14:cNvContentPartPr/>
                <p14:nvPr/>
              </p14:nvContentPartPr>
              <p14:xfrm>
                <a:off x="10791495" y="2809695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46A4383-7B1E-E603-016F-951F3D2D08F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82855" y="280069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6649FF4-8FDA-3ABA-5FB2-A699249C35A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994787" y="2522474"/>
            <a:ext cx="6828701" cy="37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08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4E943-A9EA-6BB7-2D6C-68D8A94C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0E2EC734-EBFE-2856-C91D-9CAE267A2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F82CABDB-191C-E4ED-0E56-247D1215A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C876252E-493A-8E9C-31C3-30DCAC4A3EFC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1E04707-213B-6B8E-2B13-7C886B5CD19C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17A5FE1-5484-2506-2366-2167A123B388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9CF7D471-640C-69BF-2C1E-2ED10A6EDDF0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2921B36-0CB1-FD7C-860A-457378EABD77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4F04741-DC2D-6ACF-1CAF-9BAE8E6ACBF6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932D127-0787-1634-0E55-A6E34CDE29D5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410DD8D-FC82-EFFD-A439-8013844C08A4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81B153D-434F-26D8-5E24-0B77FFA4575A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D42930AA-3E93-1B11-3B70-4EB683A522D7}"/>
              </a:ext>
            </a:extLst>
          </p:cNvPr>
          <p:cNvSpPr/>
          <p:nvPr/>
        </p:nvSpPr>
        <p:spPr>
          <a:xfrm>
            <a:off x="8409138" y="398127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8F6FA0E-06A6-8EEA-6CFA-BFD16EAD90E0}"/>
              </a:ext>
            </a:extLst>
          </p:cNvPr>
          <p:cNvSpPr txBox="1"/>
          <p:nvPr/>
        </p:nvSpPr>
        <p:spPr>
          <a:xfrm>
            <a:off x="406286" y="868829"/>
            <a:ext cx="7727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54A40"/>
                </a:solidFill>
                <a:latin typeface="Space Grotesk"/>
              </a:rPr>
              <a:t>TxGNN</a:t>
            </a:r>
            <a:r>
              <a:rPr lang="en-US" sz="2400" b="1" dirty="0">
                <a:solidFill>
                  <a:srgbClr val="054A40"/>
                </a:solidFill>
                <a:latin typeface="Space Grotesk"/>
              </a:rPr>
              <a:t> — AI-Powered Drug Repurposing Engine (5-Fold CV)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409BD91-3706-15E3-97E4-AB6786DE4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867025"/>
            <a:ext cx="11239500" cy="360997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58496317-650E-CA31-860D-E8DD07686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676400"/>
            <a:ext cx="3619500" cy="1000125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52ABF998-EB0A-18CD-D523-D2C02189F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1676400"/>
            <a:ext cx="3619500" cy="1000125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F2172AD3-AEFA-9946-B0ED-57D771D90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1676400"/>
            <a:ext cx="3619500" cy="1000125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1516ACD0-80FC-13E7-F1BD-82CA109900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2867025"/>
            <a:ext cx="4381500" cy="2324100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821A3F16-90D6-8378-70D2-8EDA709F14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85750" y="1249709"/>
            <a:ext cx="3333750" cy="933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01D2354-0D88-B413-A309-81EE7415705E}"/>
              </a:ext>
            </a:extLst>
          </p:cNvPr>
          <p:cNvSpPr txBox="1"/>
          <p:nvPr/>
        </p:nvSpPr>
        <p:spPr>
          <a:xfrm>
            <a:off x="676275" y="1819275"/>
            <a:ext cx="3219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D665F"/>
                </a:solidFill>
                <a:latin typeface="Plus Jakarta Sans"/>
              </a:rPr>
              <a:t>TRAIN / VAL / TEST DD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5D7166-FA02-DDBF-9D5E-2B2229F2C602}"/>
              </a:ext>
            </a:extLst>
          </p:cNvPr>
          <p:cNvSpPr txBox="1"/>
          <p:nvPr/>
        </p:nvSpPr>
        <p:spPr>
          <a:xfrm>
            <a:off x="676275" y="2028825"/>
            <a:ext cx="3219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54A40"/>
                </a:solidFill>
                <a:latin typeface="Space Grotesk"/>
              </a:rPr>
              <a:t>916 / 114 / 115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E6E43F-3450-1969-05D2-CD1C9A24EE97}"/>
              </a:ext>
            </a:extLst>
          </p:cNvPr>
          <p:cNvSpPr txBox="1"/>
          <p:nvPr/>
        </p:nvSpPr>
        <p:spPr>
          <a:xfrm>
            <a:off x="676275" y="2390775"/>
            <a:ext cx="3219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D665F"/>
                </a:solidFill>
                <a:latin typeface="Plus Jakarta Sans Medium"/>
              </a:rPr>
              <a:t>1,145 Total Drug-Disease Pairs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F00C6C-A086-C068-A2C8-550990A4B3F4}"/>
              </a:ext>
            </a:extLst>
          </p:cNvPr>
          <p:cNvSpPr txBox="1"/>
          <p:nvPr/>
        </p:nvSpPr>
        <p:spPr>
          <a:xfrm>
            <a:off x="4486275" y="1819275"/>
            <a:ext cx="3219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D665F"/>
                </a:solidFill>
                <a:latin typeface="Plus Jakarta Sans"/>
              </a:rPr>
              <a:t>MEAN AUROC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C92018-2840-4CE1-A4F0-CA609F414408}"/>
              </a:ext>
            </a:extLst>
          </p:cNvPr>
          <p:cNvSpPr txBox="1"/>
          <p:nvPr/>
        </p:nvSpPr>
        <p:spPr>
          <a:xfrm>
            <a:off x="4486275" y="2028825"/>
            <a:ext cx="3219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54A40"/>
                </a:solidFill>
                <a:latin typeface="Space Grotesk"/>
              </a:rPr>
              <a:t>0.9825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15A87D-88EE-4020-B14E-9D4BE782DA2F}"/>
              </a:ext>
            </a:extLst>
          </p:cNvPr>
          <p:cNvSpPr txBox="1"/>
          <p:nvPr/>
        </p:nvSpPr>
        <p:spPr>
          <a:xfrm>
            <a:off x="4486275" y="2390775"/>
            <a:ext cx="3219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D665F"/>
                </a:solidFill>
                <a:latin typeface="Plus Jakarta Sans Medium"/>
              </a:rPr>
              <a:t>(+/- 0.0084 Standard Deviation)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F11CB4-8958-D230-0A50-C40B1C25509C}"/>
              </a:ext>
            </a:extLst>
          </p:cNvPr>
          <p:cNvSpPr txBox="1"/>
          <p:nvPr/>
        </p:nvSpPr>
        <p:spPr>
          <a:xfrm>
            <a:off x="8296275" y="1819275"/>
            <a:ext cx="3219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D665F"/>
                </a:solidFill>
                <a:latin typeface="Plus Jakarta Sans"/>
              </a:rPr>
              <a:t>MEAN AUPRC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072D57-3BF8-8ABB-C98F-C3D7CD1DFFE5}"/>
              </a:ext>
            </a:extLst>
          </p:cNvPr>
          <p:cNvSpPr txBox="1"/>
          <p:nvPr/>
        </p:nvSpPr>
        <p:spPr>
          <a:xfrm>
            <a:off x="8296275" y="2028825"/>
            <a:ext cx="3219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54A40"/>
                </a:solidFill>
                <a:latin typeface="Space Grotesk"/>
              </a:rPr>
              <a:t>0.9869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3E6ADD-0FFF-0403-6B6F-1DADFC2EB55B}"/>
              </a:ext>
            </a:extLst>
          </p:cNvPr>
          <p:cNvSpPr txBox="1"/>
          <p:nvPr/>
        </p:nvSpPr>
        <p:spPr>
          <a:xfrm>
            <a:off x="8296275" y="2390775"/>
            <a:ext cx="3219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D665F"/>
                </a:solidFill>
                <a:latin typeface="Plus Jakarta Sans Medium"/>
              </a:rPr>
              <a:t>(+/- 0.0051 Standard Deviation)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F3724A48-F448-6453-7AE9-52DF1DAD4F75}"/>
              </a:ext>
            </a:extLst>
          </p:cNvPr>
          <p:cNvGraphicFramePr>
            <a:graphicFrameLocks noGrp="1"/>
          </p:cNvGraphicFramePr>
          <p:nvPr/>
        </p:nvGraphicFramePr>
        <p:xfrm>
          <a:off x="485775" y="2876550"/>
          <a:ext cx="4362448" cy="230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6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292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Fold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4A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AUROC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4A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AUPRC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4A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4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9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0.9810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0.9844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0.9079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29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0.9707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0.9807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0.9342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29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0.9945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0.9946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0.9342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29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0.9837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0.9871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0.9342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29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0D6B5D"/>
                          </a:solidFill>
                          <a:latin typeface="Plus Jakarta Sans SemiBold"/>
                        </a:rPr>
                        <a:t>Fold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0.9829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0.9879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0" i="0" u="none">
                          <a:solidFill>
                            <a:srgbClr val="0A2E28"/>
                          </a:solidFill>
                          <a:latin typeface="Plus Jakarta Sans Medium"/>
                        </a:rPr>
                        <a:t>0.9605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298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54A40"/>
                          </a:solidFill>
                          <a:latin typeface="Plus Jakarta Sans ExtraBold"/>
                        </a:rPr>
                        <a:t>Average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054A40"/>
                          </a:solidFill>
                          <a:latin typeface="Plus Jakarta Sans ExtraBold"/>
                        </a:rPr>
                        <a:t>0.9825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054A40"/>
                          </a:solidFill>
                          <a:latin typeface="Plus Jakarta Sans ExtraBold"/>
                        </a:rPr>
                        <a:t>0.9869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F2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054A40"/>
                          </a:solidFill>
                          <a:latin typeface="Plus Jakarta Sans ExtraBold"/>
                        </a:rPr>
                        <a:t>0.9342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1FC5E96C-05FF-11A7-258F-0AA04FF7A74E}"/>
              </a:ext>
            </a:extLst>
          </p:cNvPr>
          <p:cNvSpPr/>
          <p:nvPr/>
        </p:nvSpPr>
        <p:spPr>
          <a:xfrm>
            <a:off x="485775" y="3538537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F85DA67-05A3-D3CF-6F64-48FC7A9C1067}"/>
              </a:ext>
            </a:extLst>
          </p:cNvPr>
          <p:cNvSpPr/>
          <p:nvPr/>
        </p:nvSpPr>
        <p:spPr>
          <a:xfrm>
            <a:off x="1701849" y="3538537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7087A44-28D2-56A3-0F0D-7E19A0AEF65F}"/>
              </a:ext>
            </a:extLst>
          </p:cNvPr>
          <p:cNvSpPr/>
          <p:nvPr/>
        </p:nvSpPr>
        <p:spPr>
          <a:xfrm>
            <a:off x="2755255" y="3538537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C4D5613-18BD-4DFB-C4AF-8592EA9BDAC4}"/>
              </a:ext>
            </a:extLst>
          </p:cNvPr>
          <p:cNvSpPr/>
          <p:nvPr/>
        </p:nvSpPr>
        <p:spPr>
          <a:xfrm>
            <a:off x="3801665" y="3538537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6489505-09F0-1899-9A60-92331747B76B}"/>
              </a:ext>
            </a:extLst>
          </p:cNvPr>
          <p:cNvSpPr/>
          <p:nvPr/>
        </p:nvSpPr>
        <p:spPr>
          <a:xfrm>
            <a:off x="485775" y="3862387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4850B1F-098F-B35E-335E-9596009CFA86}"/>
              </a:ext>
            </a:extLst>
          </p:cNvPr>
          <p:cNvSpPr/>
          <p:nvPr/>
        </p:nvSpPr>
        <p:spPr>
          <a:xfrm>
            <a:off x="1701849" y="3862387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7315DD2-BF2A-1243-B36A-7CC50B477848}"/>
              </a:ext>
            </a:extLst>
          </p:cNvPr>
          <p:cNvSpPr/>
          <p:nvPr/>
        </p:nvSpPr>
        <p:spPr>
          <a:xfrm>
            <a:off x="2755255" y="3862387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E4CD765-D591-15E3-8AB8-EA71AB49D135}"/>
              </a:ext>
            </a:extLst>
          </p:cNvPr>
          <p:cNvSpPr/>
          <p:nvPr/>
        </p:nvSpPr>
        <p:spPr>
          <a:xfrm>
            <a:off x="3801665" y="3862387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CD6DA94-0F45-D9B7-365F-A56D3969C377}"/>
              </a:ext>
            </a:extLst>
          </p:cNvPr>
          <p:cNvSpPr/>
          <p:nvPr/>
        </p:nvSpPr>
        <p:spPr>
          <a:xfrm>
            <a:off x="485775" y="4186237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043EB81-E627-6335-6805-1A7BE996E5F8}"/>
              </a:ext>
            </a:extLst>
          </p:cNvPr>
          <p:cNvSpPr/>
          <p:nvPr/>
        </p:nvSpPr>
        <p:spPr>
          <a:xfrm>
            <a:off x="1701849" y="4186237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5A8BDB9-4A57-AA72-4D2E-99388926060B}"/>
              </a:ext>
            </a:extLst>
          </p:cNvPr>
          <p:cNvSpPr/>
          <p:nvPr/>
        </p:nvSpPr>
        <p:spPr>
          <a:xfrm>
            <a:off x="2755255" y="4186237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E9245582-E392-CB14-DFB0-B4350BC8453F}"/>
              </a:ext>
            </a:extLst>
          </p:cNvPr>
          <p:cNvSpPr/>
          <p:nvPr/>
        </p:nvSpPr>
        <p:spPr>
          <a:xfrm>
            <a:off x="3801665" y="4186237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3FD6A83-78CE-1BD7-296B-35E4F800A420}"/>
              </a:ext>
            </a:extLst>
          </p:cNvPr>
          <p:cNvSpPr/>
          <p:nvPr/>
        </p:nvSpPr>
        <p:spPr>
          <a:xfrm>
            <a:off x="485775" y="4510087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86ECE66-2B9D-D4EB-A13E-0047CB9D82CE}"/>
              </a:ext>
            </a:extLst>
          </p:cNvPr>
          <p:cNvSpPr/>
          <p:nvPr/>
        </p:nvSpPr>
        <p:spPr>
          <a:xfrm>
            <a:off x="1701849" y="4510087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D80CA232-6655-5773-ED7B-502600073CA4}"/>
              </a:ext>
            </a:extLst>
          </p:cNvPr>
          <p:cNvSpPr/>
          <p:nvPr/>
        </p:nvSpPr>
        <p:spPr>
          <a:xfrm>
            <a:off x="2755255" y="4510087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9E91782F-0F2C-CB49-5C77-86CE72A3EA08}"/>
              </a:ext>
            </a:extLst>
          </p:cNvPr>
          <p:cNvSpPr/>
          <p:nvPr/>
        </p:nvSpPr>
        <p:spPr>
          <a:xfrm>
            <a:off x="3801665" y="4510087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F8E3F60-7E1D-8799-DC0D-9C91B635B933}"/>
              </a:ext>
            </a:extLst>
          </p:cNvPr>
          <p:cNvSpPr/>
          <p:nvPr/>
        </p:nvSpPr>
        <p:spPr>
          <a:xfrm>
            <a:off x="485775" y="4838700"/>
            <a:ext cx="1216074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1840374-1259-B932-B29E-D56E466AC78E}"/>
              </a:ext>
            </a:extLst>
          </p:cNvPr>
          <p:cNvSpPr/>
          <p:nvPr/>
        </p:nvSpPr>
        <p:spPr>
          <a:xfrm>
            <a:off x="1701849" y="4838700"/>
            <a:ext cx="1053405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F4B9E90-A882-EF4A-278D-82B1056951A2}"/>
              </a:ext>
            </a:extLst>
          </p:cNvPr>
          <p:cNvSpPr/>
          <p:nvPr/>
        </p:nvSpPr>
        <p:spPr>
          <a:xfrm>
            <a:off x="2755255" y="4838700"/>
            <a:ext cx="1046410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630D4A0-7A97-C602-CCC8-D2CCA117C009}"/>
              </a:ext>
            </a:extLst>
          </p:cNvPr>
          <p:cNvSpPr/>
          <p:nvPr/>
        </p:nvSpPr>
        <p:spPr>
          <a:xfrm>
            <a:off x="3801665" y="4838700"/>
            <a:ext cx="1046559" cy="9525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0CBB54D1-194E-3726-DD25-FD4307945BD2}"/>
              </a:ext>
            </a:extLst>
          </p:cNvPr>
          <p:cNvSpPr/>
          <p:nvPr/>
        </p:nvSpPr>
        <p:spPr>
          <a:xfrm>
            <a:off x="485775" y="4848225"/>
            <a:ext cx="1216074" cy="19050"/>
          </a:xfrm>
          <a:prstGeom prst="rect">
            <a:avLst/>
          </a:prstGeom>
          <a:solidFill>
            <a:srgbClr val="00B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9C220779-7E5E-F757-67B2-E7962B26AA71}"/>
              </a:ext>
            </a:extLst>
          </p:cNvPr>
          <p:cNvSpPr/>
          <p:nvPr/>
        </p:nvSpPr>
        <p:spPr>
          <a:xfrm>
            <a:off x="1701849" y="4848225"/>
            <a:ext cx="1053405" cy="19050"/>
          </a:xfrm>
          <a:prstGeom prst="rect">
            <a:avLst/>
          </a:prstGeom>
          <a:solidFill>
            <a:srgbClr val="00B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DE04C2F1-BD45-1388-2AF7-8D73275F6A05}"/>
              </a:ext>
            </a:extLst>
          </p:cNvPr>
          <p:cNvSpPr/>
          <p:nvPr/>
        </p:nvSpPr>
        <p:spPr>
          <a:xfrm>
            <a:off x="2755255" y="4848225"/>
            <a:ext cx="1046410" cy="19050"/>
          </a:xfrm>
          <a:prstGeom prst="rect">
            <a:avLst/>
          </a:prstGeom>
          <a:solidFill>
            <a:srgbClr val="00B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D5D5079B-D3C9-787C-49CB-C40B5A3DCA51}"/>
              </a:ext>
            </a:extLst>
          </p:cNvPr>
          <p:cNvSpPr/>
          <p:nvPr/>
        </p:nvSpPr>
        <p:spPr>
          <a:xfrm>
            <a:off x="3801665" y="4848225"/>
            <a:ext cx="1046559" cy="19050"/>
          </a:xfrm>
          <a:prstGeom prst="rect">
            <a:avLst/>
          </a:prstGeom>
          <a:solidFill>
            <a:srgbClr val="00B4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25D9819C-BAB1-17CA-53D3-EF1B139DC1B1}"/>
              </a:ext>
            </a:extLst>
          </p:cNvPr>
          <p:cNvSpPr/>
          <p:nvPr/>
        </p:nvSpPr>
        <p:spPr>
          <a:xfrm>
            <a:off x="476250" y="1466850"/>
            <a:ext cx="11239500" cy="19050"/>
          </a:xfrm>
          <a:prstGeom prst="rect">
            <a:avLst/>
          </a:prstGeom>
          <a:solidFill>
            <a:srgbClr val="BC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252FC3-4A1E-7371-607F-DD117690D2B5}"/>
                  </a:ext>
                </a:extLst>
              </p14:cNvPr>
              <p14:cNvContentPartPr/>
              <p14:nvPr/>
            </p14:nvContentPartPr>
            <p14:xfrm>
              <a:off x="10229535" y="3095535"/>
              <a:ext cx="360" cy="84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252FC3-4A1E-7371-607F-DD117690D2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20895" y="3086535"/>
                <a:ext cx="18000" cy="1022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CDEB4DC-326F-7BA0-376A-B2AF1F4FF3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9833" y="2952750"/>
            <a:ext cx="6376854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94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FE8C6-27EF-2B85-6595-7E8DE36A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9804E1D0-7744-9839-B957-55D1823A9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15BC968B-18A6-9868-F19E-5AC4AABC1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376F7C2A-D3BE-C7A0-5B9C-6EDD223566EE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2617446-1139-5C04-80B2-07C3FAF2FBCF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A15C763-483C-328A-26A4-7194DA8CB8F0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35C1C6C-32F4-6836-485E-DA5ACA5BACD4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42099DE-C62C-989A-7A6E-35F0970F59DB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8C368EA-88CD-5107-C07A-AE95FDD31340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93CBC7A-058C-CBBE-4D11-88D493D1994D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547972B-9086-EE25-6880-13579DC5A1DA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052C80B-C258-3845-B8B1-398DD8F4705E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A786ED3F-8B16-D36A-14AB-6ED74C4B9BD8}"/>
              </a:ext>
            </a:extLst>
          </p:cNvPr>
          <p:cNvSpPr/>
          <p:nvPr/>
        </p:nvSpPr>
        <p:spPr>
          <a:xfrm>
            <a:off x="8424862" y="398457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372AA78-0702-BE42-FB5B-B0EA921A7E6A}"/>
              </a:ext>
            </a:extLst>
          </p:cNvPr>
          <p:cNvSpPr txBox="1"/>
          <p:nvPr/>
        </p:nvSpPr>
        <p:spPr>
          <a:xfrm>
            <a:off x="267433" y="1257300"/>
            <a:ext cx="517962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Single-Branch Performance</a:t>
            </a:r>
          </a:p>
          <a:p>
            <a:endParaRPr lang="en-US" dirty="0"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033D90D8-F0CE-D133-A40F-0BAC32F85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693193"/>
            <a:ext cx="5486400" cy="2747962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AB6D739D-72BE-A5FC-5EE1-90BBC7815B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693193"/>
            <a:ext cx="5486400" cy="2747962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7C14AD8B-1935-E7B4-E722-36E733B89B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969418"/>
            <a:ext cx="4933950" cy="2095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72A7BE-7A66-3AFC-46D7-178656E619CA}"/>
              </a:ext>
            </a:extLst>
          </p:cNvPr>
          <p:cNvSpPr txBox="1"/>
          <p:nvPr/>
        </p:nvSpPr>
        <p:spPr>
          <a:xfrm>
            <a:off x="1019175" y="3255168"/>
            <a:ext cx="4900612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GNN Benchmarking (TxGNN)</a:t>
            </a: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676115F4-C857-42B1-B759-DFE685B469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2969418"/>
            <a:ext cx="4933950" cy="2095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6CD7987-5396-DBB8-E74A-F31F62170A94}"/>
              </a:ext>
            </a:extLst>
          </p:cNvPr>
          <p:cNvSpPr txBox="1"/>
          <p:nvPr/>
        </p:nvSpPr>
        <p:spPr>
          <a:xfrm>
            <a:off x="6791325" y="3255168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Embedding &amp; Boosting Metrics</a:t>
            </a: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F98F8BA3-7D3B-6AB4-4371-3EC89D5B7D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302793"/>
            <a:ext cx="171450" cy="1905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DD70725-CF6F-4B20-7663-BFC2BD31D5FD}"/>
              </a:ext>
            </a:extLst>
          </p:cNvPr>
          <p:cNvSpPr txBox="1"/>
          <p:nvPr/>
        </p:nvSpPr>
        <p:spPr>
          <a:xfrm>
            <a:off x="942975" y="3674268"/>
            <a:ext cx="4743450" cy="50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87" b="1" i="0" u="none" dirty="0">
                <a:solidFill>
                  <a:srgbClr val="062C24"/>
                </a:solidFill>
                <a:latin typeface="DM Sans"/>
              </a:rPr>
              <a:t>Per-Fold Tracking: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Fold-by-fold AUROC &amp; AUPRC scores recorded for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TxGNN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and 3 baseline architectures (RGCN, </a:t>
            </a:r>
            <a:r>
              <a:rPr sz="1087" b="0" i="0" u="none" dirty="0" err="1">
                <a:solidFill>
                  <a:srgbClr val="062C24"/>
                </a:solidFill>
                <a:latin typeface="DM Sans"/>
              </a:rPr>
              <a:t>DistMult</a:t>
            </a:r>
            <a:r>
              <a:rPr lang="en-US" sz="1087" b="0" i="0" u="none" dirty="0">
                <a:solidFill>
                  <a:srgbClr val="062C24"/>
                </a:solidFill>
                <a:latin typeface="DM Sans"/>
              </a:rPr>
              <a:t> </a:t>
            </a:r>
            <a:r>
              <a:rPr lang="en-US" sz="1100" b="1" dirty="0"/>
              <a:t>(Dist</a:t>
            </a:r>
            <a:r>
              <a:rPr lang="en-US" sz="1100" dirty="0"/>
              <a:t>ance </a:t>
            </a:r>
            <a:r>
              <a:rPr lang="en-US" sz="1100" b="1" dirty="0"/>
              <a:t>Mult</a:t>
            </a:r>
            <a:r>
              <a:rPr lang="en-US" sz="1100" dirty="0"/>
              <a:t>ilinear)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, MLP).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A9B9F1-B3C1-D2B8-50BD-C73D1C6E06D1}"/>
              </a:ext>
            </a:extLst>
          </p:cNvPr>
          <p:cNvSpPr txBox="1"/>
          <p:nvPr/>
        </p:nvSpPr>
        <p:spPr>
          <a:xfrm>
            <a:off x="942975" y="4183856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Summary Deliverable: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Exported cv_results_summary.csv containing Mean ± Std across 5 cross-validation folds.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04DE14-716A-63B8-6729-D71DEE9937B5}"/>
              </a:ext>
            </a:extLst>
          </p:cNvPr>
          <p:cNvSpPr txBox="1"/>
          <p:nvPr/>
        </p:nvSpPr>
        <p:spPr>
          <a:xfrm>
            <a:off x="942975" y="4693443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Visual Artifact: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Automated cross-validation comparison bar chart displaying explicit standard deviation error bars.</a:t>
            </a: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92A9B5F7-A223-83B2-8E44-1AC11C7F4D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3302793"/>
            <a:ext cx="190500" cy="1905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A38A6DD-71CA-5E38-E2DE-E2051E8C3A65}"/>
              </a:ext>
            </a:extLst>
          </p:cNvPr>
          <p:cNvSpPr txBox="1"/>
          <p:nvPr/>
        </p:nvSpPr>
        <p:spPr>
          <a:xfrm>
            <a:off x="6696075" y="3674268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10-Fold CV Summaries: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Per-fold evaluation metrics saved for the DreamWalk-XGBoost pipeline across all 10 folds.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0BD5A1-5AB3-0953-4862-A2A589D2ED58}"/>
              </a:ext>
            </a:extLst>
          </p:cNvPr>
          <p:cNvSpPr txBox="1"/>
          <p:nvPr/>
        </p:nvSpPr>
        <p:spPr>
          <a:xfrm>
            <a:off x="6696075" y="4183856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 dirty="0">
                <a:solidFill>
                  <a:srgbClr val="062C24"/>
                </a:solidFill>
                <a:latin typeface="DM Sans"/>
              </a:rPr>
              <a:t>Score Distribution Analysis:</a:t>
            </a:r>
            <a:r>
              <a:rPr sz="1087" b="0" i="0" u="none" dirty="0">
                <a:solidFill>
                  <a:srgbClr val="062C24"/>
                </a:solidFill>
                <a:latin typeface="DM Sans"/>
              </a:rPr>
              <a:t> Generates prediction-score distribution plots to evaluate positive vs. negative pair margin separation.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3E434B-43F9-B0A3-5F2B-F641E1F3A33C}"/>
              </a:ext>
            </a:extLst>
          </p:cNvPr>
          <p:cNvSpPr txBox="1"/>
          <p:nvPr/>
        </p:nvSpPr>
        <p:spPr>
          <a:xfrm>
            <a:off x="6696075" y="4693443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Out-of-Fold Export: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Generates aligned probability predictions in dreamwalk_predictions.csv for downstream ensembling.</a:t>
            </a:r>
          </a:p>
        </p:txBody>
      </p:sp>
    </p:spTree>
    <p:extLst>
      <p:ext uri="{BB962C8B-B14F-4D97-AF65-F5344CB8AC3E}">
        <p14:creationId xmlns:p14="http://schemas.microsoft.com/office/powerpoint/2010/main" val="16694994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92FCF-AAF5-B367-2ADA-DB87D7A1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A193155C-EB5E-D576-4778-8A0026A51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16B92FD9-EF26-73B6-B91D-0793F90CA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5AABCCCB-B65A-88AD-2465-294BB5F9021A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E623B84-4EF2-174D-BC5B-CCDE832014C4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C689435-AD83-C9EB-E3C9-28DC5AB9CE76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94C1C7AA-30F5-6B3B-80FA-9EF1803456C5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4908F8E-BE4C-CBB7-062B-9F0ACBBEA009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746DA24-EBE5-1081-59B3-6AE86812BA7B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D8BFC9F-BB5A-C7F8-15DD-6464E7955BCF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3ECAAC9-6EEC-984F-1D0A-3BA336E8F707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FA40DAB-E5A8-D268-E74B-4C927F0252E1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569414E4-370E-E59B-C2DC-370AAAFD0F61}"/>
              </a:ext>
            </a:extLst>
          </p:cNvPr>
          <p:cNvSpPr/>
          <p:nvPr/>
        </p:nvSpPr>
        <p:spPr>
          <a:xfrm>
            <a:off x="8424862" y="404281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0C6D978-5A6A-8262-DAFF-37407AE14588}"/>
              </a:ext>
            </a:extLst>
          </p:cNvPr>
          <p:cNvSpPr txBox="1"/>
          <p:nvPr/>
        </p:nvSpPr>
        <p:spPr>
          <a:xfrm>
            <a:off x="267433" y="1257300"/>
            <a:ext cx="568136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Meta-Ensemble &amp; Significance</a:t>
            </a:r>
          </a:p>
          <a:p>
            <a:endParaRPr lang="en-US" dirty="0"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764C7AF-65FD-A0BD-A5CD-A15E29EC0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693193"/>
            <a:ext cx="5486400" cy="2747962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2099216-999C-9454-172C-62635198D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693193"/>
            <a:ext cx="5486400" cy="2747962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B3538A99-43BF-A0AA-9778-B373647751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969418"/>
            <a:ext cx="4933950" cy="2095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42CA4B-E120-97E7-70AD-31A7C7E435C0}"/>
              </a:ext>
            </a:extLst>
          </p:cNvPr>
          <p:cNvSpPr txBox="1"/>
          <p:nvPr/>
        </p:nvSpPr>
        <p:spPr>
          <a:xfrm>
            <a:off x="1085850" y="3255168"/>
            <a:ext cx="4830603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Bootstrap Confidence Intervals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40A120A5-155A-00CE-06F9-AB795E753B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2969418"/>
            <a:ext cx="4933950" cy="2095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06089CA-C545-7E97-F87F-CDB4333074F3}"/>
              </a:ext>
            </a:extLst>
          </p:cNvPr>
          <p:cNvSpPr txBox="1"/>
          <p:nvPr/>
        </p:nvSpPr>
        <p:spPr>
          <a:xfrm>
            <a:off x="6791325" y="3255168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Thresholding &amp; Calibration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4CF7EE67-245A-0B28-42D5-12CDB3F208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302793"/>
            <a:ext cx="238125" cy="1905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ACDB87A-35CC-1E3A-65D7-3AE1B6CEF352}"/>
              </a:ext>
            </a:extLst>
          </p:cNvPr>
          <p:cNvSpPr txBox="1"/>
          <p:nvPr/>
        </p:nvSpPr>
        <p:spPr>
          <a:xfrm>
            <a:off x="942975" y="3674268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Evaluated Model Suite: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DreamWalk-XGBoost alone, TxGNN alone, Weighted Average, Stacked Logistic Regression, and Stacked XGBoost.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C0D0D9-02DD-FA19-30A7-FB636640C808}"/>
              </a:ext>
            </a:extLst>
          </p:cNvPr>
          <p:cNvSpPr txBox="1"/>
          <p:nvPr/>
        </p:nvSpPr>
        <p:spPr>
          <a:xfrm>
            <a:off x="942975" y="4183856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Non-Parametric CIs: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Summary table reporting </a:t>
            </a:r>
            <a:r>
              <a:rPr sz="1087" b="1" i="0" u="none">
                <a:solidFill>
                  <a:srgbClr val="062C24"/>
                </a:solidFill>
                <a:latin typeface="DM Sans"/>
              </a:rPr>
              <a:t>95% Bootstrap CIs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for AUROC and AUPRC across 2,000 resamples.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98ED4D-E021-BC09-AA20-C1C63C2977B4}"/>
              </a:ext>
            </a:extLst>
          </p:cNvPr>
          <p:cNvSpPr txBox="1"/>
          <p:nvPr/>
        </p:nvSpPr>
        <p:spPr>
          <a:xfrm>
            <a:off x="942975" y="4693443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Paired Hypothesis Testing: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Evaluates mean AUROC difference, confidence intervals, and p-values vs. the best single standalone model.</a:t>
            </a:r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62C792FE-879F-878A-6FDF-58A6C34785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3302793"/>
            <a:ext cx="190500" cy="1905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71E722F-C47A-8623-2426-1A018C51CBD2}"/>
              </a:ext>
            </a:extLst>
          </p:cNvPr>
          <p:cNvSpPr txBox="1"/>
          <p:nvPr/>
        </p:nvSpPr>
        <p:spPr>
          <a:xfrm>
            <a:off x="6696075" y="3674268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Optimal Decision Boundary: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Full classification reports computed at standard 0.5 threshold vs. </a:t>
            </a:r>
            <a:r>
              <a:rPr sz="1087" b="1" i="0" u="none">
                <a:solidFill>
                  <a:srgbClr val="062C24"/>
                </a:solidFill>
                <a:latin typeface="DM Sans"/>
              </a:rPr>
              <a:t>Youden's-J optimal threshold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D387B3-BAC2-3AB3-58F7-BAFD069E2EAE}"/>
              </a:ext>
            </a:extLst>
          </p:cNvPr>
          <p:cNvSpPr txBox="1"/>
          <p:nvPr/>
        </p:nvSpPr>
        <p:spPr>
          <a:xfrm>
            <a:off x="6696075" y="4183856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Diagnostic Curves: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Generates paired ROC, Precision-Recall, and probability calibration curves.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DAEE4A-F545-DCA1-667E-F541411FAB3C}"/>
              </a:ext>
            </a:extLst>
          </p:cNvPr>
          <p:cNvSpPr txBox="1"/>
          <p:nvPr/>
        </p:nvSpPr>
        <p:spPr>
          <a:xfrm>
            <a:off x="6696075" y="4693443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Error Analysis Breakdown: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Categorizes specific pair instances corrected by the ensemble vs. hard cases missed by both branches.</a:t>
            </a:r>
          </a:p>
        </p:txBody>
      </p:sp>
    </p:spTree>
    <p:extLst>
      <p:ext uri="{BB962C8B-B14F-4D97-AF65-F5344CB8AC3E}">
        <p14:creationId xmlns:p14="http://schemas.microsoft.com/office/powerpoint/2010/main" val="399100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6764-B91A-11C4-9C0C-570EB91B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99C0786C-8573-712B-A3A5-8238603C1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509C9565-7896-75FF-0A4D-8EA933D4D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9E772EDD-A86D-4B60-8CF0-DCFA00C4A09A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57C89F8-B5CB-6602-7EA8-991711F37576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70009E4-C10C-4A84-D372-E12812193C23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CDE1B65-59A9-D48F-094A-949118544983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1BCF0CC-23DD-45EF-6029-199D119A0D72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87F6542-E872-65BC-853D-B2D57FC0DABD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3F9E48-81C1-5D76-B0C7-B2EF109CB8F6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72E4528-D378-CA0E-A625-C265B4192A80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948E1D2-EE90-A6F0-E111-3D9CEF61B9B2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E34078D3-928F-602E-18D5-B58789995F84}"/>
              </a:ext>
            </a:extLst>
          </p:cNvPr>
          <p:cNvSpPr/>
          <p:nvPr/>
        </p:nvSpPr>
        <p:spPr>
          <a:xfrm>
            <a:off x="8411894" y="385502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7E10579-90B3-F1C2-7F65-CA87EF233EA0}"/>
              </a:ext>
            </a:extLst>
          </p:cNvPr>
          <p:cNvSpPr txBox="1"/>
          <p:nvPr/>
        </p:nvSpPr>
        <p:spPr>
          <a:xfrm>
            <a:off x="267433" y="1257300"/>
            <a:ext cx="517481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XAI &amp; Case Study Validation</a:t>
            </a:r>
          </a:p>
          <a:p>
            <a:endParaRPr lang="en-US" dirty="0"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A6DE4F63-6BD9-9C9D-7AB5-0497811CE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591990"/>
            <a:ext cx="5486400" cy="2950368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C74C8BB-CBA7-A701-BAFF-FDCB7FE9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591990"/>
            <a:ext cx="5486400" cy="2950368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B074AFDC-FF07-318D-758F-097CB45D2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158853"/>
            <a:ext cx="4933950" cy="8382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AB31D3FD-8A94-D16E-B539-6289B499C6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868215"/>
            <a:ext cx="4933950" cy="2095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19B1232-9E33-8E16-B5C7-61B2A6FFF43D}"/>
              </a:ext>
            </a:extLst>
          </p:cNvPr>
          <p:cNvSpPr txBox="1"/>
          <p:nvPr/>
        </p:nvSpPr>
        <p:spPr>
          <a:xfrm>
            <a:off x="1085850" y="3153965"/>
            <a:ext cx="4830603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Targeted Query Execution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25E4C6-02BD-7C0E-0822-4DCBE3A50BE2}"/>
              </a:ext>
            </a:extLst>
          </p:cNvPr>
          <p:cNvSpPr txBox="1"/>
          <p:nvPr/>
        </p:nvSpPr>
        <p:spPr>
          <a:xfrm>
            <a:off x="752475" y="3573065"/>
            <a:ext cx="49339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062C24"/>
                </a:solidFill>
                <a:latin typeface="DM Sans"/>
              </a:rPr>
              <a:t>The explainability framework includes a code-level execution pipeline designed for target drug-disease pairs: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3D742C-B330-BB45-AA59-031E6EB3AB50}"/>
              </a:ext>
            </a:extLst>
          </p:cNvPr>
          <p:cNvSpPr txBox="1"/>
          <p:nvPr/>
        </p:nvSpPr>
        <p:spPr>
          <a:xfrm>
            <a:off x="752475" y="5111353"/>
            <a:ext cx="4933950" cy="192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DM Sans"/>
              </a:rPr>
              <a:t>Serves as a real, named-pair proof of concept for biomedical evidence extraction.</a:t>
            </a:r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45D5BFE6-AAAF-F446-CCD5-16B3336C42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2868215"/>
            <a:ext cx="4933950" cy="2095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7490F6B-216B-A597-526C-A2F417F93C0B}"/>
              </a:ext>
            </a:extLst>
          </p:cNvPr>
          <p:cNvSpPr txBox="1"/>
          <p:nvPr/>
        </p:nvSpPr>
        <p:spPr>
          <a:xfrm>
            <a:off x="6600825" y="3153965"/>
            <a:ext cx="508063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Multi-Level Mechanistic Insights</a:t>
            </a:r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D93A64CB-5446-1D35-4689-F2BC729570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3201590"/>
            <a:ext cx="238125" cy="1905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6E774A7-0445-028E-CA32-27F4DEBEBFD1}"/>
              </a:ext>
            </a:extLst>
          </p:cNvPr>
          <p:cNvSpPr txBox="1"/>
          <p:nvPr/>
        </p:nvSpPr>
        <p:spPr>
          <a:xfrm>
            <a:off x="6696075" y="3573065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Branch B SHAP &amp; Metapaths: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Computes 7 TreeSHAP summary/bar plots and ranks top metapath walk paths contributing to the prediction.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74FC43-7899-0213-3B53-511CD6A9CCE3}"/>
              </a:ext>
            </a:extLst>
          </p:cNvPr>
          <p:cNvSpPr txBox="1"/>
          <p:nvPr/>
        </p:nvSpPr>
        <p:spPr>
          <a:xfrm>
            <a:off x="6696075" y="4082653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Branch A Subgraph Isolation: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Attention-based TxGNN_Explainer highlights the surrounding heterogeneous graph edges.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FB5BB6-77F7-A386-A8AF-4BBAE65B021F}"/>
              </a:ext>
            </a:extLst>
          </p:cNvPr>
          <p:cNvSpPr txBox="1"/>
          <p:nvPr/>
        </p:nvSpPr>
        <p:spPr>
          <a:xfrm>
            <a:off x="6696075" y="4592240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Biomedical Transparency: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Provides clinicians and researchers with interpretable biological rationale behind candidate predictions.</a:t>
            </a:r>
          </a:p>
        </p:txBody>
      </p:sp>
    </p:spTree>
    <p:extLst>
      <p:ext uri="{BB962C8B-B14F-4D97-AF65-F5344CB8AC3E}">
        <p14:creationId xmlns:p14="http://schemas.microsoft.com/office/powerpoint/2010/main" val="452063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79F7-ACB8-9103-1E42-5615606B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20229082-4D86-88DE-B77E-7BB45CB10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4E137811-06DC-A4C3-1093-BCBE76FD8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8CAAEADF-61D9-9D75-609F-CA4FE205DCDF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07020B2-9751-8F13-6680-6AD4DDE2E052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A847AC5-BF81-319B-432A-3315A8A29D3F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2C34A29-16DD-BE0C-131C-F8DDF14A4D2D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113DEA3-2BF3-7594-4BF5-C8F1281D4B52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4EF78BC-6C3E-DB9B-38EA-5B362CA3093E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4B5E6BF-98C3-6D90-60E0-1997DA8EAA1E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715D9F4-893E-FFE6-32FE-0A9BFECD3484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74DA411-2B57-88D0-EC19-969CDED4DC5C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F909F5BA-6854-952F-8AEF-ADA510458CCC}"/>
              </a:ext>
            </a:extLst>
          </p:cNvPr>
          <p:cNvSpPr/>
          <p:nvPr/>
        </p:nvSpPr>
        <p:spPr>
          <a:xfrm>
            <a:off x="8411894" y="385502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CF4A18A-A36D-3E0E-2F31-9C16B6749BF4}"/>
              </a:ext>
            </a:extLst>
          </p:cNvPr>
          <p:cNvSpPr txBox="1"/>
          <p:nvPr/>
        </p:nvSpPr>
        <p:spPr>
          <a:xfrm>
            <a:off x="267433" y="1257300"/>
            <a:ext cx="517481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XAI &amp; Case Study Validation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428AE-3DCE-1C27-370D-852734E44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" y="1822800"/>
            <a:ext cx="4748212" cy="35050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258E2F-921C-D916-E1D4-0127CAB355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773" y="1822800"/>
            <a:ext cx="6002141" cy="350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144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5E20F-19ED-1C9E-2D69-F1F817DB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A0F0C087-558A-29E3-48B5-6EF13B56F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28A47843-444E-0EBA-A489-C9DA4C53C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496D42E9-3509-DF29-37CA-940A7FDF7F76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6F5AB7-3B7C-F184-9EFA-5C186CA42578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17A28F3-43A2-43BC-4F55-9DFB29C58806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0D6E5D8-C0D8-545C-32A9-B3B01EE6E6A0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6055C8F-CD56-5D9C-B51B-44079759FCDF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BF3AD1E-7F6C-20B2-CC00-963CF20D3B43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BE0DB9E-2D8B-7D2C-C062-00621A777A31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B5D1A28-4749-54C3-AA84-6B35787B0AA3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F2C9D93-0AF0-8988-52BD-B8ADB3EA7761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8AF220AB-D352-D8B0-FB68-21E23ABAA9F4}"/>
              </a:ext>
            </a:extLst>
          </p:cNvPr>
          <p:cNvSpPr/>
          <p:nvPr/>
        </p:nvSpPr>
        <p:spPr>
          <a:xfrm>
            <a:off x="8411894" y="385502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A993586-3D39-24E0-DB59-375138A5E55A}"/>
              </a:ext>
            </a:extLst>
          </p:cNvPr>
          <p:cNvSpPr txBox="1"/>
          <p:nvPr/>
        </p:nvSpPr>
        <p:spPr>
          <a:xfrm>
            <a:off x="267433" y="1257300"/>
            <a:ext cx="517481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XAI &amp; Case Study Validation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C97AC-A518-ED68-18F2-956622CFA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4" y="1885950"/>
            <a:ext cx="11815413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137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BADB6-F19B-27FC-8E1D-F553F17BC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0F61BD48-D6E4-EE33-3FD6-F415D6193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E3B0E3A8-60F5-3E8C-6AF6-80394ED53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F206D210-CC86-C1BA-3E82-3E9D4D3364A4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8FA30A6-4B9A-F2DA-A789-EC09B1D91B56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6726121-9294-1654-EE42-37FD3B17C85A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C85D8E6-1BE3-FC19-3F1F-27A7E1AF693A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7FD94AD-DDE5-A9CE-2B2B-69B1AE75B7FE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23F4D7E-E46C-FE85-7243-F2C6AA538E11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0FFC499-DBBE-2398-5520-311447C46428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CA3A7B5-7B77-8B9F-7712-A37E136D12DD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1754157-13D2-8B7C-ECA6-3E2E6B33F95F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D2C2FB42-9C17-2305-108D-C46BE8DADA74}"/>
              </a:ext>
            </a:extLst>
          </p:cNvPr>
          <p:cNvSpPr/>
          <p:nvPr/>
        </p:nvSpPr>
        <p:spPr>
          <a:xfrm>
            <a:off x="8411894" y="385502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D23F9DA-1FFE-EC15-DA42-8147AE8CD453}"/>
              </a:ext>
            </a:extLst>
          </p:cNvPr>
          <p:cNvSpPr txBox="1"/>
          <p:nvPr/>
        </p:nvSpPr>
        <p:spPr>
          <a:xfrm>
            <a:off x="267433" y="1257300"/>
            <a:ext cx="517481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XAI &amp; Case Study Validation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63849A-4F74-70D7-E2AB-9D0F50369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33" y="2042130"/>
            <a:ext cx="5934411" cy="39224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5BC5FB5-D56E-2E3B-FB23-F04F363E7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748" y="2042130"/>
            <a:ext cx="5719794" cy="392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6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52B4-5EF8-3441-AA74-B50FB2D0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CE83408F-814F-0322-16DC-A1154309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126BB22D-1138-4C05-38BE-6A2F451AF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80ECC298-66C6-D700-5CFC-B6C16255A433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7E0850D-8801-8330-CA88-42C53800C93E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EFC5A37-BC35-52CA-D521-D7EA0BC7D2A4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3101952-4179-28E8-9D44-20250934C364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0BE8780-A914-FC8E-4A0B-FFB324FDC7EB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3ECE817-8CA6-162B-61FC-317EB0A21ED2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7CB312B-D4A1-3885-B9BB-94D4DACD75DF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7957522-BAA7-1D0D-7E89-9D13F6B97C6D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B993F3B-681F-19CC-D3A1-99599F13F32E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A6727F1C-A547-A66A-80B5-9EA020E75E18}"/>
              </a:ext>
            </a:extLst>
          </p:cNvPr>
          <p:cNvSpPr/>
          <p:nvPr/>
        </p:nvSpPr>
        <p:spPr>
          <a:xfrm>
            <a:off x="8442604" y="412745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3296942-9D69-80B9-3579-6DD01AFB6AD1}"/>
              </a:ext>
            </a:extLst>
          </p:cNvPr>
          <p:cNvSpPr txBox="1"/>
          <p:nvPr/>
        </p:nvSpPr>
        <p:spPr>
          <a:xfrm>
            <a:off x="267433" y="1257300"/>
            <a:ext cx="590097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System &amp; Validation Limitations</a:t>
            </a:r>
          </a:p>
          <a:p>
            <a:endParaRPr lang="en-US" dirty="0"/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B763E3C2-7C4A-23F2-339D-9DC261FC0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589609"/>
            <a:ext cx="5486400" cy="2955131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027758B6-0658-B17A-C307-759C91805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2865834"/>
            <a:ext cx="4933950" cy="2095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DC18B1-1E93-C125-1817-05262F3ED692}"/>
              </a:ext>
            </a:extLst>
          </p:cNvPr>
          <p:cNvSpPr txBox="1"/>
          <p:nvPr/>
        </p:nvSpPr>
        <p:spPr>
          <a:xfrm>
            <a:off x="6819900" y="3151584"/>
            <a:ext cx="4850606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CV &amp; Alignment Constraints</a:t>
            </a:r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074D17D7-779E-B16B-1813-990C4F30C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3199209"/>
            <a:ext cx="219075" cy="1905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CC22625-C5ED-C01A-6A6F-73E35D5E0B43}"/>
              </a:ext>
            </a:extLst>
          </p:cNvPr>
          <p:cNvSpPr txBox="1"/>
          <p:nvPr/>
        </p:nvSpPr>
        <p:spPr>
          <a:xfrm>
            <a:off x="6696075" y="3570684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Single Edge CV Coverage: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Cross-validation covers Compound–Disease edges only; all other Hetionet relations remain fixed.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40F90A-752A-84B4-E2DE-E82EFE2D310C}"/>
              </a:ext>
            </a:extLst>
          </p:cNvPr>
          <p:cNvSpPr txBox="1"/>
          <p:nvPr/>
        </p:nvSpPr>
        <p:spPr>
          <a:xfrm>
            <a:off x="6696075" y="4080271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Small Ensemble Test Set: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760 aligned pairs mandate statistical significance testing over face-value metrics.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E2E732-34D3-CDF9-65F1-9904F8659E27}"/>
              </a:ext>
            </a:extLst>
          </p:cNvPr>
          <p:cNvSpPr txBox="1"/>
          <p:nvPr/>
        </p:nvSpPr>
        <p:spPr>
          <a:xfrm>
            <a:off x="6696075" y="4589859"/>
            <a:ext cx="4743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Upstream File Dependency: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Prediction CSVs require strict structural alignment on (compound_id, disease_id, fold) checked only at runtime.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84AE598-F29F-653C-C720-A8381D62D6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75" y="2589609"/>
            <a:ext cx="5486400" cy="2955131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9B115BAD-8ACA-9105-407F-66B1B9FF00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865834"/>
            <a:ext cx="4933950" cy="1900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3CB8D3-6B66-B4A8-2462-DAE38A517DBC}"/>
              </a:ext>
            </a:extLst>
          </p:cNvPr>
          <p:cNvSpPr txBox="1"/>
          <p:nvPr/>
        </p:nvSpPr>
        <p:spPr>
          <a:xfrm>
            <a:off x="1057275" y="3151584"/>
            <a:ext cx="4830603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43A32"/>
                </a:solidFill>
                <a:latin typeface="Poppins"/>
              </a:rPr>
              <a:t>XAI Resolution &amp; Aggregation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C9F2E2C0-93D6-1142-0733-D0209A2721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199209"/>
            <a:ext cx="238125" cy="1728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9B829CA-0293-E8D0-00BC-C98831D57DB9}"/>
              </a:ext>
            </a:extLst>
          </p:cNvPr>
          <p:cNvSpPr txBox="1"/>
          <p:nvPr/>
        </p:nvSpPr>
        <p:spPr>
          <a:xfrm>
            <a:off x="914400" y="3570684"/>
            <a:ext cx="4743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Latent Space SHAP: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TreeSHAP operates on latent embedding dimensions rather than direct biological features (paired with Metapaths to compensate).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EFE147-AC5F-9A1E-A339-D07CBF3E9B4A}"/>
              </a:ext>
            </a:extLst>
          </p:cNvPr>
          <p:cNvSpPr txBox="1"/>
          <p:nvPr/>
        </p:nvSpPr>
        <p:spPr>
          <a:xfrm>
            <a:off x="914400" y="4287440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Single-Fold Post-Hoc Run: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Explanations (TxGNN_Explainer &amp; SHAP/Metapath) are run post-hoc on the last fold's trained model.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48104B-342F-87FA-AF77-2BA0DB903A54}"/>
              </a:ext>
            </a:extLst>
          </p:cNvPr>
          <p:cNvSpPr txBox="1"/>
          <p:nvPr/>
        </p:nvSpPr>
        <p:spPr>
          <a:xfrm>
            <a:off x="914400" y="4797027"/>
            <a:ext cx="47434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62C24"/>
                </a:solidFill>
                <a:latin typeface="DM Sans"/>
              </a:rPr>
              <a:t>Lack of Fold Aggregation:</a:t>
            </a:r>
            <a:r>
              <a:rPr sz="1087" b="0" i="0" u="none">
                <a:solidFill>
                  <a:srgbClr val="062C24"/>
                </a:solidFill>
                <a:latin typeface="DM Sans"/>
              </a:rPr>
              <a:t> Interpretability outputs represent single instance snapshots rather than cross-fold averages.</a:t>
            </a:r>
          </a:p>
        </p:txBody>
      </p:sp>
    </p:spTree>
    <p:extLst>
      <p:ext uri="{BB962C8B-B14F-4D97-AF65-F5344CB8AC3E}">
        <p14:creationId xmlns:p14="http://schemas.microsoft.com/office/powerpoint/2010/main" val="3132411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42F2F-17C9-659C-8369-18BA8AB20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BDC3D747-A701-3040-B7DB-7B9428082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DBF21CF1-25A7-96E2-52AC-9B5DC19FC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A046A506-77A7-9752-A75E-A7CF8C384220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9E6E6DC-C619-DD41-0CA5-F6B021E4D1D5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E620FC4-EC74-D38C-9D2B-A063E19F5CFD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D28FF13-7F51-CA97-35BE-FB7E32659397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92705CC-2F1D-112B-3B13-98B663C98F5B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0BB3697-9D29-045E-3EAC-6207A23DC2DE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4856E83-4F36-9656-844F-6F5D9AF9D7DA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252046A-6960-08AC-B093-1DA3D920257C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B54D62C-7BA6-62E4-888E-5B0C2377C8BB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474F9643-6146-9555-344A-015671D342C1}"/>
              </a:ext>
            </a:extLst>
          </p:cNvPr>
          <p:cNvSpPr/>
          <p:nvPr/>
        </p:nvSpPr>
        <p:spPr>
          <a:xfrm>
            <a:off x="7391166" y="412745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4D9456B-2BE5-2663-2565-2815C91C69E3}"/>
              </a:ext>
            </a:extLst>
          </p:cNvPr>
          <p:cNvSpPr txBox="1"/>
          <p:nvPr/>
        </p:nvSpPr>
        <p:spPr>
          <a:xfrm>
            <a:off x="267433" y="1257300"/>
            <a:ext cx="488787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043A32"/>
                </a:solidFill>
                <a:latin typeface="Poppins"/>
              </a:rPr>
              <a:t>Strategic Future Roadmap</a:t>
            </a:r>
          </a:p>
          <a:p>
            <a:endParaRPr lang="en-US" dirty="0"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8AFC653-F32D-5963-A5A3-F53CB579C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232719"/>
            <a:ext cx="5524500" cy="173920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24B64136-3A16-A000-C88C-669058662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232719"/>
            <a:ext cx="5524500" cy="1739205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291E47C3-91A4-B7CF-F80D-D8A5284C7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162425"/>
            <a:ext cx="5524500" cy="1739205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D2BC9535-2CCA-3817-937C-C9364CDE20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4162425"/>
            <a:ext cx="5524500" cy="1739205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62306234-5164-56EA-5F13-A2E9C5EB95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480369"/>
            <a:ext cx="419100" cy="4191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176417E-6F26-4FFF-D71F-BC177A1BA4AC}"/>
              </a:ext>
            </a:extLst>
          </p:cNvPr>
          <p:cNvSpPr txBox="1"/>
          <p:nvPr/>
        </p:nvSpPr>
        <p:spPr>
          <a:xfrm>
            <a:off x="695325" y="3032819"/>
            <a:ext cx="534066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3A32"/>
                </a:solidFill>
                <a:latin typeface="Poppins"/>
              </a:rPr>
              <a:t>1. End-to-End Execution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53D3B6-C1E1-9F79-995D-1001C8E61729}"/>
              </a:ext>
            </a:extLst>
          </p:cNvPr>
          <p:cNvSpPr txBox="1"/>
          <p:nvPr/>
        </p:nvSpPr>
        <p:spPr>
          <a:xfrm>
            <a:off x="695325" y="3366194"/>
            <a:ext cx="5086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062C24"/>
                </a:solidFill>
                <a:latin typeface="DM Sans"/>
              </a:rPr>
              <a:t>Execute both pipelines &amp; ensemble script completely to populate all metric tables and ROC/PR plots with real, fully reproducible data.</a:t>
            </a:r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7CD2CD38-3741-7562-9251-6C4C003CF6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2480369"/>
            <a:ext cx="419100" cy="4191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99651AE-C302-C651-5EA7-F9FB8DBB7DDB}"/>
              </a:ext>
            </a:extLst>
          </p:cNvPr>
          <p:cNvSpPr txBox="1"/>
          <p:nvPr/>
        </p:nvSpPr>
        <p:spPr>
          <a:xfrm>
            <a:off x="6410325" y="3032819"/>
            <a:ext cx="534066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3A32"/>
                </a:solidFill>
                <a:latin typeface="Poppins"/>
              </a:rPr>
              <a:t>2. Config &amp; CLI Pathing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A35CE0-91D5-667D-44BD-F8DBE15070D3}"/>
              </a:ext>
            </a:extLst>
          </p:cNvPr>
          <p:cNvSpPr txBox="1"/>
          <p:nvPr/>
        </p:nvSpPr>
        <p:spPr>
          <a:xfrm>
            <a:off x="6410325" y="3366194"/>
            <a:ext cx="5086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062C24"/>
                </a:solidFill>
                <a:latin typeface="DM Sans"/>
              </a:rPr>
              <a:t>Externalize file paths into YAML/JSON configuration files or CLI flags to eliminate hardcoded local paths and maximize cross-platform portability.</a:t>
            </a:r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215B7220-04B5-5A2D-896D-FDCDB1BB13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4410075"/>
            <a:ext cx="419100" cy="4191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ABC82E8-2FF3-38C7-BCBD-5958CB412319}"/>
              </a:ext>
            </a:extLst>
          </p:cNvPr>
          <p:cNvSpPr txBox="1"/>
          <p:nvPr/>
        </p:nvSpPr>
        <p:spPr>
          <a:xfrm>
            <a:off x="695325" y="4962525"/>
            <a:ext cx="534066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43A32"/>
                </a:solidFill>
                <a:latin typeface="Poppins"/>
              </a:rPr>
              <a:t>3. Structural Validation &amp; Multi-Edge CV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7C07B4-51CC-0977-4252-D6E28B84BA38}"/>
              </a:ext>
            </a:extLst>
          </p:cNvPr>
          <p:cNvSpPr txBox="1"/>
          <p:nvPr/>
        </p:nvSpPr>
        <p:spPr>
          <a:xfrm>
            <a:off x="695325" y="5295900"/>
            <a:ext cx="5086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062C24"/>
                </a:solidFill>
                <a:latin typeface="DM Sans"/>
              </a:rPr>
              <a:t>Introduce shared Run IDs to structurally prevent prediction CSV misalignment and expand cross-validation coverage across all Hetionet relation types.</a:t>
            </a:r>
          </a:p>
        </p:txBody>
      </p:sp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BCD40C15-04DF-DCA4-9066-C6227B4EB8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25" y="4410075"/>
            <a:ext cx="419100" cy="4191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CED5A00-4319-7E0E-9B22-7CEC5B7C89B9}"/>
              </a:ext>
            </a:extLst>
          </p:cNvPr>
          <p:cNvSpPr txBox="1"/>
          <p:nvPr/>
        </p:nvSpPr>
        <p:spPr>
          <a:xfrm>
            <a:off x="6410325" y="4962525"/>
            <a:ext cx="534066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3A32"/>
                </a:solidFill>
                <a:latin typeface="Poppins"/>
              </a:rPr>
              <a:t>4. Cross-Fold Aggregated XAI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9BD1C2-44F1-BEEE-AE88-F7D55EB66518}"/>
              </a:ext>
            </a:extLst>
          </p:cNvPr>
          <p:cNvSpPr txBox="1"/>
          <p:nvPr/>
        </p:nvSpPr>
        <p:spPr>
          <a:xfrm>
            <a:off x="6410325" y="5295900"/>
            <a:ext cx="5086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062C24"/>
                </a:solidFill>
                <a:latin typeface="DM Sans"/>
              </a:rPr>
              <a:t>Aggregate SHAP feature importance vectors, metapath frequencies, and attention weights across all folds rather than relying on single post-hoc runs.</a:t>
            </a:r>
          </a:p>
        </p:txBody>
      </p:sp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586F0EF3-9F96-3C9B-8C9F-0087F5843C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912" y="2585144"/>
            <a:ext cx="161925" cy="209550"/>
          </a:xfrm>
          <a:prstGeom prst="rect">
            <a:avLst/>
          </a:prstGeom>
        </p:spPr>
      </p:pic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6E673B0F-FAA2-4C44-7B4E-542D7F282A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2585144"/>
            <a:ext cx="209550" cy="209550"/>
          </a:xfrm>
          <a:prstGeom prst="rect">
            <a:avLst/>
          </a:prstGeom>
        </p:spPr>
      </p:pic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F1D3F0B4-C392-085B-5BBE-DFAD79E866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0812" y="4514850"/>
            <a:ext cx="23812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669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9BE88-F307-4D8C-785B-2EA06CCD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6C3D7D4F-014A-792A-4079-AF5A5FB5A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9069990-EDFD-0347-EEC8-063E9AEB53D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54B4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107005" y="0"/>
            <a:ext cx="12298929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45780D3-7222-CAB9-FF10-F22D4D39C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084"/>
            <a:ext cx="3530500" cy="48179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6EC5FC-7A0C-1105-1A09-5BD594357ABD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35CFE5-FE6B-E92B-7DA0-FD30D93D6368}"/>
              </a:ext>
            </a:extLst>
          </p:cNvPr>
          <p:cNvSpPr txBox="1"/>
          <p:nvPr/>
        </p:nvSpPr>
        <p:spPr>
          <a:xfrm>
            <a:off x="768558" y="2270815"/>
            <a:ext cx="3266766" cy="3388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"/>
              </a:rPr>
              <a:t>Introduction</a:t>
            </a: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Problem Definition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Motivation &amp; Objectives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Implementation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Architecture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Methodology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Results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Future Work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References</a:t>
            </a:r>
            <a:endParaRPr lang="en-US" sz="1650" b="1" dirty="0">
              <a:solidFill>
                <a:srgbClr val="0B3C37"/>
              </a:solidFill>
              <a:latin typeface="Plus Jakarta Sans"/>
              <a:sym typeface="Apto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9624A-17AF-DB3B-298F-83C0B3311891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A7483CD2-5E16-66F3-CE56-4985D30B3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74" y="3124316"/>
            <a:ext cx="2792981" cy="14097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54B4149-F951-083A-63BF-B84BE079CEE7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1CE920-874F-A9F0-06A2-F58DB81164DE}"/>
              </a:ext>
            </a:extLst>
          </p:cNvPr>
          <p:cNvSpPr txBox="1"/>
          <p:nvPr/>
        </p:nvSpPr>
        <p:spPr>
          <a:xfrm>
            <a:off x="628650" y="390869"/>
            <a:ext cx="1543050" cy="1131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Plus Jakarta Sans"/>
                <a:sym typeface="Aptos Bold"/>
              </a:rPr>
              <a:t>Agenda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8087F69-7625-E691-E3E3-FF11EEAD4A02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78F7B-B754-64DB-85DD-78C0647EB489}"/>
              </a:ext>
            </a:extLst>
          </p:cNvPr>
          <p:cNvSpPr txBox="1"/>
          <p:nvPr/>
        </p:nvSpPr>
        <p:spPr>
          <a:xfrm>
            <a:off x="4464516" y="3588318"/>
            <a:ext cx="3155886" cy="122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1462" lvl="1">
              <a:lnSpc>
                <a:spcPct val="150000"/>
              </a:lnSpc>
              <a:spcBef>
                <a:spcPct val="0"/>
              </a:spcBef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Future Work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291462" lvl="1">
              <a:lnSpc>
                <a:spcPct val="150000"/>
              </a:lnSpc>
              <a:spcBef>
                <a:spcPct val="0"/>
              </a:spcBef>
            </a:pP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291462" lvl="1">
              <a:lnSpc>
                <a:spcPct val="150000"/>
              </a:lnSpc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545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B2920-1233-B8F7-7EBB-E1D1EF8B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F3C29793-DCBD-460B-3D1D-7740450B6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42"/>
            <a:ext cx="12192000" cy="6858000"/>
          </a:xfrm>
          <a:prstGeom prst="rect">
            <a:avLst/>
          </a:prstGeom>
        </p:spPr>
      </p:pic>
      <p:pic>
        <p:nvPicPr>
          <p:cNvPr id="139" name="Picture 138" descr="image.png">
            <a:extLst>
              <a:ext uri="{FF2B5EF4-FFF2-40B4-BE49-F238E27FC236}">
                <a16:creationId xmlns:a16="http://schemas.microsoft.com/office/drawing/2014/main" id="{3BCA793C-46E8-CB69-11DE-61E93F7AD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A646C12E-D8CB-FF11-954F-AF9BE5F5B77F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F252976-0CE3-B093-6DBB-9E54F0EBDB0B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090B06A-D8D1-65CA-5FE5-11066D1DBB00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38873F6-4F1A-0C5C-2ED9-C1FA11D187BD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9593980-200A-AE11-FDCA-CA04B9688260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1D92BF9-3E98-2252-43EC-DD25DA8F88FB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635DEEC-4714-C2CA-2FCB-40F747088615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ED1A200-9009-7192-271B-51A361AA7E41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8DECE54-58E4-1992-6AF7-57A59077A37B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DF26E774-E188-2F51-51A5-501D029393BB}"/>
              </a:ext>
            </a:extLst>
          </p:cNvPr>
          <p:cNvSpPr/>
          <p:nvPr/>
        </p:nvSpPr>
        <p:spPr>
          <a:xfrm>
            <a:off x="9348459" y="390535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041A7AB-7347-431A-E645-2E91C859B11C}"/>
              </a:ext>
            </a:extLst>
          </p:cNvPr>
          <p:cNvSpPr txBox="1"/>
          <p:nvPr/>
        </p:nvSpPr>
        <p:spPr>
          <a:xfrm>
            <a:off x="267433" y="1144227"/>
            <a:ext cx="268515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4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>
              <a:solidFill>
                <a:srgbClr val="043A32"/>
              </a:solidFill>
            </a:endParaRPr>
          </a:p>
          <a:p>
            <a:endParaRPr lang="en-US" dirty="0">
              <a:solidFill>
                <a:srgbClr val="043A32"/>
              </a:solidFill>
            </a:endParaRP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7960713-37B1-93FE-ECB9-FFAA394CA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02102"/>
            <a:ext cx="2557462" cy="33804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A7AD443-4A62-2CEF-29FF-E82675147A54}"/>
              </a:ext>
            </a:extLst>
          </p:cNvPr>
          <p:cNvSpPr txBox="1"/>
          <p:nvPr/>
        </p:nvSpPr>
        <p:spPr>
          <a:xfrm>
            <a:off x="4814887" y="3032819"/>
            <a:ext cx="122110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rgbClr val="04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DATA</a:t>
            </a:r>
            <a:endParaRPr lang="en-US" sz="1400" dirty="0">
              <a:solidFill>
                <a:srgbClr val="043A3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43AD22-5401-43D7-B0B4-12AA7DF91652}"/>
              </a:ext>
            </a:extLst>
          </p:cNvPr>
          <p:cNvSpPr txBox="1"/>
          <p:nvPr/>
        </p:nvSpPr>
        <p:spPr>
          <a:xfrm>
            <a:off x="595312" y="3366194"/>
            <a:ext cx="2438399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i="1" dirty="0">
                <a:solidFill>
                  <a:srgbClr val="05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biomedical databases beyond </a:t>
            </a:r>
            <a:r>
              <a:rPr lang="en-US" sz="1050" b="1" i="1" dirty="0" err="1">
                <a:solidFill>
                  <a:srgbClr val="05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Hetionet</a:t>
            </a:r>
            <a:endParaRPr lang="en-US" sz="1050" b="1" i="1" dirty="0">
              <a:solidFill>
                <a:srgbClr val="054B4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50" b="1" i="1" dirty="0">
              <a:solidFill>
                <a:srgbClr val="054B4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dirty="0">
                <a:solidFill>
                  <a:srgbClr val="04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additional biomedical databases beyond </a:t>
            </a:r>
            <a:r>
              <a:rPr lang="en-US" sz="1050" dirty="0" err="1">
                <a:solidFill>
                  <a:srgbClr val="04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Hetionet</a:t>
            </a:r>
            <a:r>
              <a:rPr lang="en-US" sz="1050" dirty="0">
                <a:solidFill>
                  <a:srgbClr val="04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increase graph coverage and capture more drug–disease relationships.</a:t>
            </a:r>
            <a:endParaRPr lang="en-US" sz="1050" dirty="0">
              <a:solidFill>
                <a:srgbClr val="043A32"/>
              </a:solidFill>
            </a:endParaRPr>
          </a:p>
          <a:p>
            <a:endParaRPr lang="en-US" sz="10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3C77A9C6-0182-6D0E-A739-73A03014ABDA}"/>
              </a:ext>
            </a:extLst>
          </p:cNvPr>
          <p:cNvSpPr/>
          <p:nvPr/>
        </p:nvSpPr>
        <p:spPr>
          <a:xfrm>
            <a:off x="612254" y="2484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8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65B97B78-F173-AAFC-0085-473C36024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49" y="2302102"/>
            <a:ext cx="2557462" cy="338045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A3D88FF-32B9-EDEE-5ECB-C9E67D72AC10}"/>
              </a:ext>
            </a:extLst>
          </p:cNvPr>
          <p:cNvSpPr txBox="1"/>
          <p:nvPr/>
        </p:nvSpPr>
        <p:spPr>
          <a:xfrm>
            <a:off x="9545166" y="2715308"/>
            <a:ext cx="185149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b="1" dirty="0">
                <a:solidFill>
                  <a:srgbClr val="04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VALIDATION</a:t>
            </a:r>
            <a:endParaRPr lang="en-US" sz="1400" dirty="0">
              <a:solidFill>
                <a:srgbClr val="043A3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B62199-E5DA-D54D-CE54-3D9FD78966E0}"/>
              </a:ext>
            </a:extLst>
          </p:cNvPr>
          <p:cNvSpPr txBox="1"/>
          <p:nvPr/>
        </p:nvSpPr>
        <p:spPr>
          <a:xfrm>
            <a:off x="9472612" y="3366194"/>
            <a:ext cx="2357280" cy="120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i="1" dirty="0">
                <a:solidFill>
                  <a:srgbClr val="05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top-ranked novel candidates</a:t>
            </a:r>
            <a:endParaRPr lang="en-US" sz="1050" dirty="0">
              <a:solidFill>
                <a:srgbClr val="054B42"/>
              </a:solidFill>
            </a:endParaRPr>
          </a:p>
          <a:p>
            <a:endParaRPr lang="en-US" sz="1050" dirty="0">
              <a:solidFill>
                <a:srgbClr val="AEC2D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highest-ranked novel drug–disease candidates for literature-based, preclinical, and eventually clinical validation.</a:t>
            </a:r>
            <a:endParaRPr lang="en-US" sz="1050" dirty="0"/>
          </a:p>
          <a:p>
            <a:endParaRPr lang="en-US" sz="105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1635C5F9-4A6A-0D8F-C307-FB4ACC8B7DFC}"/>
              </a:ext>
            </a:extLst>
          </p:cNvPr>
          <p:cNvSpPr/>
          <p:nvPr/>
        </p:nvSpPr>
        <p:spPr>
          <a:xfrm>
            <a:off x="9489553" y="2484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8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9335E7BE-D177-891A-FB95-72B63D1AC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1" y="2322298"/>
            <a:ext cx="2557462" cy="338045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F8535BC-BB06-00CA-9895-A5A436262D89}"/>
              </a:ext>
            </a:extLst>
          </p:cNvPr>
          <p:cNvSpPr txBox="1"/>
          <p:nvPr/>
        </p:nvSpPr>
        <p:spPr>
          <a:xfrm>
            <a:off x="6460078" y="3456219"/>
            <a:ext cx="2465955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dirty="0"/>
              <a:t>(</a:t>
            </a:r>
            <a:r>
              <a:rPr lang="en-US" sz="1050" b="1" i="1" dirty="0">
                <a:solidFill>
                  <a:srgbClr val="05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r>
              <a:rPr lang="en-US" sz="1050" dirty="0"/>
              <a:t>) </a:t>
            </a:r>
            <a:r>
              <a:rPr lang="en-US" sz="1050" b="1" i="1" dirty="0">
                <a:solidFill>
                  <a:srgbClr val="05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ar-EG" sz="1050" b="1" i="1" dirty="0">
              <a:solidFill>
                <a:srgbClr val="054B4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ar-EG" sz="1050" b="1" i="1" dirty="0">
              <a:solidFill>
                <a:srgbClr val="054B4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dirty="0"/>
              <a:t>Continuously update the knowledge graph and extract real-time biomedical evidence from PubMed using advanced RAG pipelines</a:t>
            </a:r>
            <a:endParaRPr lang="en-US" sz="1050" dirty="0">
              <a:solidFill>
                <a:srgbClr val="AEC2D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EB8713E7-8BF8-1CB1-0035-150E4313AEB9}"/>
              </a:ext>
            </a:extLst>
          </p:cNvPr>
          <p:cNvSpPr/>
          <p:nvPr/>
        </p:nvSpPr>
        <p:spPr>
          <a:xfrm>
            <a:off x="6651102" y="247674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8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852CEF83-1B4B-13D6-C142-DC2608DE2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164" y="2302102"/>
            <a:ext cx="2557462" cy="338045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63AB3CF-0874-B1F5-C7BE-707999D4489B}"/>
              </a:ext>
            </a:extLst>
          </p:cNvPr>
          <p:cNvSpPr txBox="1"/>
          <p:nvPr/>
        </p:nvSpPr>
        <p:spPr>
          <a:xfrm>
            <a:off x="3604361" y="3413440"/>
            <a:ext cx="2421265" cy="137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i="1" dirty="0">
                <a:solidFill>
                  <a:srgbClr val="05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heterogeneous architectures powerful</a:t>
            </a:r>
          </a:p>
          <a:p>
            <a:endParaRPr lang="en-US" sz="1050" dirty="0">
              <a:solidFill>
                <a:srgbClr val="054B42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Explore more advanced Heterogeneous GNN architectures and attention mechanisms to improve representation learning and prediction performance.</a:t>
            </a:r>
            <a:endParaRPr lang="en-US" sz="1050" dirty="0"/>
          </a:p>
          <a:p>
            <a:endParaRPr lang="en-US" sz="1050" dirty="0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6752B634-ACE8-57EA-219F-F14A25969A69}"/>
              </a:ext>
            </a:extLst>
          </p:cNvPr>
          <p:cNvSpPr/>
          <p:nvPr/>
        </p:nvSpPr>
        <p:spPr>
          <a:xfrm>
            <a:off x="3604361" y="2463223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8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803AF3-7E80-FED8-E0A4-362BDCF632EE}"/>
              </a:ext>
            </a:extLst>
          </p:cNvPr>
          <p:cNvSpPr txBox="1"/>
          <p:nvPr/>
        </p:nvSpPr>
        <p:spPr>
          <a:xfrm>
            <a:off x="3813995" y="2772376"/>
            <a:ext cx="140049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rgbClr val="043A32"/>
                </a:solidFill>
                <a:latin typeface="Cambria" pitchFamily="34" charset="0"/>
                <a:ea typeface="Cambria" pitchFamily="34" charset="-122"/>
              </a:rPr>
              <a:t>ADVANCED</a:t>
            </a:r>
            <a:r>
              <a:rPr lang="en-US" sz="1400" b="1" dirty="0">
                <a:solidFill>
                  <a:srgbClr val="04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GNNs</a:t>
            </a:r>
            <a:endParaRPr lang="en-US" sz="1400" dirty="0">
              <a:solidFill>
                <a:srgbClr val="043A32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150FE3-3885-2B52-3260-E14BE0669A50}"/>
              </a:ext>
            </a:extLst>
          </p:cNvPr>
          <p:cNvSpPr txBox="1"/>
          <p:nvPr/>
        </p:nvSpPr>
        <p:spPr>
          <a:xfrm>
            <a:off x="6818586" y="2706064"/>
            <a:ext cx="188398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US" sz="1400" b="1" dirty="0">
                <a:solidFill>
                  <a:srgbClr val="043A32"/>
                </a:solidFill>
                <a:latin typeface="Cambria" pitchFamily="34" charset="0"/>
                <a:ea typeface="Cambria" pitchFamily="34" charset="-122"/>
              </a:rPr>
              <a:t>DYNAMIC KG </a:t>
            </a:r>
            <a:r>
              <a:rPr lang="ar-EG" sz="1400" b="1" dirty="0">
                <a:solidFill>
                  <a:srgbClr val="043A32"/>
                </a:solidFill>
                <a:latin typeface="Cambria" pitchFamily="34" charset="0"/>
                <a:ea typeface="Cambria" pitchFamily="34" charset="-122"/>
              </a:rPr>
              <a:t> &amp; </a:t>
            </a:r>
            <a:r>
              <a:rPr lang="en-US" sz="1400" b="1" dirty="0">
                <a:solidFill>
                  <a:srgbClr val="043A32"/>
                </a:solidFill>
                <a:latin typeface="Cambria" pitchFamily="34" charset="0"/>
                <a:ea typeface="Cambria" pitchFamily="34" charset="-122"/>
              </a:rPr>
              <a:t>RAG-BASED EVIDENCE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rgbClr val="043A32"/>
                </a:solidFill>
                <a:latin typeface="Cambria" pitchFamily="34" charset="0"/>
                <a:ea typeface="Cambria" pitchFamily="34" charset="-122"/>
              </a:rPr>
              <a:t>RETRIEVAL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23F8BFB-69A3-8C85-B4CC-697036A27604}"/>
              </a:ext>
            </a:extLst>
          </p:cNvPr>
          <p:cNvSpPr txBox="1"/>
          <p:nvPr/>
        </p:nvSpPr>
        <p:spPr>
          <a:xfrm>
            <a:off x="840226" y="2734780"/>
            <a:ext cx="140049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b="1" dirty="0">
                <a:solidFill>
                  <a:srgbClr val="043A3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EXPAND DATA</a:t>
            </a:r>
            <a:endParaRPr lang="en-US" sz="1400" dirty="0">
              <a:solidFill>
                <a:srgbClr val="043A32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F03D2-CFF5-E8DD-76E1-EDFA4AD8B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631" y="2468880"/>
            <a:ext cx="45720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E4954C-BDE0-22DA-5B48-0CA7F3FC1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5218" y="2583180"/>
            <a:ext cx="200025" cy="2286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3E83622-8D51-7860-1DE0-C7867C671C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0701" y="2513238"/>
            <a:ext cx="495300" cy="49530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91F1D657-9A4E-B224-C99B-CB6A7EB689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8338" y="2642595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47DCF61A-A0A6-7913-CF58-86B75691A6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51774" y="2468880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DB6CED71-1528-81AE-97D0-09A5D49DB3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56549" y="2573655"/>
            <a:ext cx="209550" cy="20955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9CFECE5D-D2E4-A5E9-701B-36CCA1E067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8083" y="2463223"/>
            <a:ext cx="419100" cy="419100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714C7C08-AECC-BB1A-3D52-0578814CE2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6670" y="2567998"/>
            <a:ext cx="16192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7448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A6A2-E996-92A6-66BD-CE4C015EE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F9C42053-EF37-0CBF-ADE2-8BF3854F9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B97C14E-C4FA-3805-7247-8A47FBFE682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54B4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107005" y="0"/>
            <a:ext cx="12298929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85B70472-4D0C-5C43-CB42-85968E37A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084"/>
            <a:ext cx="3530500" cy="48179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941ADC-6B98-7D88-C9AB-FC26B38676E1}"/>
              </a:ext>
            </a:extLst>
          </p:cNvPr>
          <p:cNvSpPr/>
          <p:nvPr/>
        </p:nvSpPr>
        <p:spPr>
          <a:xfrm>
            <a:off x="58102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E8E124-C13C-782E-7034-92E244E194D3}"/>
              </a:ext>
            </a:extLst>
          </p:cNvPr>
          <p:cNvSpPr txBox="1"/>
          <p:nvPr/>
        </p:nvSpPr>
        <p:spPr>
          <a:xfrm>
            <a:off x="768558" y="2270815"/>
            <a:ext cx="3266766" cy="3388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  <a:sym typeface="Aptos"/>
              </a:rPr>
              <a:t>Introduction</a:t>
            </a: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Problem Definition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Motivation &amp; Objectives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Implementation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Architecture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Methodology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Results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Future Work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582925" lvl="1" indent="-291463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References</a:t>
            </a:r>
            <a:endParaRPr lang="en-US" sz="1650" b="1" dirty="0">
              <a:solidFill>
                <a:srgbClr val="0B3C37"/>
              </a:solidFill>
              <a:latin typeface="Plus Jakarta Sans"/>
              <a:sym typeface="Apto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E5FC63-E56E-29BE-635F-E8580C621D32}"/>
              </a:ext>
            </a:extLst>
          </p:cNvPr>
          <p:cNvSpPr/>
          <p:nvPr/>
        </p:nvSpPr>
        <p:spPr>
          <a:xfrm>
            <a:off x="4340125" y="3767137"/>
            <a:ext cx="3511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B3603267-D98E-447E-894D-E88E6205E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74" y="3124316"/>
            <a:ext cx="2792981" cy="14097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0B5EAA4-5029-EC47-C3E7-9FB096EC7677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87F73C-E171-8C1D-ADFD-779EC699D423}"/>
              </a:ext>
            </a:extLst>
          </p:cNvPr>
          <p:cNvSpPr txBox="1"/>
          <p:nvPr/>
        </p:nvSpPr>
        <p:spPr>
          <a:xfrm>
            <a:off x="628650" y="390869"/>
            <a:ext cx="1543050" cy="1131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Plus Jakarta Sans"/>
                <a:sym typeface="Aptos Bold"/>
              </a:rPr>
              <a:t>Agenda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FE6F67D-8D5A-0F49-9E03-39C50F9886B7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3882F-56E9-2939-8CBD-1A4905BDB8FC}"/>
              </a:ext>
            </a:extLst>
          </p:cNvPr>
          <p:cNvSpPr txBox="1"/>
          <p:nvPr/>
        </p:nvSpPr>
        <p:spPr>
          <a:xfrm>
            <a:off x="4464516" y="3588318"/>
            <a:ext cx="3155886" cy="84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1462" lvl="1">
              <a:lnSpc>
                <a:spcPct val="150000"/>
              </a:lnSpc>
              <a:spcBef>
                <a:spcPct val="0"/>
              </a:spcBef>
            </a:pPr>
            <a:r>
              <a:rPr lang="en-US" sz="1650" b="1" dirty="0">
                <a:solidFill>
                  <a:srgbClr val="0B3C37"/>
                </a:solidFill>
                <a:latin typeface="Plus Jakarta Sans"/>
              </a:rPr>
              <a:t>References</a:t>
            </a:r>
            <a:endParaRPr lang="ar-EG" sz="1650" b="1" dirty="0">
              <a:solidFill>
                <a:srgbClr val="0B3C37"/>
              </a:solidFill>
              <a:latin typeface="Plus Jakarta Sans"/>
            </a:endParaRPr>
          </a:p>
          <a:p>
            <a:pPr marL="291462" lvl="1">
              <a:lnSpc>
                <a:spcPct val="150000"/>
              </a:lnSpc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8797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4646A758-2984-BE1C-E88B-4515325F4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" y="333375"/>
            <a:ext cx="11001375" cy="4191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9079A90-5A6D-3CDC-DAB1-61F9D6334C7F}"/>
              </a:ext>
            </a:extLst>
          </p:cNvPr>
          <p:cNvSpPr txBox="1"/>
          <p:nvPr/>
        </p:nvSpPr>
        <p:spPr>
          <a:xfrm>
            <a:off x="795337" y="457200"/>
            <a:ext cx="771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Introduction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32D9DF-21A1-E00B-8F0C-3BD4B30D1CDC}"/>
              </a:ext>
            </a:extLst>
          </p:cNvPr>
          <p:cNvSpPr txBox="1"/>
          <p:nvPr/>
        </p:nvSpPr>
        <p:spPr>
          <a:xfrm>
            <a:off x="1909762" y="457200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Problem Definition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0F4368-F0BA-D10C-1D79-BE8389FBDF6F}"/>
              </a:ext>
            </a:extLst>
          </p:cNvPr>
          <p:cNvSpPr txBox="1"/>
          <p:nvPr/>
        </p:nvSpPr>
        <p:spPr>
          <a:xfrm>
            <a:off x="3376612" y="457200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115E59"/>
                </a:solidFill>
                <a:latin typeface="Plus Jakarta Sans SemiBold"/>
              </a:rPr>
              <a:t>Motivation &amp; Objectives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FB49DA-399C-FD46-469C-02DAB9B8FFDD}"/>
              </a:ext>
            </a:extLst>
          </p:cNvPr>
          <p:cNvSpPr txBox="1"/>
          <p:nvPr/>
        </p:nvSpPr>
        <p:spPr>
          <a:xfrm>
            <a:off x="6481762" y="457200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Architecture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27BC14-4594-E98F-AB2B-9E23F29E9AA9}"/>
              </a:ext>
            </a:extLst>
          </p:cNvPr>
          <p:cNvSpPr txBox="1"/>
          <p:nvPr/>
        </p:nvSpPr>
        <p:spPr>
          <a:xfrm>
            <a:off x="7605712" y="457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Methodology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CD8990-046C-6968-DE9B-45FE6BFD445C}"/>
              </a:ext>
            </a:extLst>
          </p:cNvPr>
          <p:cNvSpPr txBox="1"/>
          <p:nvPr/>
        </p:nvSpPr>
        <p:spPr>
          <a:xfrm>
            <a:off x="8767762" y="457200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Results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B53740-C872-EDC3-7048-074AD0AC4039}"/>
              </a:ext>
            </a:extLst>
          </p:cNvPr>
          <p:cNvSpPr txBox="1"/>
          <p:nvPr/>
        </p:nvSpPr>
        <p:spPr>
          <a:xfrm>
            <a:off x="9577387" y="457200"/>
            <a:ext cx="752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Future Work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107305-C9CF-7FA7-EC76-CDC5E40AE408}"/>
              </a:ext>
            </a:extLst>
          </p:cNvPr>
          <p:cNvSpPr txBox="1"/>
          <p:nvPr/>
        </p:nvSpPr>
        <p:spPr>
          <a:xfrm>
            <a:off x="10672762" y="457200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15E59"/>
                </a:solidFill>
                <a:latin typeface="Plus Jakarta Sans SemiBold"/>
              </a:rPr>
              <a:t>References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0D829E-499A-4186-200F-EDD107A94428}"/>
              </a:ext>
            </a:extLst>
          </p:cNvPr>
          <p:cNvSpPr txBox="1"/>
          <p:nvPr/>
        </p:nvSpPr>
        <p:spPr>
          <a:xfrm>
            <a:off x="5074705" y="385502"/>
            <a:ext cx="1003801" cy="519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75" dirty="0">
                <a:solidFill>
                  <a:srgbClr val="115E59"/>
                </a:solidFill>
                <a:latin typeface="Plus Jakarta Sans SemiBold"/>
              </a:rPr>
              <a:t>Implementation</a:t>
            </a:r>
            <a:endParaRPr lang="ar-EG" sz="975" dirty="0">
              <a:solidFill>
                <a:srgbClr val="115E59"/>
              </a:solidFill>
              <a:latin typeface="Plus Jakarta Sans SemiBold"/>
            </a:endParaRPr>
          </a:p>
          <a:p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BDA3B3B-FAB6-C2FD-60B5-90BD3EA9690D}"/>
              </a:ext>
            </a:extLst>
          </p:cNvPr>
          <p:cNvSpPr/>
          <p:nvPr/>
        </p:nvSpPr>
        <p:spPr>
          <a:xfrm>
            <a:off x="10427399" y="385502"/>
            <a:ext cx="1078940" cy="2772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F7FF3CFD-0E08-019B-FCA0-AF520D470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0300" y="1023937"/>
            <a:ext cx="1695450" cy="295275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76505C26-DD1B-2BBA-989D-361985800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552575"/>
            <a:ext cx="5543550" cy="868560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716F97E7-9E70-CC79-D0CE-2CECE053C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2554485"/>
            <a:ext cx="5543550" cy="68193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059C4E7D-5151-1DFB-CC23-F4C0126DA9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3369766"/>
            <a:ext cx="5543550" cy="681930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B0046C65-15C8-6035-F0B7-72C699B7AC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4185046"/>
            <a:ext cx="5543550" cy="868560"/>
          </a:xfrm>
          <a:prstGeom prst="rect">
            <a:avLst/>
          </a:prstGeom>
        </p:spPr>
      </p:pic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DB399536-C1B2-8027-8C44-242D56ED1C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1552575"/>
            <a:ext cx="5543550" cy="681930"/>
          </a:xfrm>
          <a:prstGeom prst="rect">
            <a:avLst/>
          </a:prstGeom>
        </p:spPr>
      </p:pic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BEE43AE0-9D3D-09A9-D2FF-19F25DC189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367855"/>
            <a:ext cx="5543550" cy="868560"/>
          </a:xfrm>
          <a:prstGeom prst="rect">
            <a:avLst/>
          </a:prstGeom>
        </p:spPr>
      </p:pic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5641B70D-FFAB-1673-000B-C060809EC3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3369766"/>
            <a:ext cx="5543550" cy="868560"/>
          </a:xfrm>
          <a:prstGeom prst="rect">
            <a:avLst/>
          </a:prstGeom>
        </p:spPr>
      </p:pic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C73BACE8-6DBB-32BE-BE85-8D6897652C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1695450"/>
            <a:ext cx="323850" cy="323850"/>
          </a:xfrm>
          <a:prstGeom prst="rect">
            <a:avLst/>
          </a:prstGeom>
        </p:spPr>
      </p:pic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E6E2D976-D9BB-0FC0-F6FC-E3B0D2553D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2697360"/>
            <a:ext cx="323850" cy="323850"/>
          </a:xfrm>
          <a:prstGeom prst="rect">
            <a:avLst/>
          </a:prstGeom>
        </p:spPr>
      </p:pic>
      <p:pic>
        <p:nvPicPr>
          <p:cNvPr id="58" name="Picture 57" descr="image.png">
            <a:extLst>
              <a:ext uri="{FF2B5EF4-FFF2-40B4-BE49-F238E27FC236}">
                <a16:creationId xmlns:a16="http://schemas.microsoft.com/office/drawing/2014/main" id="{0183E121-205A-B71A-3811-2BAA3B6B3B4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" y="3512641"/>
            <a:ext cx="323850" cy="323850"/>
          </a:xfrm>
          <a:prstGeom prst="rect">
            <a:avLst/>
          </a:prstGeom>
        </p:spPr>
      </p:pic>
      <p:pic>
        <p:nvPicPr>
          <p:cNvPr id="60" name="Picture 59" descr="image.png">
            <a:extLst>
              <a:ext uri="{FF2B5EF4-FFF2-40B4-BE49-F238E27FC236}">
                <a16:creationId xmlns:a16="http://schemas.microsoft.com/office/drawing/2014/main" id="{B3808909-CE1A-3262-CA58-E391C66F249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" y="4327921"/>
            <a:ext cx="323850" cy="323850"/>
          </a:xfrm>
          <a:prstGeom prst="rect">
            <a:avLst/>
          </a:prstGeom>
        </p:spPr>
      </p:pic>
      <p:pic>
        <p:nvPicPr>
          <p:cNvPr id="62" name="Picture 61" descr="image.png">
            <a:extLst>
              <a:ext uri="{FF2B5EF4-FFF2-40B4-BE49-F238E27FC236}">
                <a16:creationId xmlns:a16="http://schemas.microsoft.com/office/drawing/2014/main" id="{320F90DE-CFC1-F226-190B-18CEA3E5CFF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3175" y="1695450"/>
            <a:ext cx="323850" cy="323850"/>
          </a:xfrm>
          <a:prstGeom prst="rect">
            <a:avLst/>
          </a:prstGeom>
        </p:spPr>
      </p:pic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C881A026-092F-9CAD-FF01-FF95AE048F7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3175" y="2510730"/>
            <a:ext cx="323850" cy="323850"/>
          </a:xfrm>
          <a:prstGeom prst="rect">
            <a:avLst/>
          </a:prstGeom>
        </p:spPr>
      </p:pic>
      <p:pic>
        <p:nvPicPr>
          <p:cNvPr id="66" name="Picture 65" descr="image.png">
            <a:extLst>
              <a:ext uri="{FF2B5EF4-FFF2-40B4-BE49-F238E27FC236}">
                <a16:creationId xmlns:a16="http://schemas.microsoft.com/office/drawing/2014/main" id="{D109657A-C9A4-B2C1-F68B-9347E1C5065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53175" y="3512641"/>
            <a:ext cx="323850" cy="32385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A0B554FA-82F3-0092-BE4A-1239A612E38B}"/>
              </a:ext>
            </a:extLst>
          </p:cNvPr>
          <p:cNvSpPr txBox="1"/>
          <p:nvPr/>
        </p:nvSpPr>
        <p:spPr>
          <a:xfrm>
            <a:off x="476250" y="981075"/>
            <a:ext cx="173021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64338"/>
                </a:solidFill>
                <a:latin typeface="Merriweather"/>
              </a:rPr>
              <a:t>References</a:t>
            </a:r>
          </a:p>
        </p:txBody>
      </p:sp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255FA700-20FC-D3C0-A476-264221085F9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10787" y="1109662"/>
            <a:ext cx="104775" cy="12382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3DED9F1B-6984-BC25-C0C0-80D4CB5EC15A}"/>
              </a:ext>
            </a:extLst>
          </p:cNvPr>
          <p:cNvSpPr txBox="1"/>
          <p:nvPr/>
        </p:nvSpPr>
        <p:spPr>
          <a:xfrm>
            <a:off x="1114425" y="1695450"/>
            <a:ext cx="4724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1E2A28"/>
                </a:solidFill>
                <a:latin typeface="DM Sans SemiBold"/>
              </a:rPr>
              <a:t>Biomedical knowledge graph learning for drug repurposing by extending guilt-by-association to multiple layers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532636F-8B10-563A-4F2D-55E83039BADD}"/>
              </a:ext>
            </a:extLst>
          </p:cNvPr>
          <p:cNvSpPr txBox="1"/>
          <p:nvPr/>
        </p:nvSpPr>
        <p:spPr>
          <a:xfrm>
            <a:off x="2114880" y="2106810"/>
            <a:ext cx="47244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 dirty="0">
                <a:solidFill>
                  <a:srgbClr val="4A635D"/>
                </a:solidFill>
                <a:latin typeface="DM Sans"/>
              </a:rPr>
              <a:t> Guilt-by-Association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692FC54-4061-F8D7-C838-3875FC386E8A}"/>
              </a:ext>
            </a:extLst>
          </p:cNvPr>
          <p:cNvSpPr txBox="1"/>
          <p:nvPr/>
        </p:nvSpPr>
        <p:spPr>
          <a:xfrm>
            <a:off x="1114425" y="2697360"/>
            <a:ext cx="32385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1E2A28"/>
                </a:solidFill>
                <a:latin typeface="DM Sans SemiBold"/>
              </a:rPr>
              <a:t>A foundation model for clinician-centered drug repurposing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C6FEED-B4B2-3668-D9D6-3F171869E13C}"/>
              </a:ext>
            </a:extLst>
          </p:cNvPr>
          <p:cNvSpPr txBox="1"/>
          <p:nvPr/>
        </p:nvSpPr>
        <p:spPr>
          <a:xfrm>
            <a:off x="2099979" y="2922091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 dirty="0">
                <a:solidFill>
                  <a:srgbClr val="4A635D"/>
                </a:solidFill>
                <a:latin typeface="DM Sans"/>
              </a:rPr>
              <a:t> Clinical Applications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AB8B05B-B0C5-7343-F832-4458A75410BF}"/>
              </a:ext>
            </a:extLst>
          </p:cNvPr>
          <p:cNvSpPr txBox="1"/>
          <p:nvPr/>
        </p:nvSpPr>
        <p:spPr>
          <a:xfrm>
            <a:off x="1114425" y="3512641"/>
            <a:ext cx="43338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1E2A28"/>
                </a:solidFill>
                <a:latin typeface="DM Sans Black"/>
              </a:rPr>
              <a:t>deepDR:</a:t>
            </a:r>
            <a:r>
              <a:rPr sz="1050" b="0" i="0" u="none">
                <a:solidFill>
                  <a:srgbClr val="1E2A28"/>
                </a:solidFill>
                <a:latin typeface="DM Sans SemiBold"/>
              </a:rPr>
              <a:t> a network-based deep learning approach to in silico drug repositioning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F9D4442-6C3B-A9FA-A1CC-C47F3B391C49}"/>
              </a:ext>
            </a:extLst>
          </p:cNvPr>
          <p:cNvSpPr txBox="1"/>
          <p:nvPr/>
        </p:nvSpPr>
        <p:spPr>
          <a:xfrm>
            <a:off x="1114425" y="3737371"/>
            <a:ext cx="4333875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4A635D"/>
                </a:solidFill>
                <a:latin typeface="DM Sans"/>
              </a:rPr>
              <a:t> Network Approaches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80FC55-79B5-8F24-41A5-441022AEEF19}"/>
              </a:ext>
            </a:extLst>
          </p:cNvPr>
          <p:cNvSpPr txBox="1"/>
          <p:nvPr/>
        </p:nvSpPr>
        <p:spPr>
          <a:xfrm>
            <a:off x="1114425" y="4327921"/>
            <a:ext cx="4724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1E2A28"/>
                </a:solidFill>
                <a:latin typeface="DM Sans Black"/>
              </a:rPr>
              <a:t>Drug Repo:</a:t>
            </a:r>
            <a:r>
              <a:rPr sz="1050" b="0" i="0" u="none">
                <a:solidFill>
                  <a:srgbClr val="1E2A28"/>
                </a:solidFill>
                <a:latin typeface="DM Sans SemiBold"/>
              </a:rPr>
              <a:t> a novel approach to repurposing drugs based on chemical and genomic features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67B7C2B-C901-675E-8E89-11E08B653E52}"/>
              </a:ext>
            </a:extLst>
          </p:cNvPr>
          <p:cNvSpPr txBox="1"/>
          <p:nvPr/>
        </p:nvSpPr>
        <p:spPr>
          <a:xfrm>
            <a:off x="1114425" y="4739282"/>
            <a:ext cx="47244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 dirty="0">
                <a:solidFill>
                  <a:srgbClr val="4A635D"/>
                </a:solidFill>
                <a:latin typeface="DM Sans"/>
              </a:rPr>
              <a:t> Chemical Features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7B761DC-DBEA-3B5F-094B-171F6145895D}"/>
              </a:ext>
            </a:extLst>
          </p:cNvPr>
          <p:cNvSpPr txBox="1"/>
          <p:nvPr/>
        </p:nvSpPr>
        <p:spPr>
          <a:xfrm>
            <a:off x="6810375" y="1695450"/>
            <a:ext cx="33909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1E2A28"/>
                </a:solidFill>
                <a:latin typeface="DM Sans SemiBold"/>
              </a:rPr>
              <a:t>Drug repositioning with adaptive graph convolutional networks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1618963-C944-C0C4-C8EE-042639FDB505}"/>
              </a:ext>
            </a:extLst>
          </p:cNvPr>
          <p:cNvSpPr txBox="1"/>
          <p:nvPr/>
        </p:nvSpPr>
        <p:spPr>
          <a:xfrm>
            <a:off x="7237821" y="2048767"/>
            <a:ext cx="33909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 dirty="0">
                <a:solidFill>
                  <a:srgbClr val="4A635D"/>
                </a:solidFill>
                <a:latin typeface="DM Sans"/>
              </a:rPr>
              <a:t> Adaptive Graph Networks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47464F-A03A-105B-677E-188288BA9A8F}"/>
              </a:ext>
            </a:extLst>
          </p:cNvPr>
          <p:cNvSpPr txBox="1"/>
          <p:nvPr/>
        </p:nvSpPr>
        <p:spPr>
          <a:xfrm>
            <a:off x="6810375" y="2510730"/>
            <a:ext cx="4724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1E2A28"/>
                </a:solidFill>
                <a:latin typeface="DM Sans SemiBold"/>
              </a:rPr>
              <a:t>A novel efficient drug repurposing framework through drug-disease association data integration using convolutional neural networks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9B8C746-05E2-6CF1-84F0-1916A1115876}"/>
              </a:ext>
            </a:extLst>
          </p:cNvPr>
          <p:cNvSpPr txBox="1"/>
          <p:nvPr/>
        </p:nvSpPr>
        <p:spPr>
          <a:xfrm>
            <a:off x="7600950" y="2931615"/>
            <a:ext cx="47244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 dirty="0">
                <a:solidFill>
                  <a:srgbClr val="4A635D"/>
                </a:solidFill>
                <a:latin typeface="DM Sans"/>
              </a:rPr>
              <a:t> Data Integration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4664643-1517-A661-C11E-6C04DB4DCE1E}"/>
              </a:ext>
            </a:extLst>
          </p:cNvPr>
          <p:cNvSpPr txBox="1"/>
          <p:nvPr/>
        </p:nvSpPr>
        <p:spPr>
          <a:xfrm>
            <a:off x="6810375" y="3512641"/>
            <a:ext cx="47244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1E2A28"/>
                </a:solidFill>
                <a:latin typeface="DM Sans SemiBold"/>
              </a:rPr>
              <a:t>Challenges and opportunities with drug repurposing: finding strategies to find alternative uses of therapeutics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9482D4F-4F2F-BDC8-33D5-93C2F2423325}"/>
              </a:ext>
            </a:extLst>
          </p:cNvPr>
          <p:cNvSpPr txBox="1"/>
          <p:nvPr/>
        </p:nvSpPr>
        <p:spPr>
          <a:xfrm>
            <a:off x="7237821" y="3924002"/>
            <a:ext cx="47244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 dirty="0">
                <a:solidFill>
                  <a:srgbClr val="4A635D"/>
                </a:solidFill>
                <a:latin typeface="DM Sans"/>
              </a:rPr>
              <a:t> Expert Opinion on Drug Discovery</a:t>
            </a:r>
          </a:p>
        </p:txBody>
      </p:sp>
      <p:pic>
        <p:nvPicPr>
          <p:cNvPr id="100" name="Picture 99" descr="image.png">
            <a:extLst>
              <a:ext uri="{FF2B5EF4-FFF2-40B4-BE49-F238E27FC236}">
                <a16:creationId xmlns:a16="http://schemas.microsoft.com/office/drawing/2014/main" id="{AC105F11-5DAC-6948-9153-2DBB41FCA9C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7527" y="2106810"/>
            <a:ext cx="933450" cy="171450"/>
          </a:xfrm>
          <a:prstGeom prst="rect">
            <a:avLst/>
          </a:prstGeom>
        </p:spPr>
      </p:pic>
      <p:pic>
        <p:nvPicPr>
          <p:cNvPr id="102" name="Picture 101" descr="image.png">
            <a:extLst>
              <a:ext uri="{FF2B5EF4-FFF2-40B4-BE49-F238E27FC236}">
                <a16:creationId xmlns:a16="http://schemas.microsoft.com/office/drawing/2014/main" id="{8C0EC203-C5D1-8DD3-B767-12BBC359C48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4425" y="2922091"/>
            <a:ext cx="962025" cy="171450"/>
          </a:xfrm>
          <a:prstGeom prst="rect">
            <a:avLst/>
          </a:prstGeom>
        </p:spPr>
      </p:pic>
      <p:pic>
        <p:nvPicPr>
          <p:cNvPr id="104" name="Picture 103" descr="image.png">
            <a:extLst>
              <a:ext uri="{FF2B5EF4-FFF2-40B4-BE49-F238E27FC236}">
                <a16:creationId xmlns:a16="http://schemas.microsoft.com/office/drawing/2014/main" id="{8BF48A13-D8CA-E381-FC3E-81FAB6768EA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4425" y="3737371"/>
            <a:ext cx="752475" cy="171450"/>
          </a:xfrm>
          <a:prstGeom prst="rect">
            <a:avLst/>
          </a:prstGeom>
        </p:spPr>
      </p:pic>
      <p:pic>
        <p:nvPicPr>
          <p:cNvPr id="106" name="Picture 105" descr="image.png">
            <a:extLst>
              <a:ext uri="{FF2B5EF4-FFF2-40B4-BE49-F238E27FC236}">
                <a16:creationId xmlns:a16="http://schemas.microsoft.com/office/drawing/2014/main" id="{8F8DBA59-DDB1-36C3-CA09-C25250BAFAD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4425" y="4739282"/>
            <a:ext cx="571500" cy="171450"/>
          </a:xfrm>
          <a:prstGeom prst="rect">
            <a:avLst/>
          </a:prstGeom>
        </p:spPr>
      </p:pic>
      <p:pic>
        <p:nvPicPr>
          <p:cNvPr id="108" name="Picture 107" descr="image.png">
            <a:extLst>
              <a:ext uri="{FF2B5EF4-FFF2-40B4-BE49-F238E27FC236}">
                <a16:creationId xmlns:a16="http://schemas.microsoft.com/office/drawing/2014/main" id="{57B77447-4CAB-B679-BC2B-F1FAE4CD289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39280" y="2029718"/>
            <a:ext cx="381000" cy="171450"/>
          </a:xfrm>
          <a:prstGeom prst="rect">
            <a:avLst/>
          </a:prstGeom>
        </p:spPr>
      </p:pic>
      <p:pic>
        <p:nvPicPr>
          <p:cNvPr id="110" name="Picture 109" descr="image.png">
            <a:extLst>
              <a:ext uri="{FF2B5EF4-FFF2-40B4-BE49-F238E27FC236}">
                <a16:creationId xmlns:a16="http://schemas.microsoft.com/office/drawing/2014/main" id="{3810C03D-4DFD-7818-1E8C-BF62DB559A4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10375" y="2922091"/>
            <a:ext cx="809625" cy="171450"/>
          </a:xfrm>
          <a:prstGeom prst="rect">
            <a:avLst/>
          </a:prstGeom>
        </p:spPr>
      </p:pic>
      <p:pic>
        <p:nvPicPr>
          <p:cNvPr id="112" name="Picture 111" descr="image.png">
            <a:extLst>
              <a:ext uri="{FF2B5EF4-FFF2-40B4-BE49-F238E27FC236}">
                <a16:creationId xmlns:a16="http://schemas.microsoft.com/office/drawing/2014/main" id="{36993F43-B914-CB56-31E2-ECC9D34A3E1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10375" y="3924002"/>
            <a:ext cx="428625" cy="171450"/>
          </a:xfrm>
          <a:prstGeom prst="rect">
            <a:avLst/>
          </a:prstGeom>
        </p:spPr>
      </p:pic>
      <p:pic>
        <p:nvPicPr>
          <p:cNvPr id="114" name="Picture 113" descr="image.png">
            <a:extLst>
              <a:ext uri="{FF2B5EF4-FFF2-40B4-BE49-F238E27FC236}">
                <a16:creationId xmlns:a16="http://schemas.microsoft.com/office/drawing/2014/main" id="{45874C68-FDBD-E242-6069-D0B22E4E643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34736" y="2162175"/>
            <a:ext cx="95250" cy="104775"/>
          </a:xfrm>
          <a:prstGeom prst="rect">
            <a:avLst/>
          </a:prstGeom>
        </p:spPr>
      </p:pic>
      <p:pic>
        <p:nvPicPr>
          <p:cNvPr id="116" name="Picture 115" descr="image.png">
            <a:extLst>
              <a:ext uri="{FF2B5EF4-FFF2-40B4-BE49-F238E27FC236}">
                <a16:creationId xmlns:a16="http://schemas.microsoft.com/office/drawing/2014/main" id="{2EC92246-A039-8F3C-8C68-9ADCAE7F416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9175" y="2960191"/>
            <a:ext cx="95250" cy="104775"/>
          </a:xfrm>
          <a:prstGeom prst="rect">
            <a:avLst/>
          </a:prstGeom>
        </p:spPr>
      </p:pic>
      <p:pic>
        <p:nvPicPr>
          <p:cNvPr id="118" name="Picture 117" descr="image.png">
            <a:extLst>
              <a:ext uri="{FF2B5EF4-FFF2-40B4-BE49-F238E27FC236}">
                <a16:creationId xmlns:a16="http://schemas.microsoft.com/office/drawing/2014/main" id="{34BF36DB-A34D-E145-11B7-6AD7C16D9CF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28700" y="3784103"/>
            <a:ext cx="133350" cy="104775"/>
          </a:xfrm>
          <a:prstGeom prst="rect">
            <a:avLst/>
          </a:prstGeom>
        </p:spPr>
      </p:pic>
      <p:pic>
        <p:nvPicPr>
          <p:cNvPr id="120" name="Picture 119" descr="image.png">
            <a:extLst>
              <a:ext uri="{FF2B5EF4-FFF2-40B4-BE49-F238E27FC236}">
                <a16:creationId xmlns:a16="http://schemas.microsoft.com/office/drawing/2014/main" id="{1D7D47D2-1472-1809-8B3D-29969FB18FB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8707" y="4777382"/>
            <a:ext cx="95250" cy="104775"/>
          </a:xfrm>
          <a:prstGeom prst="rect">
            <a:avLst/>
          </a:prstGeom>
        </p:spPr>
      </p:pic>
      <p:pic>
        <p:nvPicPr>
          <p:cNvPr id="122" name="Picture 121" descr="image.png">
            <a:extLst>
              <a:ext uri="{FF2B5EF4-FFF2-40B4-BE49-F238E27FC236}">
                <a16:creationId xmlns:a16="http://schemas.microsoft.com/office/drawing/2014/main" id="{C9BF1A03-7A87-BC4C-AEDE-1E782EF1E8F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757987" y="2084040"/>
            <a:ext cx="114300" cy="104775"/>
          </a:xfrm>
          <a:prstGeom prst="rect">
            <a:avLst/>
          </a:prstGeom>
        </p:spPr>
      </p:pic>
      <p:pic>
        <p:nvPicPr>
          <p:cNvPr id="124" name="Picture 123" descr="image.png">
            <a:extLst>
              <a:ext uri="{FF2B5EF4-FFF2-40B4-BE49-F238E27FC236}">
                <a16:creationId xmlns:a16="http://schemas.microsoft.com/office/drawing/2014/main" id="{DB50FD2E-7417-5C96-0A63-4BFDBCA67440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10362" y="2960191"/>
            <a:ext cx="95250" cy="104775"/>
          </a:xfrm>
          <a:prstGeom prst="rect">
            <a:avLst/>
          </a:prstGeom>
        </p:spPr>
      </p:pic>
      <p:pic>
        <p:nvPicPr>
          <p:cNvPr id="126" name="Picture 125" descr="image.png">
            <a:extLst>
              <a:ext uri="{FF2B5EF4-FFF2-40B4-BE49-F238E27FC236}">
                <a16:creationId xmlns:a16="http://schemas.microsoft.com/office/drawing/2014/main" id="{481C8AC9-3C44-ADCF-8DA2-89556BA9390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34505" y="3966864"/>
            <a:ext cx="104775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B5AC-F959-7E7D-AC51-43475150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10DA23B8-549A-0ED7-FA4D-30136E37F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238A2CE4-3C95-DC24-E80D-8AB533BF8EC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54B4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107005" y="0"/>
            <a:ext cx="12298929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F98D736-4CAB-F8F7-8865-CDA015A66603}"/>
              </a:ext>
            </a:extLst>
          </p:cNvPr>
          <p:cNvSpPr/>
          <p:nvPr/>
        </p:nvSpPr>
        <p:spPr>
          <a:xfrm>
            <a:off x="8099376" y="3767137"/>
            <a:ext cx="3511448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F77EBC-2724-07F3-EF5A-9FB883A8DECF}"/>
              </a:ext>
            </a:extLst>
          </p:cNvPr>
          <p:cNvSpPr txBox="1"/>
          <p:nvPr/>
        </p:nvSpPr>
        <p:spPr>
          <a:xfrm>
            <a:off x="628650" y="2616283"/>
            <a:ext cx="11421512" cy="11483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Perpetua" panose="02020502060401020303" pitchFamily="18" charset="0"/>
                <a:sym typeface="Aptos Bold"/>
              </a:rPr>
              <a:t>Thank you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023DC78-2F2C-937F-7038-CD808B7267AA}"/>
              </a:ext>
            </a:extLst>
          </p:cNvPr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FE238-8873-E0B5-F3CF-EA2F80B4A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9801" y="1974408"/>
            <a:ext cx="1847055" cy="265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54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</TotalTime>
  <Words>3356</Words>
  <Application>Microsoft Office PowerPoint</Application>
  <PresentationFormat>Widescreen</PresentationFormat>
  <Paragraphs>806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66" baseType="lpstr">
      <vt:lpstr>Aptos</vt:lpstr>
      <vt:lpstr>Aptos Display</vt:lpstr>
      <vt:lpstr>Arial</vt:lpstr>
      <vt:lpstr>Calibri</vt:lpstr>
      <vt:lpstr>Cambria</vt:lpstr>
      <vt:lpstr>DM Sans</vt:lpstr>
      <vt:lpstr>DM Sans Black</vt:lpstr>
      <vt:lpstr>DM Sans SemiBold</vt:lpstr>
      <vt:lpstr>Inter</vt:lpstr>
      <vt:lpstr>Lato</vt:lpstr>
      <vt:lpstr>Merriweather</vt:lpstr>
      <vt:lpstr>monospace</vt:lpstr>
      <vt:lpstr>Outfit</vt:lpstr>
      <vt:lpstr>Perpetua</vt:lpstr>
      <vt:lpstr>Plus Jakarta Sans</vt:lpstr>
      <vt:lpstr>Plus Jakarta Sans ExtraBold</vt:lpstr>
      <vt:lpstr>Plus Jakarta Sans Medium</vt:lpstr>
      <vt:lpstr>Plus Jakarta Sans SemiBold</vt:lpstr>
      <vt:lpstr>Poppins</vt:lpstr>
      <vt:lpstr>Poppins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Abdelhameed, gehan 32501461</cp:lastModifiedBy>
  <cp:revision>26</cp:revision>
  <dcterms:created xsi:type="dcterms:W3CDTF">2013-01-27T09:14:16Z</dcterms:created>
  <dcterms:modified xsi:type="dcterms:W3CDTF">2026-08-31T13:51:06Z</dcterms:modified>
  <cp:category/>
</cp:coreProperties>
</file>